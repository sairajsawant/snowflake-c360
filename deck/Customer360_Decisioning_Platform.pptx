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41413"/>
                </a:solidFill>
                <a:latin typeface="Arial"/>
              </a:rPr>
              <a:t>Where the 184 signals come from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Read by AI from conversations</c:v>
                </c:pt>
              </c:strCache>
            </c:strRef>
          </c:tx>
          <c:spPr>
            <a:solidFill>
              <a:srgbClr val="D97757"/>
            </a:solidFill>
            <a:ln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Risk</c:v>
                </c:pt>
                <c:pt idx="1">
                  <c:v>Service</c:v>
                </c:pt>
                <c:pt idx="2">
                  <c:v>Opportunity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6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Derived by rules from records</c:v>
                </c:pt>
              </c:strCache>
            </c:strRef>
          </c:tx>
          <c:spPr>
            <a:solidFill>
              <a:srgbClr val="6A9BCC"/>
            </a:solidFill>
            <a:ln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Risk</c:v>
                </c:pt>
                <c:pt idx="1">
                  <c:v>Service</c:v>
                </c:pt>
                <c:pt idx="2">
                  <c:v>Opportunity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</c:v>
                </c:pt>
                <c:pt idx="1">
                  <c:v>15</c:v>
                </c:pt>
                <c:pt idx="2">
                  <c:v>45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3E0D8"/>
            </a:solidFill>
          </a:ln>
        </c:spPr>
        <c:txPr>
          <a:bodyPr/>
          <a:lstStyle/>
          <a:p>
            <a:pPr>
              <a:defRPr sz="1100">
                <a:solidFill>
                  <a:srgbClr val="14141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E5D5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sz="1343">
                <a:solidFill>
                  <a:srgbClr val="202729"/>
                </a:solidFill>
                <a:latin typeface="Manrope"/>
              </a:rPr>
              <a:t>  Simplifiers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343">
                <a:solidFill>
                  <a:srgbClr val="202729"/>
                </a:solidFill>
                <a:latin typeface="Manrope"/>
              </a:rPr>
              <a:t>  Customer 360 and Next Best Action Engine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sz="1343">
                <a:solidFill>
                  <a:srgbClr val="202729"/>
                </a:solidFill>
                <a:latin typeface="Manrope"/>
              </a:rPr>
              <a:t>  Sairaj Sawant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sz="1343">
                <a:solidFill>
                  <a:srgbClr val="202729"/>
                </a:solidFill>
                <a:latin typeface="Manrope"/>
              </a:rPr>
              <a:t>  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02336" y="2852928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1413"/>
                </a:solidFill>
                <a:latin typeface="Georgia"/>
              </a:rPr>
              <a:t>Customer 360 Decisioning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Customers signal what they'll do long before they do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Insurers and lenders already hold the evidence. It's spread across systems nobody reads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98348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" y="1600200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54480"/>
            <a:ext cx="4443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Scattered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74519"/>
            <a:ext cx="4681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Policies, claims, payments, calls, emails and tickets live in separate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60320"/>
            <a:ext cx="498348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" y="2743200"/>
            <a:ext cx="146304" cy="146304"/>
          </a:xfrm>
          <a:prstGeom prst="ellipse">
            <a:avLst/>
          </a:prstGeom>
          <a:solidFill>
            <a:srgbClr val="C49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697479"/>
            <a:ext cx="4443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Missed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017520"/>
            <a:ext cx="4681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A customer threatens to switch insurers on a call while their claim sits stuck for weeks. Nobody links the two.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03320"/>
            <a:ext cx="498348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" y="3886200"/>
            <a:ext cx="146304" cy="146304"/>
          </a:xfrm>
          <a:prstGeom prst="ellipse">
            <a:avLst/>
          </a:prstGeom>
          <a:solidFill>
            <a:srgbClr val="8E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840480"/>
            <a:ext cx="4443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Inconsistent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160520"/>
            <a:ext cx="4681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Every RM decides alone, and nobody learns which actions actually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417320"/>
            <a:ext cx="3108960" cy="329184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15727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5D59"/>
                </a:solidFill>
                <a:latin typeface="Arial"/>
              </a:rPr>
              <a:t>WHO IT'S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1901952"/>
            <a:ext cx="2761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Relationship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2167128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A ranked worklist and the next best action for each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2688336"/>
            <a:ext cx="2761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Team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95351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Approves larger offers for the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474720"/>
            <a:ext cx="2761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Analyst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3739896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Tunes signals, weights and rules without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42611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E5D59"/>
                </a:solidFill>
                <a:latin typeface="Arial"/>
              </a:rPr>
              <a:t>Indian health insurance and retail lending: IRDAI grievances, cashless claims, portability, EMI stress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From customer question to next best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Unify every touchpoint, read it with AI, decide with approved rules, and learn from every outcome.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444752"/>
            <a:ext cx="438912" cy="438912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4475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2646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Unify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Calls, emails, tickets, payments and policies become one live customer view.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286000"/>
            <a:ext cx="438912" cy="438912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AI picks out intent, sentiment and evidence from every conversation.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127248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1272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8328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Approved rules rank the next best action for each role.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68496"/>
            <a:ext cx="438912" cy="438912"/>
          </a:xfrm>
          <a:prstGeom prst="ellipse">
            <a:avLst/>
          </a:prstGeom>
          <a:solidFill>
            <a:srgbClr val="C49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5020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2452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Every outcome updates which actions work best.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14173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152704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Georgia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19715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customers unified, every one scored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14173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2864" y="152704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Georgia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864" y="19715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source types, in English and Hinglish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2542032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5464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4583A"/>
                </a:solidFill>
                <a:latin typeface="Georgia"/>
              </a:rPr>
              <a:t>184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5464" y="30962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live signals, each with its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2542032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Georgia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30962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decision engines running side by side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666744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55464" y="37764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3"/>
                </a:solidFill>
                <a:latin typeface="Georgia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5464" y="42209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reusable CoCo CLI skills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3666744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12864" y="37764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4583A"/>
                </a:solidFill>
                <a:latin typeface="Georgia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42209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config rows to add a new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Architecture: four independent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Each layer reads only from the one before it, so any layer can change without touching the rest.</a:t>
            </a:r>
          </a:p>
        </p:txBody>
      </p:sp>
      <p:pic>
        <p:nvPicPr>
          <p:cNvPr id="5" name="Picture 4" descr="01-h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Layer 1 · Every touchpoint, one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A small, high-quality Indian dataset. Dynamic Tables keep it current; a semantic view gives everyone the same definitions.</a:t>
            </a:r>
          </a:p>
        </p:txBody>
      </p:sp>
      <p:pic>
        <p:nvPicPr>
          <p:cNvPr id="5" name="Picture 4" descr="02-data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Layer 2 · AI turns conversations into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AI extracts facts into a fixed vocabulary, and every signal keeps the sentence that justifies it.</a:t>
            </a:r>
          </a:p>
        </p:txBody>
      </p:sp>
      <p:pic>
        <p:nvPicPr>
          <p:cNvPr id="5" name="Picture 4" descr="03-signal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Layer 3 · Isolated engines on a shared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Each use case is its own engine. All read the same signals, and none can change another.</a:t>
            </a:r>
          </a:p>
        </p:txBody>
      </p:sp>
      <p:pic>
        <p:nvPicPr>
          <p:cNvPr id="5" name="Picture 4" descr="04-decision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Repeatable recommendations that keep improving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AI reads, rules decide. Scoring runs on measured track records, so every answer can be reproduced and explained.</a:t>
            </a:r>
          </a:p>
        </p:txBody>
      </p:sp>
      <p:pic>
        <p:nvPicPr>
          <p:cNvPr id="5" name="Picture 4" descr="05-learning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Proactive by default, with people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The platform watches every customer on a schedule and routes each decision to the person with the right authority.</a:t>
            </a:r>
          </a:p>
        </p:txBody>
      </p:sp>
      <p:pic>
        <p:nvPicPr>
          <p:cNvPr id="5" name="Picture 4" descr="06-agentic-hi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Adding a use case takes configuration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We added Service Recovery to the working platform. Nothing that already existed changed.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5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B4583A"/>
                </a:solidFill>
                <a:latin typeface="Georgia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871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configuration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5D59"/>
                </a:solidFill>
                <a:latin typeface="Arial"/>
              </a:rPr>
              <a:t>0 lines of engine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4612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5D59"/>
                </a:solidFill>
                <a:latin typeface="Arial"/>
              </a:rPr>
              <a:t>Existing engines returned identical results before and after the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173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72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E5D59"/>
                </a:solidFill>
                <a:latin typeface="Arial"/>
              </a:rPr>
              <a:t>BEFORE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2020824"/>
            <a:ext cx="128016" cy="12801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Arial"/>
              </a:rPr>
              <a:t>3 customers with stuck claims were on nobody's worklist</a:t>
            </a:r>
          </a:p>
        </p:txBody>
      </p:sp>
      <p:sp>
        <p:nvSpPr>
          <p:cNvPr id="14" name="Oval 13"/>
          <p:cNvSpPr/>
          <p:nvPr/>
        </p:nvSpPr>
        <p:spPr>
          <a:xfrm>
            <a:off x="3474720" y="3209544"/>
            <a:ext cx="128016" cy="12801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312724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Arial"/>
              </a:rPr>
              <a:t>2 customers we had let down were offered a loan top-up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4173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E3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72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E5D59"/>
                </a:solidFill>
                <a:latin typeface="Arial"/>
              </a:rPr>
              <a:t>AFTER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020824"/>
            <a:ext cx="128016" cy="128016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93852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Arial"/>
              </a:rPr>
              <a:t>All 3 now top the list with an expedited claim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209544"/>
            <a:ext cx="128016" cy="128016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  <a:latin typeface="Arial"/>
              </a:rPr>
              <a:t>Both get a priority callback, and no upsell until it's fixed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16168" y="2926080"/>
            <a:ext cx="109728" cy="256032"/>
          </a:xfrm>
          <a:prstGeom prst="rightArrow">
            <a:avLst/>
          </a:prstGeom>
          <a:solidFill>
            <a:srgbClr val="5E5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Built and run with CoCo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CoCo CLI seeded the data, built the platform, and publishes four reusable skills to Snowflake for any team.</a:t>
            </a:r>
          </a:p>
        </p:txBody>
      </p:sp>
      <p:pic>
        <p:nvPicPr>
          <p:cNvPr id="5" name="Picture 4" descr="07-coco-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Snowflake capabilities in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Data, AI and the app all run inside Snowflake. No customer data leaves the account.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D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54533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Dynamic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837944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Keep the unified customer view current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603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D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2334" y="154533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Streams &amp;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2334" y="1837944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Detect change and run the pipeline on schedule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058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D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6884" y="154533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Snowpark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6884" y="1837944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Portfolio-wide scoring and signal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5130" y="1417320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F0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1434" y="1545336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Semantic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1434" y="1837944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Shared, governed business definitions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706624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AI_COMPLETE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2999232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Intent from calls, held to a fixed 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2603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2334" y="2706624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AI_SENTIMENT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2334" y="2999232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Tone of every conversation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058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6884" y="2706624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AI_SUMMARIZE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6884" y="2999232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A customer's history in one paragraph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55130" y="2578608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1434" y="2706624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Cortex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1434" y="2999232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Search calls, emails and product documents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3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" y="3867911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Cortex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4160520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Natural-language access to every tool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2603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F0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2334" y="3867911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Streamlit in Snowflake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2334" y="4160520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The app runs right next to the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058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7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86884" y="3867911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Masking &amp; row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6884" y="4160520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PII masked, each persona sees only its book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55130" y="3739896"/>
            <a:ext cx="1977390" cy="1024128"/>
          </a:xfrm>
          <a:prstGeom prst="roundRect">
            <a:avLst>
              <a:gd name="adj" fmla="val 8000"/>
            </a:avLst>
          </a:prstGeom>
          <a:solidFill>
            <a:srgbClr val="E7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1434" y="3867911"/>
            <a:ext cx="17030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CoCo CLI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1434" y="4160520"/>
            <a:ext cx="170307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Built the platform and packages it as skills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What's live in the app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Two modes on live Snowflake data: a guided studio and the everyday console.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4069080" cy="34290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Georgia"/>
              </a:rPr>
              <a:t>Scenario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83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The full loop on any customer, step by step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12140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3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Stage an event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describe it, AI writes a realistic call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255117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511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Detect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signals extracted with their evidence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298094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980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08375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Understand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state recomputed, conflicts resolved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3410711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41071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38143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Decide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ranked for your role, limits checked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" y="3840479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84047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6791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Act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carried out, customer notified, call brief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" y="427024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270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976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Learn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outcome recorded, ranking re-run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371600"/>
            <a:ext cx="4069080" cy="342900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1143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2" y="14996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Georgia"/>
              </a:rPr>
              <a:t>Operations Console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1783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Day-to-day product, scoped to the role you pick</a:t>
            </a:r>
          </a:p>
        </p:txBody>
      </p:sp>
      <p:sp>
        <p:nvSpPr>
          <p:cNvPr id="29" name="Oval 28"/>
          <p:cNvSpPr/>
          <p:nvPr/>
        </p:nvSpPr>
        <p:spPr>
          <a:xfrm>
            <a:off x="4873752" y="2176272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21214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My Feed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today's ranked worklist</a:t>
            </a:r>
          </a:p>
        </p:txBody>
      </p:sp>
      <p:sp>
        <p:nvSpPr>
          <p:cNvPr id="31" name="Oval 30"/>
          <p:cNvSpPr/>
          <p:nvPr/>
        </p:nvSpPr>
        <p:spPr>
          <a:xfrm>
            <a:off x="4873752" y="2500884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24460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Decision Queue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by severity and value</a:t>
            </a:r>
          </a:p>
        </p:txBody>
      </p:sp>
      <p:sp>
        <p:nvSpPr>
          <p:cNvPr id="33" name="Oval 32"/>
          <p:cNvSpPr/>
          <p:nvPr/>
        </p:nvSpPr>
        <p:spPr>
          <a:xfrm>
            <a:off x="4873752" y="2825496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27706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Approvals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offers waiting on you</a:t>
            </a:r>
          </a:p>
        </p:txBody>
      </p:sp>
      <p:sp>
        <p:nvSpPr>
          <p:cNvPr id="35" name="Oval 34"/>
          <p:cNvSpPr/>
          <p:nvPr/>
        </p:nvSpPr>
        <p:spPr>
          <a:xfrm>
            <a:off x="4873752" y="3150108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309524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Customer 360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profile, evidence, timeline</a:t>
            </a:r>
          </a:p>
        </p:txBody>
      </p:sp>
      <p:sp>
        <p:nvSpPr>
          <p:cNvPr id="37" name="Oval 36"/>
          <p:cNvSpPr/>
          <p:nvPr/>
        </p:nvSpPr>
        <p:spPr>
          <a:xfrm>
            <a:off x="4873752" y="3474720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41985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Portfolio &amp; Learning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value at risk, what works</a:t>
            </a:r>
          </a:p>
        </p:txBody>
      </p:sp>
      <p:sp>
        <p:nvSpPr>
          <p:cNvPr id="39" name="Oval 38"/>
          <p:cNvSpPr/>
          <p:nvPr/>
        </p:nvSpPr>
        <p:spPr>
          <a:xfrm>
            <a:off x="4873752" y="3799331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37444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Ask the data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chat that remembers context</a:t>
            </a:r>
          </a:p>
        </p:txBody>
      </p:sp>
      <p:sp>
        <p:nvSpPr>
          <p:cNvPr id="41" name="Oval 40"/>
          <p:cNvSpPr/>
          <p:nvPr/>
        </p:nvSpPr>
        <p:spPr>
          <a:xfrm>
            <a:off x="4873752" y="4123943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406907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Config Studio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weights, limits, rules</a:t>
            </a:r>
          </a:p>
        </p:txBody>
      </p:sp>
      <p:sp>
        <p:nvSpPr>
          <p:cNvPr id="43" name="Oval 42"/>
          <p:cNvSpPr/>
          <p:nvPr/>
        </p:nvSpPr>
        <p:spPr>
          <a:xfrm>
            <a:off x="4873752" y="4448555"/>
            <a:ext cx="100584" cy="10058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3936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1413"/>
                </a:solidFill>
                <a:latin typeface="Arial"/>
              </a:rPr>
              <a:t>Signal Discovery</a:t>
            </a:r>
            <a:r>
              <a:rPr sz="1050" b="0" i="0">
                <a:solidFill>
                  <a:srgbClr val="5E5D59"/>
                </a:solidFill>
                <a:latin typeface="Arial"/>
              </a:rPr>
              <a:t>  daily suggestions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Enterprise ready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6072" y="1371600"/>
            <a:ext cx="146304" cy="14630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325880"/>
            <a:ext cx="2124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Private by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645920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Data stays in your account, and masking policies hide PII from roles that don't need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24" y="1188720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04616" y="1371600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2360" y="1325880"/>
            <a:ext cx="2124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Scoped by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4616" y="1645920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Row access policies: RMs see their own book, team leads their team, analysts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8568" y="1188720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3160" y="1371600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904" y="1325880"/>
            <a:ext cx="2124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Spending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160" y="1645920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Offers above a role's limit wait for someone with the authority.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670048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" y="2852928"/>
            <a:ext cx="146304" cy="146304"/>
          </a:xfrm>
          <a:prstGeom prst="ellipse">
            <a:avLst/>
          </a:prstGeom>
          <a:solidFill>
            <a:srgbClr val="C49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807208"/>
            <a:ext cx="2124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Signals with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127248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Each signal keeps the quote and confidence behind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0024" y="2670048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04616" y="2852928"/>
            <a:ext cx="146304" cy="146304"/>
          </a:xfrm>
          <a:prstGeom prst="ellipse">
            <a:avLst/>
          </a:prstGeom>
          <a:solidFill>
            <a:srgbClr val="8E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2360" y="2807208"/>
            <a:ext cx="2124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Repeatable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4616" y="3127248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Same input, same answer. AI reads, rules decide.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68568" y="2670048"/>
            <a:ext cx="2663952" cy="134416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33160" y="2852928"/>
            <a:ext cx="146304" cy="14630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0904" y="2807208"/>
            <a:ext cx="2124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  <a:latin typeface="Arial"/>
              </a:rPr>
              <a:t>Full 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3160" y="3127248"/>
            <a:ext cx="236220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Every recommendation, action and outcome is recorded and reversible.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206240"/>
            <a:ext cx="8321040" cy="566928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206240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rial"/>
              </a:rPr>
              <a:t>Configuration-driven.  </a:t>
            </a:r>
            <a:r>
              <a:rPr sz="1200" b="0" i="0">
                <a:solidFill>
                  <a:srgbClr val="5E5D59"/>
                </a:solidFill>
                <a:latin typeface="Arial"/>
              </a:rPr>
              <a:t>Weights, limits, rules, signals and whole use cases change without a release.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Measured on the prototype's live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527048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4583A"/>
                </a:solidFill>
                <a:latin typeface="Georgia"/>
              </a:rPr>
              <a:t>93 of 184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876298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signals come only from what customers said, invisible to structured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417320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1527048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4" y="1876298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customers caught who had fallen through the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624328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734056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~1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083306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to rank every customer into today's worklist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2624328"/>
            <a:ext cx="1965960" cy="1078992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2734056"/>
            <a:ext cx="1691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1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3083306"/>
            <a:ext cx="1691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from a customer question to a recommended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1920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rial"/>
              </a:rPr>
              <a:t>In production: </a:t>
            </a:r>
            <a:r>
              <a:rPr sz="1100" b="0" i="0">
                <a:solidFill>
                  <a:srgbClr val="5E5D59"/>
                </a:solidFill>
                <a:latin typeface="Arial"/>
              </a:rPr>
              <a:t>less prep per customer, consistent actions across RMs, and a measured view of which actions work.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663440" y="1371600"/>
          <a:ext cx="406908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New use cases in days, new domains in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Everything above the data mapping is reused. A domain expert shapes the ontology; the platform does the rest.</a:t>
            </a:r>
          </a:p>
        </p:txBody>
      </p:sp>
      <p:pic>
        <p:nvPicPr>
          <p:cNvPr id="5" name="Picture 4" descr="08-onboarding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8448"/>
            <a:ext cx="8001000" cy="36526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An incremental 360 that scales at marginal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Work is done only where something changed, so a bigger book doesn't mean a bigger bill.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" y="1600200"/>
            <a:ext cx="146304" cy="14630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54480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Incremental Dynamic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74519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5D59"/>
                </a:solidFill>
                <a:latin typeface="Arial"/>
              </a:rPr>
              <a:t>Facts refresh only where the data changed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17320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28032" y="1600200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1554480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Changed-customer streams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874519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5D59"/>
                </a:solidFill>
                <a:latin typeface="Arial"/>
              </a:rPr>
              <a:t>Signals and state recompute only for customers who changed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24328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" y="2807208"/>
            <a:ext cx="146304" cy="146304"/>
          </a:xfrm>
          <a:prstGeom prst="ellipse">
            <a:avLst/>
          </a:prstGeom>
          <a:solidFill>
            <a:srgbClr val="C49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761488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Daily time tick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81528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5D59"/>
                </a:solidFill>
                <a:latin typeface="Arial"/>
              </a:rPr>
              <a:t>Date-based signals touch only customers crossing a threshold 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624328"/>
            <a:ext cx="4069080" cy="1069848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28032" y="2807208"/>
            <a:ext cx="146304" cy="146304"/>
          </a:xfrm>
          <a:prstGeom prst="ellipse">
            <a:avLst/>
          </a:prstGeom>
          <a:solidFill>
            <a:srgbClr val="8E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6" y="2761488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rial"/>
              </a:rPr>
              <a:t>Signal fingerprints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3081528"/>
            <a:ext cx="376732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5D59"/>
                </a:solidFill>
                <a:latin typeface="Arial"/>
              </a:rPr>
              <a:t>Customers whose signals didn't change are skipped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931920"/>
            <a:ext cx="8321040" cy="822960"/>
          </a:xfrm>
          <a:prstGeom prst="roundRect">
            <a:avLst>
              <a:gd name="adj" fmla="val 8000"/>
            </a:avLst>
          </a:prstGeom>
          <a:solidFill>
            <a:srgbClr val="F5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AI cost grows with new conversations.  </a:t>
            </a:r>
            <a:r>
              <a:rPr sz="1250" b="0" i="0">
                <a:solidFill>
                  <a:srgbClr val="141413"/>
                </a:solidFill>
                <a:latin typeface="Arial"/>
              </a:rPr>
              <a:t>Rule cost grows with changed customers, and time-based signals with threshold crossings.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Beyond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Each step builds on the platform as it is. Estimates assume one engineer.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600200"/>
            <a:ext cx="146304" cy="14630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Connect real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26464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CRM, core policy and loan systems and the contact centre through Snowflake connectors, mapped once to the canonical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179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17904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1413"/>
                </a:solidFill>
                <a:latin typeface="Arial"/>
              </a:rPr>
              <a:t>1–2 days per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229514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3969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Actions in Slack and Jira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121408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Approved actions post to the RM's channel and open a ticket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2128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21284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1413"/>
                </a:solidFill>
                <a:latin typeface="Arial"/>
              </a:rPr>
              <a:t>2–3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761488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2990088"/>
            <a:ext cx="146304" cy="146304"/>
          </a:xfrm>
          <a:prstGeom prst="ellipse">
            <a:avLst/>
          </a:prstGeom>
          <a:solidFill>
            <a:srgbClr val="8E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8346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Fine-grained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816352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Extend row access by region and branch, and masking to every new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90779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907792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1413"/>
                </a:solidFill>
                <a:latin typeface="Arial"/>
              </a:rPr>
              <a:t>2–3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456432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C49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52958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Cross-domain, any 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511296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The same engines over households, SME accounts or policies, with shared suppression across all of them.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60273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602736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1413"/>
                </a:solidFill>
                <a:latin typeface="Arial"/>
              </a:rPr>
              <a:t>1–2 weeks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151376"/>
            <a:ext cx="8321040" cy="60350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437997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22452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41413"/>
                </a:solidFill>
                <a:latin typeface="Arial"/>
              </a:rPr>
              <a:t>AI onboarding wizard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206240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E5D59"/>
                </a:solidFill>
                <a:latin typeface="Arial"/>
              </a:rPr>
              <a:t>Describe a use case or signal in plain English. AI drafts the configuration and a person approves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42976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4297680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1413"/>
                </a:solidFill>
                <a:latin typeface="Arial"/>
              </a:rPr>
              <a:t>1–2 weeks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413"/>
                </a:solidFill>
                <a:latin typeface="Georgia"/>
              </a:rPr>
              <a:t>What the demo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E5D59"/>
                </a:solidFill>
                <a:latin typeface="Arial"/>
              </a:rPr>
              <a:t>One workflow end to end, input to output, in CoCo CLI and then in the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F0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5D59"/>
                </a:solidFill>
                <a:latin typeface="Arial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Georgia"/>
              </a:rPr>
              <a:t>An RM asks CoCo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2128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1413"/>
                </a:solidFill>
                <a:latin typeface="Arial"/>
              </a:rPr>
              <a:t>“What should we do about Suresh Reddy?” and then a follow-up about another customer.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26664" y="2377440"/>
            <a:ext cx="164592" cy="237744"/>
          </a:xfrm>
          <a:prstGeom prst="rightArrow">
            <a:avLst/>
          </a:prstGeom>
          <a:solidFill>
            <a:srgbClr val="5E5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D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727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5D59"/>
                </a:solidFill>
                <a:latin typeface="Arial"/>
              </a:rP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470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Georgia"/>
              </a:rPr>
              <a:t>Customer Query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40280"/>
            <a:ext cx="22128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1413"/>
                </a:solidFill>
                <a:latin typeface="Arial"/>
              </a:rPr>
              <a:t>Finds the customer, picks the one engine that answers the question, and runs it on Snowflake.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61304" y="2377440"/>
            <a:ext cx="164592" cy="237744"/>
          </a:xfrm>
          <a:prstGeom prst="rightArrow">
            <a:avLst/>
          </a:prstGeom>
          <a:solidFill>
            <a:srgbClr val="5E5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60" y="1417320"/>
            <a:ext cx="2560320" cy="2148840"/>
          </a:xfrm>
          <a:prstGeom prst="roundRect">
            <a:avLst>
              <a:gd name="adj" fmla="val 8000"/>
            </a:avLst>
          </a:prstGeom>
          <a:solidFill>
            <a:srgbClr val="E3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727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5D59"/>
                </a:solidFill>
                <a:latin typeface="Arial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4708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Georgia"/>
              </a:rPr>
              <a:t>A grounded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40280"/>
            <a:ext cx="22128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1413"/>
                </a:solidFill>
                <a:latin typeface="Arial"/>
              </a:rPr>
              <a:t>The ranked action with its track record and approval status, backed by his own calls.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67328"/>
            <a:ext cx="8321040" cy="987552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1143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88620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5D59"/>
                </a:solidFill>
                <a:latin typeface="Arial"/>
              </a:rPr>
              <a:t>THEN IN THE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16052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  <a:latin typeface="Arial"/>
              </a:rPr>
              <a:t>My Feed across all three engines  ·  the full loop in Scenario Studio  ·  a follow-up chat that remembers who you asked about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