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62" r:id="rId16"/>
    <p:sldId id="263" r:id="rId17"/>
    <p:sldId id="264" r:id="rId18"/>
    <p:sldId id="265" r:id="rId19"/>
    <p:sldId id="266" r:id="rId20"/>
    <p:sldId id="267" r:id="rId21"/>
    <p:sldId id="268" r:id="rId22"/>
    <p:sldId id="269" r:id="rId23"/>
    <p:sldId id="270" r:id="rId24"/>
    <p:sldId id="271" r:id="rId25"/>
    <p:sldId id="272" r:id="rId26"/>
    <p:sldId id="273" r:id="rId27"/>
    <p:sldId id="274" r:id="rId28"/>
    <p:sldId id="275" r:id="rId29"/>
    <p:sldId id="276" r:id="rId30"/>
    <p:sldId id="277" r:id="rId31"/>
    <p:sldId id="278" r:id="rId32"/>
    <p:sldId id="279" r:id="rId33"/>
    <p:sldId id="261" r:id="rId11"/>
  </p:sldIdLst>
  <p:sldSz cy="5143500" cx="9144000"/>
  <p:notesSz cx="6858000" cy="9144000"/>
  <p:embeddedFontLst>
    <p:embeddedFont>
      <p:font typeface="Manrope SemiBold"/>
      <p:regular r:id="rId12"/>
      <p:bold r:id="rId13"/>
    </p:embeddedFont>
    <p:embeddedFont>
      <p:font typeface="Manrope"/>
      <p:regular r:id="rId14"/>
      <p:bold r:id="rId1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12" Type="http://schemas.openxmlformats.org/officeDocument/2006/relationships/font" Target="fonts/ManropeSemiBold-regular.fntdata"/><Relationship Id="rId13" Type="http://schemas.openxmlformats.org/officeDocument/2006/relationships/font" Target="fonts/ManropeSemiBold-bold.fntdata"/><Relationship Id="rId14" Type="http://schemas.openxmlformats.org/officeDocument/2006/relationships/font" Target="fonts/Manrope-regular.fntdata"/><Relationship Id="rId15" Type="http://schemas.openxmlformats.org/officeDocument/2006/relationships/font" Target="fonts/Manrope-bold.fntdata"/><Relationship Id="rId16" Type="http://schemas.openxmlformats.org/officeDocument/2006/relationships/slide" Target="slides/slide7.xml"/><Relationship Id="rId17" Type="http://schemas.openxmlformats.org/officeDocument/2006/relationships/slide" Target="slides/slide8.xml"/><Relationship Id="rId18" Type="http://schemas.openxmlformats.org/officeDocument/2006/relationships/slide" Target="slides/slide9.xml"/><Relationship Id="rId19" Type="http://schemas.openxmlformats.org/officeDocument/2006/relationships/slide" Target="slides/slide10.xml"/><Relationship Id="rId20" Type="http://schemas.openxmlformats.org/officeDocument/2006/relationships/slide" Target="slides/slide11.xml"/><Relationship Id="rId21" Type="http://schemas.openxmlformats.org/officeDocument/2006/relationships/slide" Target="slides/slide12.xml"/><Relationship Id="rId22" Type="http://schemas.openxmlformats.org/officeDocument/2006/relationships/slide" Target="slides/slide13.xml"/><Relationship Id="rId23" Type="http://schemas.openxmlformats.org/officeDocument/2006/relationships/slide" Target="slides/slide14.xml"/><Relationship Id="rId24" Type="http://schemas.openxmlformats.org/officeDocument/2006/relationships/slide" Target="slides/slide15.xml"/><Relationship Id="rId25" Type="http://schemas.openxmlformats.org/officeDocument/2006/relationships/slide" Target="slides/slide16.xml"/><Relationship Id="rId26" Type="http://schemas.openxmlformats.org/officeDocument/2006/relationships/slide" Target="slides/slide17.xml"/><Relationship Id="rId27" Type="http://schemas.openxmlformats.org/officeDocument/2006/relationships/slide" Target="slides/slide18.xml"/><Relationship Id="rId28" Type="http://schemas.openxmlformats.org/officeDocument/2006/relationships/slide" Target="slides/slide19.xml"/><Relationship Id="rId29" Type="http://schemas.openxmlformats.org/officeDocument/2006/relationships/slide" Target="slides/slide20.xml"/><Relationship Id="rId30" Type="http://schemas.openxmlformats.org/officeDocument/2006/relationships/slide" Target="slides/slide21.xml"/><Relationship Id="rId31" Type="http://schemas.openxmlformats.org/officeDocument/2006/relationships/slide" Target="slides/slide22.xml"/><Relationship Id="rId32" Type="http://schemas.openxmlformats.org/officeDocument/2006/relationships/slide" Target="slides/slide23.xml"/><Relationship Id="rId33" Type="http://schemas.openxmlformats.org/officeDocument/2006/relationships/slide" Target="slides/slide24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200" b="1">
                <a:solidFill>
                  <a:srgbClr val="252525"/>
                </a:solidFill>
                <a:latin typeface="Arial"/>
              </a:rPr>
              <a:t>Where the 184 signals come from</a:t>
            </a:r>
          </a:p>
        </c:rich>
      </c:tx>
      <c:layout/>
      <c:overlay val="0"/>
    </c:title>
    <c:autoTitleDeleted val="0"/>
    <c:plotArea>
      <c:barChart>
        <c:barDir val="bar"/>
        <c:grouping val="stacked"/>
        <c:ser>
          <c:idx val="0"/>
          <c:order val="0"/>
          <c:tx>
            <c:strRef>
              <c:f>Sheet1!$B$1</c:f>
              <c:strCache>
                <c:ptCount val="1"/>
                <c:pt idx="0">
                  <c:v>Read by AI from conversations</c:v>
                </c:pt>
              </c:strCache>
            </c:strRef>
          </c:tx>
          <c:spPr>
            <a:solidFill>
              <a:srgbClr val="29B5E8"/>
            </a:solidFill>
            <a:ln>
              <a:solidFill>
                <a:srgbClr val="FFFFFF"/>
              </a:solidFill>
            </a:ln>
          </c:spPr>
          <c:cat>
            <c:strRef>
              <c:f>Sheet1!$A$2:$A$4</c:f>
              <c:strCache>
                <c:ptCount val="3"/>
                <c:pt idx="0">
                  <c:v>Risk</c:v>
                </c:pt>
                <c:pt idx="1">
                  <c:v>Service</c:v>
                </c:pt>
                <c:pt idx="2">
                  <c:v>Opportunity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82</c:v>
                </c:pt>
                <c:pt idx="1">
                  <c:v>6</c:v>
                </c:pt>
                <c:pt idx="2">
                  <c:v>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Derived by rules from records</c:v>
                </c:pt>
              </c:strCache>
            </c:strRef>
          </c:tx>
          <c:spPr>
            <a:solidFill>
              <a:srgbClr val="11567F"/>
            </a:solidFill>
            <a:ln>
              <a:solidFill>
                <a:srgbClr val="FFFFFF"/>
              </a:solidFill>
            </a:ln>
          </c:spPr>
          <c:cat>
            <c:strRef>
              <c:f>Sheet1!$A$2:$A$4</c:f>
              <c:strCache>
                <c:ptCount val="3"/>
                <c:pt idx="0">
                  <c:v>Risk</c:v>
                </c:pt>
                <c:pt idx="1">
                  <c:v>Service</c:v>
                </c:pt>
                <c:pt idx="2">
                  <c:v>Opportunity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31</c:v>
                </c:pt>
                <c:pt idx="1">
                  <c:v>15</c:v>
                </c:pt>
                <c:pt idx="2">
                  <c:v>45</c:v>
                </c:pt>
              </c:numCache>
            </c:numRef>
          </c:val>
        </c:ser>
        <c:dLbls>
          <c:txPr>
            <a:bodyPr/>
            <a:lstStyle/>
            <a:p>
              <a:pPr>
                <a:defRPr sz="1000" b="1">
                  <a:solidFill>
                    <a:srgbClr val="FFFFFF"/>
                  </a:solidFill>
                </a:defRPr>
              </a:pPr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overlap val="10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none"/>
        <c:minorTickMark val="none"/>
        <c:tickLblPos val="nextTo"/>
        <c:spPr>
          <a:ln>
            <a:solidFill>
              <a:srgbClr val="DCE3EA"/>
            </a:solidFill>
          </a:ln>
        </c:spPr>
        <c:txPr>
          <a:bodyPr/>
          <a:lstStyle/>
          <a:p>
            <a:pPr>
              <a:defRPr sz="1100">
                <a:solidFill>
                  <a:srgbClr val="252525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b"/>
        <c:majorTickMark val="none"/>
        <c:minorTickMark val="none"/>
        <c:tickLblPos val="none"/>
        <c:spPr>
          <a:ln>
            <a:noFill/>
          </a:ln>
        </c:spPr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1000">
              <a:solidFill>
                <a:srgbClr val="5B5B5B"/>
              </a:solidFill>
            </a:defRPr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2" name="Google Shape;52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3" name="Google Shape;83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3" name="Google Shape;13;p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4" name="Google Shape;14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4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7" name="Google Shape;17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0" name="Google Shape;20;p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1" name="Google Shape;21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4" name="Google Shape;24;p6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5" name="Google Shape;25;p6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6" name="Google Shape;26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9" name="Google Shape;29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8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2" name="Google Shape;32;p8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3" name="Google Shape;33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9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6" name="Google Shape;36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10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" name="Google Shape;39;p10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0" name="Google Shape;40;p10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1" name="Google Shape;41;p10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2" name="Google Shape;42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11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5" name="Google Shape;45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2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8" name="Google Shape;48;p12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5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6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7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8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9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10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chart" Target="../charts/chart1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11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13" title="Framexexexe 232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12" y="0"/>
            <a:ext cx="914401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55" name="Google Shape;55;p13"/>
          <p:cNvSpPr txBox="1"/>
          <p:nvPr/>
        </p:nvSpPr>
        <p:spPr>
          <a:xfrm>
            <a:off x="402808" y="3192600"/>
            <a:ext cx="7152900" cy="372600"/>
          </a:xfrm>
          <a:prstGeom prst="rect">
            <a:avLst/>
          </a:prstGeom>
          <a:noFill/>
          <a:ln>
            <a:noFill/>
          </a:ln>
        </p:spPr>
        <p:txBody>
          <a:bodyPr anchorCtr="0" anchor="t" bIns="76750" lIns="76750" spcFirstLastPara="1" rIns="76750" wrap="square" tIns="76750">
            <a:norm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3"/>
              <a:buFont typeface="Arial"/>
              <a:buNone/>
            </a:pPr>
            <a:r>
              <a:rPr b="0" i="0" lang="en-GB" sz="1343" u="none" cap="none" strike="noStrike">
                <a:solidFill>
                  <a:srgbClr val="202729"/>
                </a:solidFill>
                <a:latin typeface="Manrope SemiBold"/>
                <a:ea typeface="Manrope SemiBold"/>
                <a:cs typeface="Manrope SemiBold"/>
                <a:sym typeface="Manrope SemiBold"/>
              </a:rPr>
              <a:t>Team Name :</a:t>
            </a:r>
            <a:r>
              <a:rPr sz="1343">
                <a:solidFill>
                  <a:srgbClr val="202729"/>
                </a:solidFill>
                <a:latin typeface="Manrope"/>
              </a:rPr>
              <a:t>  Simplifiers</a:t>
            </a:r>
            <a:endParaRPr b="0" i="0" sz="1343" u="none" cap="none" strike="noStrike">
              <a:solidFill>
                <a:srgbClr val="202729"/>
              </a:solidFill>
              <a:latin typeface="Manrope SemiBold"/>
              <a:ea typeface="Manrope SemiBold"/>
              <a:cs typeface="Manrope SemiBold"/>
              <a:sym typeface="Manrope SemiBold"/>
            </a:endParaRPr>
          </a:p>
        </p:txBody>
      </p:sp>
      <p:sp>
        <p:nvSpPr>
          <p:cNvPr id="56" name="Google Shape;56;p13"/>
          <p:cNvSpPr txBox="1"/>
          <p:nvPr/>
        </p:nvSpPr>
        <p:spPr>
          <a:xfrm>
            <a:off x="402788" y="4250161"/>
            <a:ext cx="71529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76750" lIns="76750" spcFirstLastPara="1" rIns="76750" wrap="square" tIns="76750">
            <a:normAutofit/>
          </a:bodyPr>
          <a:lstStyle/>
          <a:p>
            <a:pPr indent="0" lvl="0" marL="0" marR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3"/>
              <a:buFont typeface="Arial"/>
              <a:buNone/>
            </a:pPr>
            <a:r>
              <a:rPr b="0" i="0" lang="en-GB" sz="1343" u="none" cap="none" strike="noStrike">
                <a:solidFill>
                  <a:srgbClr val="202729"/>
                </a:solidFill>
                <a:latin typeface="Manrope SemiBold"/>
                <a:ea typeface="Manrope SemiBold"/>
                <a:cs typeface="Manrope SemiBold"/>
                <a:sym typeface="Manrope SemiBold"/>
              </a:rPr>
              <a:t>Problem Statement :</a:t>
            </a:r>
            <a:r>
              <a:rPr sz="1343">
                <a:solidFill>
                  <a:srgbClr val="202729"/>
                </a:solidFill>
                <a:latin typeface="Manrope"/>
              </a:rPr>
              <a:t>  Customer 360 and Next Best Action Engine</a:t>
            </a:r>
            <a:endParaRPr b="0" i="0" sz="1343" u="none" cap="none" strike="noStrike">
              <a:solidFill>
                <a:srgbClr val="202729"/>
              </a:solidFill>
              <a:latin typeface="Manrope SemiBold"/>
              <a:ea typeface="Manrope SemiBold"/>
              <a:cs typeface="Manrope SemiBold"/>
              <a:sym typeface="Manrope SemiBold"/>
            </a:endParaRPr>
          </a:p>
        </p:txBody>
      </p:sp>
      <p:sp>
        <p:nvSpPr>
          <p:cNvPr id="57" name="Google Shape;57;p13"/>
          <p:cNvSpPr txBox="1"/>
          <p:nvPr/>
        </p:nvSpPr>
        <p:spPr>
          <a:xfrm>
            <a:off x="402798" y="3534656"/>
            <a:ext cx="7152900" cy="372600"/>
          </a:xfrm>
          <a:prstGeom prst="rect">
            <a:avLst/>
          </a:prstGeom>
          <a:noFill/>
          <a:ln>
            <a:noFill/>
          </a:ln>
        </p:spPr>
        <p:txBody>
          <a:bodyPr anchorCtr="0" anchor="t" bIns="76750" lIns="76750" spcFirstLastPara="1" rIns="76750" wrap="square" tIns="76750">
            <a:norm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3"/>
              <a:buFont typeface="Arial"/>
              <a:buNone/>
            </a:pPr>
            <a:r>
              <a:rPr b="0" i="0" lang="en-GB" sz="1343" u="none" cap="none" strike="noStrike">
                <a:solidFill>
                  <a:srgbClr val="202729"/>
                </a:solidFill>
                <a:latin typeface="Manrope SemiBold"/>
                <a:ea typeface="Manrope SemiBold"/>
                <a:cs typeface="Manrope SemiBold"/>
                <a:sym typeface="Manrope SemiBold"/>
              </a:rPr>
              <a:t>Team Leader Name :</a:t>
            </a:r>
            <a:r>
              <a:rPr sz="1343">
                <a:solidFill>
                  <a:srgbClr val="202729"/>
                </a:solidFill>
                <a:latin typeface="Manrope"/>
              </a:rPr>
              <a:t>  Sairaj Sawant</a:t>
            </a:r>
            <a:endParaRPr b="0" i="0" sz="1343" u="none" cap="none" strike="noStrike">
              <a:solidFill>
                <a:srgbClr val="202729"/>
              </a:solidFill>
              <a:latin typeface="Manrope SemiBold"/>
              <a:ea typeface="Manrope SemiBold"/>
              <a:cs typeface="Manrope SemiBold"/>
              <a:sym typeface="Manrope SemiBold"/>
            </a:endParaRPr>
          </a:p>
        </p:txBody>
      </p:sp>
      <p:sp>
        <p:nvSpPr>
          <p:cNvPr id="58" name="Google Shape;58;p13"/>
          <p:cNvSpPr txBox="1"/>
          <p:nvPr/>
        </p:nvSpPr>
        <p:spPr>
          <a:xfrm>
            <a:off x="402788" y="3907261"/>
            <a:ext cx="71529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76750" lIns="76750" spcFirstLastPara="1" rIns="76750" wrap="square" tIns="76750">
            <a:normAutofit/>
          </a:bodyPr>
          <a:lstStyle/>
          <a:p>
            <a:pPr indent="0" lvl="0" marL="0" marR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3"/>
              <a:buFont typeface="Arial"/>
              <a:buNone/>
            </a:pPr>
            <a:r>
              <a:rPr b="0" i="0" lang="en-GB" sz="1343" u="none" cap="none" strike="noStrike">
                <a:solidFill>
                  <a:srgbClr val="202729"/>
                </a:solidFill>
                <a:latin typeface="Manrope SemiBold"/>
                <a:ea typeface="Manrope SemiBold"/>
                <a:cs typeface="Manrope SemiBold"/>
                <a:sym typeface="Manrope SemiBold"/>
              </a:rPr>
              <a:t>Team Size :</a:t>
            </a:r>
            <a:r>
              <a:rPr sz="1343">
                <a:solidFill>
                  <a:srgbClr val="202729"/>
                </a:solidFill>
                <a:latin typeface="Manrope"/>
              </a:rPr>
              <a:t>  1</a:t>
            </a:r>
            <a:endParaRPr b="0" i="0" sz="1343" u="none" cap="none" strike="noStrike">
              <a:solidFill>
                <a:srgbClr val="202729"/>
              </a:solidFill>
              <a:latin typeface="Manrope SemiBold"/>
              <a:ea typeface="Manrope SemiBold"/>
              <a:cs typeface="Manrope SemiBold"/>
              <a:sym typeface="Manrope SemiBold"/>
            </a:endParaRPr>
          </a:p>
        </p:txBody>
      </p:sp>
      <p:sp>
        <p:nvSpPr>
          <p:cNvPr id="59" name="TextBox 58"/>
          <p:cNvSpPr txBox="1"/>
          <p:nvPr/>
        </p:nvSpPr>
        <p:spPr>
          <a:xfrm>
            <a:off x="402336" y="2852928"/>
            <a:ext cx="71323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 i="0">
                <a:solidFill>
                  <a:srgbClr val="252525"/>
                </a:solidFill>
                <a:latin typeface="Arial"/>
              </a:rPr>
              <a:t>Customer 360 Decisioning Platform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5" name="Google Shape;85;p18" title="timer 1 min cowsswedededexeco cli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40080"/>
            <a:ext cx="91440" cy="329184"/>
          </a:xfrm>
          <a:prstGeom prst="rect">
            <a:avLst/>
          </a:prstGeom>
          <a:solidFill>
            <a:srgbClr val="29B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603504"/>
            <a:ext cx="832104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 i="0">
                <a:solidFill>
                  <a:srgbClr val="000000"/>
                </a:solidFill>
                <a:latin typeface="Arial"/>
              </a:rPr>
              <a:t>Customers signal what they'll do long before they do 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987552"/>
            <a:ext cx="8321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5B5B5B"/>
                </a:solidFill>
                <a:latin typeface="Arial"/>
              </a:rPr>
              <a:t>Insurers and lenders already hold the evidence. It's spread across systems nobody reads together.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" y="1417320"/>
            <a:ext cx="4983480" cy="1005840"/>
          </a:xfrm>
          <a:prstGeom prst="roundRect">
            <a:avLst>
              <a:gd name="adj" fmla="val 8000"/>
            </a:avLst>
          </a:prstGeom>
          <a:solidFill>
            <a:srgbClr val="F4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pSp>
        <p:nvGrpSpPr>
          <p:cNvPr id="9001" name="Google Shape;4253;p99"/>
          <p:cNvGrpSpPr/>
          <p:nvPr/>
        </p:nvGrpSpPr>
        <p:grpSpPr>
          <a:xfrm>
            <a:off x="585363" y="1508760"/>
            <a:ext cx="255738" cy="310896"/>
            <a:chOff x="7120604" y="4956377"/>
            <a:chExt cx="433673" cy="527207"/>
          </a:xfrm>
        </p:grpSpPr>
        <p:sp>
          <p:nvSpPr>
            <p:cNvPr id="9002" name="Google Shape;4254;p99"/>
            <p:cNvSpPr/>
            <p:nvPr/>
          </p:nvSpPr>
          <p:spPr>
            <a:xfrm>
              <a:off x="7298531" y="5264891"/>
              <a:ext cx="218693" cy="218693"/>
            </a:xfrm>
            <a:custGeom>
              <a:avLst/>
              <a:gdLst/>
              <a:ahLst/>
              <a:cxnLst/>
              <a:rect l="l" t="t" r="r" b="b"/>
              <a:pathLst>
                <a:path w="218693" h="218693" extrusionOk="0">
                  <a:moveTo>
                    <a:pt x="206788" y="97441"/>
                  </a:moveTo>
                  <a:lnTo>
                    <a:pt x="121253" y="97441"/>
                  </a:lnTo>
                  <a:lnTo>
                    <a:pt x="121253" y="11906"/>
                  </a:lnTo>
                  <a:cubicBezTo>
                    <a:pt x="121253" y="5334"/>
                    <a:pt x="115919" y="0"/>
                    <a:pt x="109347" y="0"/>
                  </a:cubicBezTo>
                  <a:cubicBezTo>
                    <a:pt x="49054" y="0"/>
                    <a:pt x="0" y="49054"/>
                    <a:pt x="0" y="109347"/>
                  </a:cubicBezTo>
                  <a:cubicBezTo>
                    <a:pt x="0" y="169640"/>
                    <a:pt x="49054" y="218694"/>
                    <a:pt x="109347" y="218694"/>
                  </a:cubicBezTo>
                  <a:cubicBezTo>
                    <a:pt x="169640" y="218694"/>
                    <a:pt x="218694" y="169640"/>
                    <a:pt x="218694" y="109347"/>
                  </a:cubicBezTo>
                  <a:cubicBezTo>
                    <a:pt x="218694" y="102775"/>
                    <a:pt x="213360" y="97441"/>
                    <a:pt x="206788" y="97441"/>
                  </a:cubicBezTo>
                  <a:close/>
                  <a:moveTo>
                    <a:pt x="109347" y="194881"/>
                  </a:moveTo>
                  <a:cubicBezTo>
                    <a:pt x="62198" y="194881"/>
                    <a:pt x="23813" y="156496"/>
                    <a:pt x="23813" y="109347"/>
                  </a:cubicBezTo>
                  <a:cubicBezTo>
                    <a:pt x="23813" y="66199"/>
                    <a:pt x="55912" y="30480"/>
                    <a:pt x="97441" y="24670"/>
                  </a:cubicBezTo>
                  <a:lnTo>
                    <a:pt x="97441" y="109347"/>
                  </a:lnTo>
                  <a:cubicBezTo>
                    <a:pt x="97441" y="115919"/>
                    <a:pt x="102775" y="121253"/>
                    <a:pt x="109347" y="121253"/>
                  </a:cubicBezTo>
                  <a:lnTo>
                    <a:pt x="194024" y="121253"/>
                  </a:lnTo>
                  <a:cubicBezTo>
                    <a:pt x="188214" y="162782"/>
                    <a:pt x="152400" y="194881"/>
                    <a:pt x="109347" y="194881"/>
                  </a:cubicBezTo>
                  <a:close/>
                </a:path>
              </a:pathLst>
            </a:custGeom>
            <a:solidFill>
              <a:srgbClr val="29B5E8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03" name="Google Shape;4255;p99"/>
            <p:cNvSpPr/>
            <p:nvPr/>
          </p:nvSpPr>
          <p:spPr>
            <a:xfrm>
              <a:off x="7433024" y="5227839"/>
              <a:ext cx="121253" cy="121253"/>
            </a:xfrm>
            <a:custGeom>
              <a:avLst/>
              <a:gdLst/>
              <a:ahLst/>
              <a:cxnLst/>
              <a:rect l="l" t="t" r="r" b="b"/>
              <a:pathLst>
                <a:path w="121253" h="121253" extrusionOk="0">
                  <a:moveTo>
                    <a:pt x="11906" y="0"/>
                  </a:moveTo>
                  <a:cubicBezTo>
                    <a:pt x="5334" y="0"/>
                    <a:pt x="0" y="5334"/>
                    <a:pt x="0" y="11906"/>
                  </a:cubicBezTo>
                  <a:lnTo>
                    <a:pt x="0" y="109347"/>
                  </a:lnTo>
                  <a:cubicBezTo>
                    <a:pt x="0" y="115919"/>
                    <a:pt x="5334" y="121253"/>
                    <a:pt x="11906" y="121253"/>
                  </a:cubicBezTo>
                  <a:lnTo>
                    <a:pt x="109347" y="121253"/>
                  </a:lnTo>
                  <a:cubicBezTo>
                    <a:pt x="115919" y="121253"/>
                    <a:pt x="121253" y="115919"/>
                    <a:pt x="121253" y="109347"/>
                  </a:cubicBezTo>
                  <a:cubicBezTo>
                    <a:pt x="121253" y="49054"/>
                    <a:pt x="72200" y="0"/>
                    <a:pt x="11906" y="0"/>
                  </a:cubicBezTo>
                  <a:close/>
                  <a:moveTo>
                    <a:pt x="23813" y="97441"/>
                  </a:moveTo>
                  <a:lnTo>
                    <a:pt x="23813" y="24670"/>
                  </a:lnTo>
                  <a:cubicBezTo>
                    <a:pt x="61436" y="29908"/>
                    <a:pt x="91345" y="59817"/>
                    <a:pt x="96584" y="97441"/>
                  </a:cubicBezTo>
                  <a:lnTo>
                    <a:pt x="23813" y="97441"/>
                  </a:lnTo>
                  <a:close/>
                </a:path>
              </a:pathLst>
            </a:custGeom>
            <a:solidFill>
              <a:srgbClr val="29B5E8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04" name="Google Shape;4256;p99"/>
            <p:cNvSpPr/>
            <p:nvPr/>
          </p:nvSpPr>
          <p:spPr>
            <a:xfrm>
              <a:off x="7120604" y="4956377"/>
              <a:ext cx="407289" cy="524732"/>
            </a:xfrm>
            <a:custGeom>
              <a:avLst/>
              <a:gdLst/>
              <a:ahLst/>
              <a:cxnLst/>
              <a:rect l="l" t="t" r="r" b="b"/>
              <a:pathLst>
                <a:path w="407289" h="524732" extrusionOk="0">
                  <a:moveTo>
                    <a:pt x="156401" y="486632"/>
                  </a:moveTo>
                  <a:lnTo>
                    <a:pt x="38100" y="486632"/>
                  </a:lnTo>
                  <a:lnTo>
                    <a:pt x="38100" y="155639"/>
                  </a:lnTo>
                  <a:lnTo>
                    <a:pt x="136493" y="155639"/>
                  </a:lnTo>
                  <a:cubicBezTo>
                    <a:pt x="146971" y="155639"/>
                    <a:pt x="155543" y="147066"/>
                    <a:pt x="155543" y="136589"/>
                  </a:cubicBezTo>
                  <a:lnTo>
                    <a:pt x="155543" y="38195"/>
                  </a:lnTo>
                  <a:lnTo>
                    <a:pt x="369189" y="38195"/>
                  </a:lnTo>
                  <a:lnTo>
                    <a:pt x="369189" y="240221"/>
                  </a:lnTo>
                  <a:cubicBezTo>
                    <a:pt x="369189" y="250698"/>
                    <a:pt x="377762" y="259271"/>
                    <a:pt x="388239" y="259271"/>
                  </a:cubicBezTo>
                  <a:cubicBezTo>
                    <a:pt x="398717" y="259271"/>
                    <a:pt x="407289" y="250698"/>
                    <a:pt x="407289" y="240221"/>
                  </a:cubicBezTo>
                  <a:lnTo>
                    <a:pt x="407289" y="19050"/>
                  </a:lnTo>
                  <a:cubicBezTo>
                    <a:pt x="407289" y="8573"/>
                    <a:pt x="398717" y="0"/>
                    <a:pt x="388239" y="0"/>
                  </a:cubicBezTo>
                  <a:lnTo>
                    <a:pt x="130016" y="0"/>
                  </a:lnTo>
                  <a:cubicBezTo>
                    <a:pt x="124777" y="0"/>
                    <a:pt x="119825" y="2191"/>
                    <a:pt x="116205" y="5906"/>
                  </a:cubicBezTo>
                  <a:lnTo>
                    <a:pt x="5239" y="122968"/>
                  </a:lnTo>
                  <a:cubicBezTo>
                    <a:pt x="1905" y="126492"/>
                    <a:pt x="0" y="131159"/>
                    <a:pt x="0" y="136112"/>
                  </a:cubicBezTo>
                  <a:lnTo>
                    <a:pt x="0" y="505682"/>
                  </a:lnTo>
                  <a:cubicBezTo>
                    <a:pt x="0" y="516160"/>
                    <a:pt x="8573" y="524732"/>
                    <a:pt x="19050" y="524732"/>
                  </a:cubicBezTo>
                  <a:lnTo>
                    <a:pt x="156401" y="524732"/>
                  </a:lnTo>
                  <a:cubicBezTo>
                    <a:pt x="166878" y="524732"/>
                    <a:pt x="175451" y="516160"/>
                    <a:pt x="175451" y="505682"/>
                  </a:cubicBezTo>
                  <a:cubicBezTo>
                    <a:pt x="175451" y="495205"/>
                    <a:pt x="166878" y="486632"/>
                    <a:pt x="156401" y="486632"/>
                  </a:cubicBezTo>
                  <a:close/>
                  <a:moveTo>
                    <a:pt x="117443" y="60008"/>
                  </a:moveTo>
                  <a:lnTo>
                    <a:pt x="117443" y="117443"/>
                  </a:lnTo>
                  <a:lnTo>
                    <a:pt x="62960" y="117443"/>
                  </a:lnTo>
                  <a:lnTo>
                    <a:pt x="117443" y="60008"/>
                  </a:lnTo>
                  <a:close/>
                </a:path>
              </a:pathLst>
            </a:custGeom>
            <a:solidFill>
              <a:srgbClr val="29B5E8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9005" name="TextBox 9004"/>
          <p:cNvSpPr txBox="1"/>
          <p:nvPr/>
        </p:nvSpPr>
        <p:spPr>
          <a:xfrm>
            <a:off x="960120" y="1554480"/>
            <a:ext cx="429767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11567F"/>
                </a:solidFill>
                <a:latin typeface="Arial"/>
              </a:rPr>
              <a:t>Scattered data</a:t>
            </a:r>
          </a:p>
        </p:txBody>
      </p:sp>
      <p:sp>
        <p:nvSpPr>
          <p:cNvPr id="9006" name="TextBox 9005"/>
          <p:cNvSpPr txBox="1"/>
          <p:nvPr/>
        </p:nvSpPr>
        <p:spPr>
          <a:xfrm>
            <a:off x="576072" y="1874519"/>
            <a:ext cx="4681728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 i="0">
                <a:solidFill>
                  <a:srgbClr val="5B5B5B"/>
                </a:solidFill>
                <a:latin typeface="Arial"/>
              </a:rPr>
              <a:t>Policies, claims, payments, calls, emails and tickets live in separate systems.</a:t>
            </a:r>
          </a:p>
        </p:txBody>
      </p:sp>
      <p:sp>
        <p:nvSpPr>
          <p:cNvPr id="9007" name="Rounded Rectangle 9006"/>
          <p:cNvSpPr/>
          <p:nvPr/>
        </p:nvSpPr>
        <p:spPr>
          <a:xfrm>
            <a:off x="411480" y="2560320"/>
            <a:ext cx="4983480" cy="1005840"/>
          </a:xfrm>
          <a:prstGeom prst="roundRect">
            <a:avLst>
              <a:gd name="adj" fmla="val 8000"/>
            </a:avLst>
          </a:prstGeom>
          <a:solidFill>
            <a:srgbClr val="F4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pSp>
        <p:nvGrpSpPr>
          <p:cNvPr id="9005" name="Google Shape;3735;p97"/>
          <p:cNvGrpSpPr/>
          <p:nvPr/>
        </p:nvGrpSpPr>
        <p:grpSpPr>
          <a:xfrm>
            <a:off x="557784" y="2668582"/>
            <a:ext cx="310896" cy="277251"/>
            <a:chOff x="5508717" y="2161969"/>
            <a:chExt cx="533400" cy="475678"/>
          </a:xfrm>
        </p:grpSpPr>
        <p:sp>
          <p:nvSpPr>
            <p:cNvPr id="9006" name="Google Shape;3736;p97"/>
            <p:cNvSpPr/>
            <p:nvPr/>
          </p:nvSpPr>
          <p:spPr>
            <a:xfrm>
              <a:off x="5508717" y="2161969"/>
              <a:ext cx="533400" cy="475678"/>
            </a:xfrm>
            <a:custGeom>
              <a:avLst/>
              <a:gdLst/>
              <a:ahLst/>
              <a:cxnLst/>
              <a:rect l="l" t="t" r="r" b="b"/>
              <a:pathLst>
                <a:path w="533400" h="475678" extrusionOk="0">
                  <a:moveTo>
                    <a:pt x="311515" y="25908"/>
                  </a:moveTo>
                  <a:cubicBezTo>
                    <a:pt x="302181" y="9716"/>
                    <a:pt x="285417" y="0"/>
                    <a:pt x="266652" y="0"/>
                  </a:cubicBezTo>
                  <a:cubicBezTo>
                    <a:pt x="247888" y="0"/>
                    <a:pt x="231124" y="9716"/>
                    <a:pt x="221790" y="25908"/>
                  </a:cubicBezTo>
                  <a:lnTo>
                    <a:pt x="7001" y="397955"/>
                  </a:lnTo>
                  <a:cubicBezTo>
                    <a:pt x="-2334" y="414147"/>
                    <a:pt x="-2334" y="433483"/>
                    <a:pt x="7001" y="449771"/>
                  </a:cubicBezTo>
                  <a:cubicBezTo>
                    <a:pt x="16335" y="465963"/>
                    <a:pt x="33099" y="475679"/>
                    <a:pt x="51864" y="475679"/>
                  </a:cubicBezTo>
                  <a:lnTo>
                    <a:pt x="481536" y="475679"/>
                  </a:lnTo>
                  <a:cubicBezTo>
                    <a:pt x="500301" y="475679"/>
                    <a:pt x="516969" y="465963"/>
                    <a:pt x="526399" y="449771"/>
                  </a:cubicBezTo>
                  <a:cubicBezTo>
                    <a:pt x="535734" y="433578"/>
                    <a:pt x="535734" y="414242"/>
                    <a:pt x="526399" y="397955"/>
                  </a:cubicBezTo>
                  <a:lnTo>
                    <a:pt x="311515" y="25908"/>
                  </a:lnTo>
                  <a:close/>
                  <a:moveTo>
                    <a:pt x="490776" y="429292"/>
                  </a:moveTo>
                  <a:cubicBezTo>
                    <a:pt x="489823" y="430911"/>
                    <a:pt x="487061" y="434626"/>
                    <a:pt x="481441" y="434626"/>
                  </a:cubicBezTo>
                  <a:lnTo>
                    <a:pt x="51864" y="434626"/>
                  </a:lnTo>
                  <a:cubicBezTo>
                    <a:pt x="46244" y="434626"/>
                    <a:pt x="43482" y="430816"/>
                    <a:pt x="42529" y="429292"/>
                  </a:cubicBezTo>
                  <a:cubicBezTo>
                    <a:pt x="41577" y="427673"/>
                    <a:pt x="39767" y="423386"/>
                    <a:pt x="42529" y="418529"/>
                  </a:cubicBezTo>
                  <a:lnTo>
                    <a:pt x="257318" y="46387"/>
                  </a:lnTo>
                  <a:cubicBezTo>
                    <a:pt x="260080" y="41529"/>
                    <a:pt x="264747" y="40957"/>
                    <a:pt x="266652" y="40957"/>
                  </a:cubicBezTo>
                  <a:cubicBezTo>
                    <a:pt x="268557" y="40957"/>
                    <a:pt x="273129" y="41529"/>
                    <a:pt x="275987" y="46387"/>
                  </a:cubicBezTo>
                  <a:lnTo>
                    <a:pt x="490776" y="418433"/>
                  </a:lnTo>
                  <a:cubicBezTo>
                    <a:pt x="493538" y="423291"/>
                    <a:pt x="491728" y="427577"/>
                    <a:pt x="490776" y="429197"/>
                  </a:cubicBezTo>
                  <a:close/>
                </a:path>
              </a:pathLst>
            </a:custGeom>
            <a:solidFill>
              <a:srgbClr val="29B5E8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07" name="Google Shape;3737;p97"/>
            <p:cNvSpPr/>
            <p:nvPr/>
          </p:nvSpPr>
          <p:spPr>
            <a:xfrm>
              <a:off x="5755367" y="2512203"/>
              <a:ext cx="41528" cy="42195"/>
            </a:xfrm>
            <a:custGeom>
              <a:avLst/>
              <a:gdLst/>
              <a:ahLst/>
              <a:cxnLst/>
              <a:rect l="l" t="t" r="r" b="b"/>
              <a:pathLst>
                <a:path w="41528" h="42195" extrusionOk="0">
                  <a:moveTo>
                    <a:pt x="20574" y="0"/>
                  </a:moveTo>
                  <a:cubicBezTo>
                    <a:pt x="9239" y="0"/>
                    <a:pt x="0" y="9430"/>
                    <a:pt x="0" y="20955"/>
                  </a:cubicBezTo>
                  <a:cubicBezTo>
                    <a:pt x="0" y="32480"/>
                    <a:pt x="9239" y="42196"/>
                    <a:pt x="20574" y="42196"/>
                  </a:cubicBezTo>
                  <a:cubicBezTo>
                    <a:pt x="31909" y="42196"/>
                    <a:pt x="41529" y="32671"/>
                    <a:pt x="41529" y="20955"/>
                  </a:cubicBezTo>
                  <a:cubicBezTo>
                    <a:pt x="41529" y="9239"/>
                    <a:pt x="32099" y="0"/>
                    <a:pt x="20574" y="0"/>
                  </a:cubicBezTo>
                  <a:close/>
                </a:path>
              </a:pathLst>
            </a:custGeom>
            <a:solidFill>
              <a:srgbClr val="29B5E8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08" name="Google Shape;3738;p97"/>
            <p:cNvSpPr/>
            <p:nvPr/>
          </p:nvSpPr>
          <p:spPr>
            <a:xfrm>
              <a:off x="5755272" y="2313893"/>
              <a:ext cx="40195" cy="176593"/>
            </a:xfrm>
            <a:custGeom>
              <a:avLst/>
              <a:gdLst/>
              <a:ahLst/>
              <a:cxnLst/>
              <a:rect l="l" t="t" r="r" b="b"/>
              <a:pathLst>
                <a:path w="40195" h="176593" extrusionOk="0">
                  <a:moveTo>
                    <a:pt x="33052" y="176594"/>
                  </a:moveTo>
                  <a:lnTo>
                    <a:pt x="40196" y="0"/>
                  </a:lnTo>
                  <a:lnTo>
                    <a:pt x="0" y="0"/>
                  </a:lnTo>
                  <a:lnTo>
                    <a:pt x="7144" y="176594"/>
                  </a:lnTo>
                  <a:lnTo>
                    <a:pt x="33052" y="176594"/>
                  </a:lnTo>
                  <a:close/>
                </a:path>
              </a:pathLst>
            </a:custGeom>
            <a:solidFill>
              <a:srgbClr val="29B5E8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9009" name="TextBox 9008"/>
          <p:cNvSpPr txBox="1"/>
          <p:nvPr/>
        </p:nvSpPr>
        <p:spPr>
          <a:xfrm>
            <a:off x="960120" y="2697479"/>
            <a:ext cx="429767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11567F"/>
                </a:solidFill>
                <a:latin typeface="Arial"/>
              </a:rPr>
              <a:t>Missed warnings</a:t>
            </a:r>
          </a:p>
        </p:txBody>
      </p:sp>
      <p:sp>
        <p:nvSpPr>
          <p:cNvPr id="9010" name="TextBox 9009"/>
          <p:cNvSpPr txBox="1"/>
          <p:nvPr/>
        </p:nvSpPr>
        <p:spPr>
          <a:xfrm>
            <a:off x="576072" y="3017520"/>
            <a:ext cx="4681728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 i="0">
                <a:solidFill>
                  <a:srgbClr val="5B5B5B"/>
                </a:solidFill>
                <a:latin typeface="Arial"/>
              </a:rPr>
              <a:t>A customer threatens to switch insurers on a call while their claim sits stuck for weeks. Nobody links the two.</a:t>
            </a:r>
          </a:p>
        </p:txBody>
      </p:sp>
      <p:sp>
        <p:nvSpPr>
          <p:cNvPr id="9011" name="Rounded Rectangle 9010"/>
          <p:cNvSpPr/>
          <p:nvPr/>
        </p:nvSpPr>
        <p:spPr>
          <a:xfrm>
            <a:off x="411480" y="3703320"/>
            <a:ext cx="4983480" cy="1005840"/>
          </a:xfrm>
          <a:prstGeom prst="roundRect">
            <a:avLst>
              <a:gd name="adj" fmla="val 8000"/>
            </a:avLst>
          </a:prstGeom>
          <a:solidFill>
            <a:srgbClr val="F4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pSp>
        <p:nvGrpSpPr>
          <p:cNvPr id="9009" name="Google Shape;4190;p99"/>
          <p:cNvGrpSpPr/>
          <p:nvPr/>
        </p:nvGrpSpPr>
        <p:grpSpPr>
          <a:xfrm>
            <a:off x="557784" y="3794759"/>
            <a:ext cx="310895" cy="310895"/>
            <a:chOff x="9461045" y="275157"/>
            <a:chExt cx="523779" cy="523779"/>
          </a:xfrm>
        </p:grpSpPr>
        <p:sp>
          <p:nvSpPr>
            <p:cNvPr id="9010" name="Google Shape;4191;p99"/>
            <p:cNvSpPr/>
            <p:nvPr/>
          </p:nvSpPr>
          <p:spPr>
            <a:xfrm>
              <a:off x="9544793" y="360525"/>
              <a:ext cx="123324" cy="121991"/>
            </a:xfrm>
            <a:custGeom>
              <a:avLst/>
              <a:gdLst/>
              <a:ahLst/>
              <a:cxnLst/>
              <a:rect l="l" t="t" r="r" b="b"/>
              <a:pathLst>
                <a:path w="123324" h="121991" extrusionOk="0">
                  <a:moveTo>
                    <a:pt x="111514" y="35695"/>
                  </a:moveTo>
                  <a:cubicBezTo>
                    <a:pt x="104942" y="35695"/>
                    <a:pt x="99608" y="41029"/>
                    <a:pt x="99608" y="47601"/>
                  </a:cubicBezTo>
                  <a:lnTo>
                    <a:pt x="99608" y="82748"/>
                  </a:lnTo>
                  <a:lnTo>
                    <a:pt x="20360" y="3500"/>
                  </a:lnTo>
                  <a:cubicBezTo>
                    <a:pt x="15692" y="-1167"/>
                    <a:pt x="8168" y="-1167"/>
                    <a:pt x="3500" y="3500"/>
                  </a:cubicBezTo>
                  <a:cubicBezTo>
                    <a:pt x="-1167" y="8168"/>
                    <a:pt x="-1167" y="15692"/>
                    <a:pt x="3500" y="20360"/>
                  </a:cubicBezTo>
                  <a:lnTo>
                    <a:pt x="81224" y="98179"/>
                  </a:lnTo>
                  <a:lnTo>
                    <a:pt x="48935" y="98179"/>
                  </a:lnTo>
                  <a:cubicBezTo>
                    <a:pt x="42362" y="98179"/>
                    <a:pt x="37028" y="103513"/>
                    <a:pt x="37028" y="110085"/>
                  </a:cubicBezTo>
                  <a:cubicBezTo>
                    <a:pt x="37028" y="116657"/>
                    <a:pt x="42362" y="121991"/>
                    <a:pt x="48935" y="121991"/>
                  </a:cubicBezTo>
                  <a:lnTo>
                    <a:pt x="111419" y="121991"/>
                  </a:lnTo>
                  <a:cubicBezTo>
                    <a:pt x="117991" y="121991"/>
                    <a:pt x="123325" y="116657"/>
                    <a:pt x="123325" y="110085"/>
                  </a:cubicBezTo>
                  <a:lnTo>
                    <a:pt x="123325" y="47601"/>
                  </a:lnTo>
                  <a:cubicBezTo>
                    <a:pt x="123325" y="41029"/>
                    <a:pt x="117991" y="35695"/>
                    <a:pt x="111419" y="35695"/>
                  </a:cubicBezTo>
                  <a:close/>
                </a:path>
              </a:pathLst>
            </a:custGeom>
            <a:solidFill>
              <a:srgbClr val="29B5E8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11" name="Google Shape;4192;p99"/>
            <p:cNvSpPr/>
            <p:nvPr/>
          </p:nvSpPr>
          <p:spPr>
            <a:xfrm>
              <a:off x="9777846" y="360525"/>
              <a:ext cx="123324" cy="121991"/>
            </a:xfrm>
            <a:custGeom>
              <a:avLst/>
              <a:gdLst/>
              <a:ahLst/>
              <a:cxnLst/>
              <a:rect l="l" t="t" r="r" b="b"/>
              <a:pathLst>
                <a:path w="123324" h="121991" extrusionOk="0">
                  <a:moveTo>
                    <a:pt x="103061" y="3500"/>
                  </a:moveTo>
                  <a:lnTo>
                    <a:pt x="23813" y="82748"/>
                  </a:lnTo>
                  <a:lnTo>
                    <a:pt x="23813" y="47601"/>
                  </a:lnTo>
                  <a:cubicBezTo>
                    <a:pt x="23813" y="41029"/>
                    <a:pt x="18478" y="35695"/>
                    <a:pt x="11906" y="35695"/>
                  </a:cubicBezTo>
                  <a:cubicBezTo>
                    <a:pt x="5334" y="35695"/>
                    <a:pt x="0" y="41029"/>
                    <a:pt x="0" y="47601"/>
                  </a:cubicBezTo>
                  <a:lnTo>
                    <a:pt x="0" y="110085"/>
                  </a:lnTo>
                  <a:cubicBezTo>
                    <a:pt x="0" y="116657"/>
                    <a:pt x="5334" y="121991"/>
                    <a:pt x="11906" y="121991"/>
                  </a:cubicBezTo>
                  <a:lnTo>
                    <a:pt x="74390" y="121991"/>
                  </a:lnTo>
                  <a:cubicBezTo>
                    <a:pt x="80963" y="121991"/>
                    <a:pt x="86297" y="116657"/>
                    <a:pt x="86297" y="110085"/>
                  </a:cubicBezTo>
                  <a:cubicBezTo>
                    <a:pt x="86297" y="103513"/>
                    <a:pt x="80963" y="98179"/>
                    <a:pt x="74390" y="98179"/>
                  </a:cubicBezTo>
                  <a:lnTo>
                    <a:pt x="42101" y="98179"/>
                  </a:lnTo>
                  <a:lnTo>
                    <a:pt x="119825" y="20360"/>
                  </a:lnTo>
                  <a:cubicBezTo>
                    <a:pt x="124492" y="15692"/>
                    <a:pt x="124492" y="8168"/>
                    <a:pt x="119825" y="3500"/>
                  </a:cubicBezTo>
                  <a:cubicBezTo>
                    <a:pt x="115157" y="-1167"/>
                    <a:pt x="107632" y="-1167"/>
                    <a:pt x="102965" y="3500"/>
                  </a:cubicBezTo>
                  <a:close/>
                </a:path>
              </a:pathLst>
            </a:custGeom>
            <a:solidFill>
              <a:srgbClr val="29B5E8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12" name="Google Shape;4193;p99"/>
            <p:cNvSpPr/>
            <p:nvPr/>
          </p:nvSpPr>
          <p:spPr>
            <a:xfrm>
              <a:off x="9544793" y="592149"/>
              <a:ext cx="123324" cy="122015"/>
            </a:xfrm>
            <a:custGeom>
              <a:avLst/>
              <a:gdLst/>
              <a:ahLst/>
              <a:cxnLst/>
              <a:rect l="l" t="t" r="r" b="b"/>
              <a:pathLst>
                <a:path w="123324" h="122015" extrusionOk="0">
                  <a:moveTo>
                    <a:pt x="111514" y="0"/>
                  </a:moveTo>
                  <a:lnTo>
                    <a:pt x="49030" y="0"/>
                  </a:lnTo>
                  <a:cubicBezTo>
                    <a:pt x="42458" y="0"/>
                    <a:pt x="37124" y="5334"/>
                    <a:pt x="37124" y="11906"/>
                  </a:cubicBezTo>
                  <a:cubicBezTo>
                    <a:pt x="37124" y="18478"/>
                    <a:pt x="42458" y="23813"/>
                    <a:pt x="49030" y="23813"/>
                  </a:cubicBezTo>
                  <a:lnTo>
                    <a:pt x="81320" y="23813"/>
                  </a:lnTo>
                  <a:lnTo>
                    <a:pt x="3500" y="101632"/>
                  </a:lnTo>
                  <a:cubicBezTo>
                    <a:pt x="-1167" y="106299"/>
                    <a:pt x="-1167" y="113824"/>
                    <a:pt x="3500" y="118491"/>
                  </a:cubicBezTo>
                  <a:cubicBezTo>
                    <a:pt x="5786" y="120777"/>
                    <a:pt x="8834" y="122015"/>
                    <a:pt x="11882" y="122015"/>
                  </a:cubicBezTo>
                  <a:cubicBezTo>
                    <a:pt x="14930" y="122015"/>
                    <a:pt x="17978" y="120872"/>
                    <a:pt x="20264" y="118491"/>
                  </a:cubicBezTo>
                  <a:lnTo>
                    <a:pt x="99512" y="39243"/>
                  </a:lnTo>
                  <a:lnTo>
                    <a:pt x="99512" y="74390"/>
                  </a:lnTo>
                  <a:cubicBezTo>
                    <a:pt x="99512" y="80963"/>
                    <a:pt x="104846" y="86297"/>
                    <a:pt x="111419" y="86297"/>
                  </a:cubicBezTo>
                  <a:cubicBezTo>
                    <a:pt x="117991" y="86297"/>
                    <a:pt x="123325" y="80963"/>
                    <a:pt x="123325" y="74390"/>
                  </a:cubicBezTo>
                  <a:lnTo>
                    <a:pt x="123325" y="11906"/>
                  </a:lnTo>
                  <a:cubicBezTo>
                    <a:pt x="123325" y="5334"/>
                    <a:pt x="117991" y="0"/>
                    <a:pt x="111419" y="0"/>
                  </a:cubicBezTo>
                  <a:close/>
                </a:path>
              </a:pathLst>
            </a:custGeom>
            <a:solidFill>
              <a:srgbClr val="29B5E8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13" name="Google Shape;4194;p99"/>
            <p:cNvSpPr/>
            <p:nvPr/>
          </p:nvSpPr>
          <p:spPr>
            <a:xfrm>
              <a:off x="9777846" y="592149"/>
              <a:ext cx="123324" cy="122015"/>
            </a:xfrm>
            <a:custGeom>
              <a:avLst/>
              <a:gdLst/>
              <a:ahLst/>
              <a:cxnLst/>
              <a:rect l="l" t="t" r="r" b="b"/>
              <a:pathLst>
                <a:path w="123324" h="122015" extrusionOk="0">
                  <a:moveTo>
                    <a:pt x="42101" y="23813"/>
                  </a:moveTo>
                  <a:lnTo>
                    <a:pt x="74390" y="23813"/>
                  </a:lnTo>
                  <a:cubicBezTo>
                    <a:pt x="80963" y="23813"/>
                    <a:pt x="86297" y="18478"/>
                    <a:pt x="86297" y="11906"/>
                  </a:cubicBezTo>
                  <a:cubicBezTo>
                    <a:pt x="86297" y="5334"/>
                    <a:pt x="80963" y="0"/>
                    <a:pt x="74390" y="0"/>
                  </a:cubicBezTo>
                  <a:lnTo>
                    <a:pt x="11906" y="0"/>
                  </a:lnTo>
                  <a:cubicBezTo>
                    <a:pt x="5334" y="0"/>
                    <a:pt x="0" y="5334"/>
                    <a:pt x="0" y="11906"/>
                  </a:cubicBezTo>
                  <a:lnTo>
                    <a:pt x="0" y="74390"/>
                  </a:lnTo>
                  <a:cubicBezTo>
                    <a:pt x="0" y="80963"/>
                    <a:pt x="5334" y="86297"/>
                    <a:pt x="11906" y="86297"/>
                  </a:cubicBezTo>
                  <a:cubicBezTo>
                    <a:pt x="18478" y="86297"/>
                    <a:pt x="23813" y="80963"/>
                    <a:pt x="23813" y="74390"/>
                  </a:cubicBezTo>
                  <a:lnTo>
                    <a:pt x="23813" y="39243"/>
                  </a:lnTo>
                  <a:lnTo>
                    <a:pt x="103061" y="118491"/>
                  </a:lnTo>
                  <a:cubicBezTo>
                    <a:pt x="105347" y="120777"/>
                    <a:pt x="108395" y="122015"/>
                    <a:pt x="111443" y="122015"/>
                  </a:cubicBezTo>
                  <a:cubicBezTo>
                    <a:pt x="114491" y="122015"/>
                    <a:pt x="117539" y="120872"/>
                    <a:pt x="119825" y="118491"/>
                  </a:cubicBezTo>
                  <a:cubicBezTo>
                    <a:pt x="124492" y="113824"/>
                    <a:pt x="124492" y="106299"/>
                    <a:pt x="119825" y="101632"/>
                  </a:cubicBezTo>
                  <a:lnTo>
                    <a:pt x="42005" y="23813"/>
                  </a:lnTo>
                  <a:close/>
                </a:path>
              </a:pathLst>
            </a:custGeom>
            <a:solidFill>
              <a:srgbClr val="29B5E8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14" name="Google Shape;4195;p99"/>
            <p:cNvSpPr/>
            <p:nvPr/>
          </p:nvSpPr>
          <p:spPr>
            <a:xfrm>
              <a:off x="9461045" y="275157"/>
              <a:ext cx="523779" cy="523779"/>
            </a:xfrm>
            <a:custGeom>
              <a:avLst/>
              <a:gdLst/>
              <a:ahLst/>
              <a:cxnLst/>
              <a:rect l="l" t="t" r="r" b="b"/>
              <a:pathLst>
                <a:path w="523779" h="523779" extrusionOk="0">
                  <a:moveTo>
                    <a:pt x="442055" y="0"/>
                  </a:moveTo>
                  <a:lnTo>
                    <a:pt x="81724" y="0"/>
                  </a:lnTo>
                  <a:cubicBezTo>
                    <a:pt x="36671" y="95"/>
                    <a:pt x="0" y="36767"/>
                    <a:pt x="0" y="81820"/>
                  </a:cubicBezTo>
                  <a:lnTo>
                    <a:pt x="0" y="442055"/>
                  </a:lnTo>
                  <a:cubicBezTo>
                    <a:pt x="0" y="487109"/>
                    <a:pt x="36671" y="523780"/>
                    <a:pt x="81724" y="523780"/>
                  </a:cubicBezTo>
                  <a:lnTo>
                    <a:pt x="442055" y="523780"/>
                  </a:lnTo>
                  <a:cubicBezTo>
                    <a:pt x="487109" y="523780"/>
                    <a:pt x="523780" y="487109"/>
                    <a:pt x="523780" y="442055"/>
                  </a:cubicBezTo>
                  <a:lnTo>
                    <a:pt x="523780" y="81725"/>
                  </a:lnTo>
                  <a:cubicBezTo>
                    <a:pt x="523780" y="36671"/>
                    <a:pt x="487109" y="0"/>
                    <a:pt x="442055" y="0"/>
                  </a:cubicBezTo>
                  <a:close/>
                  <a:moveTo>
                    <a:pt x="485775" y="442151"/>
                  </a:moveTo>
                  <a:cubicBezTo>
                    <a:pt x="485775" y="466249"/>
                    <a:pt x="466154" y="485775"/>
                    <a:pt x="442151" y="485775"/>
                  </a:cubicBezTo>
                  <a:lnTo>
                    <a:pt x="81724" y="485775"/>
                  </a:lnTo>
                  <a:cubicBezTo>
                    <a:pt x="57626" y="485775"/>
                    <a:pt x="38100" y="466154"/>
                    <a:pt x="38100" y="442151"/>
                  </a:cubicBezTo>
                  <a:lnTo>
                    <a:pt x="38100" y="81820"/>
                  </a:lnTo>
                  <a:cubicBezTo>
                    <a:pt x="38100" y="57722"/>
                    <a:pt x="57722" y="38195"/>
                    <a:pt x="81724" y="38195"/>
                  </a:cubicBezTo>
                  <a:lnTo>
                    <a:pt x="442055" y="38195"/>
                  </a:lnTo>
                  <a:cubicBezTo>
                    <a:pt x="466154" y="38100"/>
                    <a:pt x="485680" y="57626"/>
                    <a:pt x="485680" y="81725"/>
                  </a:cubicBezTo>
                  <a:lnTo>
                    <a:pt x="485680" y="442055"/>
                  </a:lnTo>
                  <a:close/>
                </a:path>
              </a:pathLst>
            </a:custGeom>
            <a:solidFill>
              <a:srgbClr val="29B5E8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9015" name="TextBox 9014"/>
          <p:cNvSpPr txBox="1"/>
          <p:nvPr/>
        </p:nvSpPr>
        <p:spPr>
          <a:xfrm>
            <a:off x="960120" y="3840480"/>
            <a:ext cx="429767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11567F"/>
                </a:solidFill>
                <a:latin typeface="Arial"/>
              </a:rPr>
              <a:t>Inconsistent action</a:t>
            </a:r>
          </a:p>
        </p:txBody>
      </p:sp>
      <p:sp>
        <p:nvSpPr>
          <p:cNvPr id="9016" name="TextBox 9015"/>
          <p:cNvSpPr txBox="1"/>
          <p:nvPr/>
        </p:nvSpPr>
        <p:spPr>
          <a:xfrm>
            <a:off x="576072" y="4160520"/>
            <a:ext cx="4681728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 i="0">
                <a:solidFill>
                  <a:srgbClr val="5B5B5B"/>
                </a:solidFill>
                <a:latin typeface="Arial"/>
              </a:rPr>
              <a:t>Every RM decides alone, and nobody learns which actions actually work.</a:t>
            </a:r>
          </a:p>
        </p:txBody>
      </p:sp>
      <p:sp>
        <p:nvSpPr>
          <p:cNvPr id="9017" name="Rounded Rectangle 9016"/>
          <p:cNvSpPr/>
          <p:nvPr/>
        </p:nvSpPr>
        <p:spPr>
          <a:xfrm>
            <a:off x="5623560" y="1417320"/>
            <a:ext cx="3108960" cy="3291840"/>
          </a:xfrm>
          <a:prstGeom prst="roundRect">
            <a:avLst>
              <a:gd name="adj" fmla="val 8000"/>
            </a:avLst>
          </a:prstGeom>
          <a:solidFill>
            <a:srgbClr val="EA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18" name="TextBox 9017"/>
          <p:cNvSpPr txBox="1"/>
          <p:nvPr/>
        </p:nvSpPr>
        <p:spPr>
          <a:xfrm>
            <a:off x="5833872" y="1572768"/>
            <a:ext cx="2743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 i="0">
                <a:solidFill>
                  <a:srgbClr val="5B5B5B"/>
                </a:solidFill>
                <a:latin typeface="Arial"/>
              </a:rPr>
              <a:t>WHO IT'S FOR</a:t>
            </a:r>
          </a:p>
        </p:txBody>
      </p:sp>
      <p:grpSp>
        <p:nvGrpSpPr>
          <p:cNvPr id="9015" name="Google Shape;3820;p98"/>
          <p:cNvGrpSpPr/>
          <p:nvPr/>
        </p:nvGrpSpPr>
        <p:grpSpPr>
          <a:xfrm>
            <a:off x="5823910" y="1901952"/>
            <a:ext cx="312531" cy="329184"/>
            <a:chOff x="8095035" y="5259929"/>
            <a:chExt cx="492588" cy="518836"/>
          </a:xfrm>
        </p:grpSpPr>
        <p:sp>
          <p:nvSpPr>
            <p:cNvPr id="9016" name="Google Shape;3821;p98"/>
            <p:cNvSpPr/>
            <p:nvPr/>
          </p:nvSpPr>
          <p:spPr>
            <a:xfrm>
              <a:off x="8196134" y="5259929"/>
              <a:ext cx="285654" cy="382057"/>
            </a:xfrm>
            <a:custGeom>
              <a:avLst/>
              <a:gdLst/>
              <a:ahLst/>
              <a:cxnLst/>
              <a:rect l="l" t="t" r="r" b="b"/>
              <a:pathLst>
                <a:path w="285654" h="382057" extrusionOk="0">
                  <a:moveTo>
                    <a:pt x="58960" y="325860"/>
                  </a:moveTo>
                  <a:cubicBezTo>
                    <a:pt x="63817" y="329670"/>
                    <a:pt x="69628" y="335480"/>
                    <a:pt x="75819" y="341576"/>
                  </a:cubicBezTo>
                  <a:cubicBezTo>
                    <a:pt x="94964" y="360531"/>
                    <a:pt x="116586" y="382058"/>
                    <a:pt x="142875" y="382058"/>
                  </a:cubicBezTo>
                  <a:cubicBezTo>
                    <a:pt x="169164" y="382058"/>
                    <a:pt x="190881" y="360531"/>
                    <a:pt x="209931" y="341576"/>
                  </a:cubicBezTo>
                  <a:cubicBezTo>
                    <a:pt x="216122" y="335480"/>
                    <a:pt x="221933" y="329670"/>
                    <a:pt x="226790" y="325860"/>
                  </a:cubicBezTo>
                  <a:cubicBezTo>
                    <a:pt x="249746" y="307858"/>
                    <a:pt x="264319" y="280140"/>
                    <a:pt x="266605" y="250613"/>
                  </a:cubicBezTo>
                  <a:cubicBezTo>
                    <a:pt x="278892" y="238040"/>
                    <a:pt x="285655" y="221561"/>
                    <a:pt x="285655" y="203940"/>
                  </a:cubicBezTo>
                  <a:lnTo>
                    <a:pt x="285655" y="193748"/>
                  </a:lnTo>
                  <a:cubicBezTo>
                    <a:pt x="285655" y="178699"/>
                    <a:pt x="280702" y="164507"/>
                    <a:pt x="271653" y="152886"/>
                  </a:cubicBezTo>
                  <a:cubicBezTo>
                    <a:pt x="270605" y="97260"/>
                    <a:pt x="256985" y="56112"/>
                    <a:pt x="231267" y="30490"/>
                  </a:cubicBezTo>
                  <a:cubicBezTo>
                    <a:pt x="200597" y="-85"/>
                    <a:pt x="160972" y="-85"/>
                    <a:pt x="144494" y="10"/>
                  </a:cubicBezTo>
                  <a:lnTo>
                    <a:pt x="141161" y="10"/>
                  </a:lnTo>
                  <a:cubicBezTo>
                    <a:pt x="124492" y="10"/>
                    <a:pt x="85058" y="-85"/>
                    <a:pt x="54388" y="30490"/>
                  </a:cubicBezTo>
                  <a:cubicBezTo>
                    <a:pt x="28670" y="56112"/>
                    <a:pt x="15145" y="97260"/>
                    <a:pt x="14002" y="152886"/>
                  </a:cubicBezTo>
                  <a:cubicBezTo>
                    <a:pt x="4953" y="164507"/>
                    <a:pt x="0" y="178794"/>
                    <a:pt x="0" y="193748"/>
                  </a:cubicBezTo>
                  <a:lnTo>
                    <a:pt x="0" y="203940"/>
                  </a:lnTo>
                  <a:cubicBezTo>
                    <a:pt x="0" y="221561"/>
                    <a:pt x="6763" y="238040"/>
                    <a:pt x="19050" y="250613"/>
                  </a:cubicBezTo>
                  <a:cubicBezTo>
                    <a:pt x="21336" y="280235"/>
                    <a:pt x="35814" y="307858"/>
                    <a:pt x="58769" y="325860"/>
                  </a:cubicBezTo>
                  <a:close/>
                  <a:moveTo>
                    <a:pt x="38291" y="193653"/>
                  </a:moveTo>
                  <a:cubicBezTo>
                    <a:pt x="38291" y="186128"/>
                    <a:pt x="41339" y="178794"/>
                    <a:pt x="46672" y="173460"/>
                  </a:cubicBezTo>
                  <a:cubicBezTo>
                    <a:pt x="50292" y="169841"/>
                    <a:pt x="52292" y="165078"/>
                    <a:pt x="52292" y="159935"/>
                  </a:cubicBezTo>
                  <a:cubicBezTo>
                    <a:pt x="52292" y="111167"/>
                    <a:pt x="62103" y="76591"/>
                    <a:pt x="81534" y="57255"/>
                  </a:cubicBezTo>
                  <a:cubicBezTo>
                    <a:pt x="100203" y="38681"/>
                    <a:pt x="124111" y="37919"/>
                    <a:pt x="139255" y="37919"/>
                  </a:cubicBezTo>
                  <a:cubicBezTo>
                    <a:pt x="139922" y="37919"/>
                    <a:pt x="140589" y="37919"/>
                    <a:pt x="141256" y="37919"/>
                  </a:cubicBezTo>
                  <a:lnTo>
                    <a:pt x="144780" y="37919"/>
                  </a:lnTo>
                  <a:cubicBezTo>
                    <a:pt x="159734" y="37919"/>
                    <a:pt x="185071" y="37824"/>
                    <a:pt x="204597" y="57255"/>
                  </a:cubicBezTo>
                  <a:cubicBezTo>
                    <a:pt x="224028" y="76591"/>
                    <a:pt x="233839" y="111167"/>
                    <a:pt x="233839" y="159935"/>
                  </a:cubicBezTo>
                  <a:cubicBezTo>
                    <a:pt x="233839" y="164983"/>
                    <a:pt x="235839" y="169841"/>
                    <a:pt x="239459" y="173460"/>
                  </a:cubicBezTo>
                  <a:cubicBezTo>
                    <a:pt x="244793" y="178794"/>
                    <a:pt x="247841" y="186128"/>
                    <a:pt x="247841" y="193653"/>
                  </a:cubicBezTo>
                  <a:lnTo>
                    <a:pt x="247841" y="203845"/>
                  </a:lnTo>
                  <a:cubicBezTo>
                    <a:pt x="247841" y="211370"/>
                    <a:pt x="244793" y="218704"/>
                    <a:pt x="239459" y="224038"/>
                  </a:cubicBezTo>
                  <a:lnTo>
                    <a:pt x="234696" y="228800"/>
                  </a:lnTo>
                  <a:cubicBezTo>
                    <a:pt x="231076" y="232420"/>
                    <a:pt x="229076" y="237182"/>
                    <a:pt x="229076" y="242231"/>
                  </a:cubicBezTo>
                  <a:cubicBezTo>
                    <a:pt x="229076" y="263186"/>
                    <a:pt x="219551" y="283188"/>
                    <a:pt x="203549" y="295761"/>
                  </a:cubicBezTo>
                  <a:cubicBezTo>
                    <a:pt x="196977" y="300905"/>
                    <a:pt x="190405" y="307477"/>
                    <a:pt x="183356" y="314430"/>
                  </a:cubicBezTo>
                  <a:cubicBezTo>
                    <a:pt x="170878" y="326813"/>
                    <a:pt x="153734" y="343862"/>
                    <a:pt x="143066" y="343862"/>
                  </a:cubicBezTo>
                  <a:cubicBezTo>
                    <a:pt x="132398" y="343862"/>
                    <a:pt x="115348" y="326813"/>
                    <a:pt x="102775" y="314430"/>
                  </a:cubicBezTo>
                  <a:cubicBezTo>
                    <a:pt x="95726" y="307477"/>
                    <a:pt x="89154" y="300905"/>
                    <a:pt x="82582" y="295761"/>
                  </a:cubicBezTo>
                  <a:cubicBezTo>
                    <a:pt x="66580" y="283283"/>
                    <a:pt x="57055" y="263281"/>
                    <a:pt x="57055" y="242231"/>
                  </a:cubicBezTo>
                  <a:cubicBezTo>
                    <a:pt x="57055" y="237182"/>
                    <a:pt x="55054" y="232325"/>
                    <a:pt x="51435" y="228800"/>
                  </a:cubicBezTo>
                  <a:lnTo>
                    <a:pt x="46672" y="224038"/>
                  </a:lnTo>
                  <a:cubicBezTo>
                    <a:pt x="41339" y="218704"/>
                    <a:pt x="38291" y="211370"/>
                    <a:pt x="38291" y="203845"/>
                  </a:cubicBezTo>
                  <a:lnTo>
                    <a:pt x="38291" y="193653"/>
                  </a:lnTo>
                  <a:close/>
                </a:path>
              </a:pathLst>
            </a:custGeom>
            <a:solidFill>
              <a:srgbClr val="29B5E8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17" name="Google Shape;3822;p98"/>
            <p:cNvSpPr/>
            <p:nvPr/>
          </p:nvSpPr>
          <p:spPr>
            <a:xfrm>
              <a:off x="8255084" y="5331163"/>
              <a:ext cx="167268" cy="84699"/>
            </a:xfrm>
            <a:custGeom>
              <a:avLst/>
              <a:gdLst/>
              <a:ahLst/>
              <a:cxnLst/>
              <a:rect l="l" t="t" r="r" b="b"/>
              <a:pathLst>
                <a:path w="167268" h="84699" extrusionOk="0">
                  <a:moveTo>
                    <a:pt x="11915" y="84699"/>
                  </a:moveTo>
                  <a:cubicBezTo>
                    <a:pt x="13535" y="84699"/>
                    <a:pt x="15059" y="84414"/>
                    <a:pt x="16678" y="83747"/>
                  </a:cubicBezTo>
                  <a:cubicBezTo>
                    <a:pt x="40014" y="73650"/>
                    <a:pt x="50492" y="55362"/>
                    <a:pt x="54397" y="38408"/>
                  </a:cubicBezTo>
                  <a:cubicBezTo>
                    <a:pt x="75447" y="55648"/>
                    <a:pt x="111642" y="78603"/>
                    <a:pt x="155362" y="78603"/>
                  </a:cubicBezTo>
                  <a:cubicBezTo>
                    <a:pt x="161934" y="78603"/>
                    <a:pt x="167268" y="73269"/>
                    <a:pt x="167268" y="66697"/>
                  </a:cubicBezTo>
                  <a:cubicBezTo>
                    <a:pt x="167268" y="60125"/>
                    <a:pt x="161934" y="54791"/>
                    <a:pt x="155362" y="54791"/>
                  </a:cubicBezTo>
                  <a:cubicBezTo>
                    <a:pt x="97640" y="54791"/>
                    <a:pt x="52968" y="4499"/>
                    <a:pt x="52492" y="4023"/>
                  </a:cubicBezTo>
                  <a:cubicBezTo>
                    <a:pt x="48968" y="22"/>
                    <a:pt x="43157" y="-1121"/>
                    <a:pt x="38395" y="1165"/>
                  </a:cubicBezTo>
                  <a:cubicBezTo>
                    <a:pt x="33537" y="3451"/>
                    <a:pt x="30870" y="8785"/>
                    <a:pt x="31823" y="14024"/>
                  </a:cubicBezTo>
                  <a:cubicBezTo>
                    <a:pt x="32108" y="15453"/>
                    <a:pt x="37633" y="48600"/>
                    <a:pt x="7153" y="61839"/>
                  </a:cubicBezTo>
                  <a:cubicBezTo>
                    <a:pt x="1152" y="64506"/>
                    <a:pt x="-1610" y="71460"/>
                    <a:pt x="962" y="77460"/>
                  </a:cubicBezTo>
                  <a:cubicBezTo>
                    <a:pt x="2962" y="81937"/>
                    <a:pt x="7248" y="84604"/>
                    <a:pt x="11915" y="84604"/>
                  </a:cubicBezTo>
                  <a:close/>
                </a:path>
              </a:pathLst>
            </a:custGeom>
            <a:solidFill>
              <a:srgbClr val="29B5E8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18" name="Google Shape;3823;p98"/>
            <p:cNvSpPr/>
            <p:nvPr/>
          </p:nvSpPr>
          <p:spPr>
            <a:xfrm>
              <a:off x="8095035" y="5630951"/>
              <a:ext cx="492588" cy="147814"/>
            </a:xfrm>
            <a:custGeom>
              <a:avLst/>
              <a:gdLst/>
              <a:ahLst/>
              <a:cxnLst/>
              <a:rect l="l" t="t" r="r" b="b"/>
              <a:pathLst>
                <a:path w="492588" h="147814" extrusionOk="0">
                  <a:moveTo>
                    <a:pt x="492290" y="126193"/>
                  </a:moveTo>
                  <a:cubicBezTo>
                    <a:pt x="491719" y="122192"/>
                    <a:pt x="491243" y="117335"/>
                    <a:pt x="490671" y="111905"/>
                  </a:cubicBezTo>
                  <a:cubicBezTo>
                    <a:pt x="488861" y="94665"/>
                    <a:pt x="486575" y="73139"/>
                    <a:pt x="480575" y="58661"/>
                  </a:cubicBezTo>
                  <a:cubicBezTo>
                    <a:pt x="477812" y="51898"/>
                    <a:pt x="470383" y="33896"/>
                    <a:pt x="354559" y="749"/>
                  </a:cubicBezTo>
                  <a:cubicBezTo>
                    <a:pt x="348272" y="-1061"/>
                    <a:pt x="341605" y="463"/>
                    <a:pt x="336747" y="4749"/>
                  </a:cubicBezTo>
                  <a:lnTo>
                    <a:pt x="246260" y="84283"/>
                  </a:lnTo>
                  <a:lnTo>
                    <a:pt x="155772" y="4749"/>
                  </a:lnTo>
                  <a:cubicBezTo>
                    <a:pt x="150914" y="463"/>
                    <a:pt x="144247" y="-1061"/>
                    <a:pt x="137960" y="749"/>
                  </a:cubicBezTo>
                  <a:cubicBezTo>
                    <a:pt x="22136" y="33800"/>
                    <a:pt x="14707" y="51803"/>
                    <a:pt x="11945" y="58565"/>
                  </a:cubicBezTo>
                  <a:cubicBezTo>
                    <a:pt x="6134" y="72567"/>
                    <a:pt x="4039" y="92284"/>
                    <a:pt x="2229" y="109524"/>
                  </a:cubicBezTo>
                  <a:cubicBezTo>
                    <a:pt x="1562" y="115620"/>
                    <a:pt x="991" y="121240"/>
                    <a:pt x="229" y="125907"/>
                  </a:cubicBezTo>
                  <a:cubicBezTo>
                    <a:pt x="-1390" y="136289"/>
                    <a:pt x="5753" y="146005"/>
                    <a:pt x="16136" y="147624"/>
                  </a:cubicBezTo>
                  <a:cubicBezTo>
                    <a:pt x="17088" y="147815"/>
                    <a:pt x="18136" y="147815"/>
                    <a:pt x="19088" y="147815"/>
                  </a:cubicBezTo>
                  <a:cubicBezTo>
                    <a:pt x="28328" y="147815"/>
                    <a:pt x="36424" y="141147"/>
                    <a:pt x="37853" y="131717"/>
                  </a:cubicBezTo>
                  <a:cubicBezTo>
                    <a:pt x="38615" y="126574"/>
                    <a:pt x="39377" y="120287"/>
                    <a:pt x="40043" y="113525"/>
                  </a:cubicBezTo>
                  <a:cubicBezTo>
                    <a:pt x="41472" y="100571"/>
                    <a:pt x="43091" y="84664"/>
                    <a:pt x="46330" y="75234"/>
                  </a:cubicBezTo>
                  <a:cubicBezTo>
                    <a:pt x="56617" y="67424"/>
                    <a:pt x="99384" y="51803"/>
                    <a:pt x="138532" y="40182"/>
                  </a:cubicBezTo>
                  <a:lnTo>
                    <a:pt x="232829" y="123050"/>
                  </a:lnTo>
                  <a:cubicBezTo>
                    <a:pt x="236544" y="126288"/>
                    <a:pt x="241211" y="127812"/>
                    <a:pt x="245783" y="127717"/>
                  </a:cubicBezTo>
                  <a:cubicBezTo>
                    <a:pt x="245974" y="127717"/>
                    <a:pt x="246164" y="127717"/>
                    <a:pt x="246450" y="127717"/>
                  </a:cubicBezTo>
                  <a:cubicBezTo>
                    <a:pt x="246545" y="127717"/>
                    <a:pt x="246641" y="127717"/>
                    <a:pt x="246736" y="127717"/>
                  </a:cubicBezTo>
                  <a:cubicBezTo>
                    <a:pt x="251403" y="127812"/>
                    <a:pt x="256070" y="126288"/>
                    <a:pt x="259785" y="123050"/>
                  </a:cubicBezTo>
                  <a:lnTo>
                    <a:pt x="354083" y="40182"/>
                  </a:lnTo>
                  <a:cubicBezTo>
                    <a:pt x="393230" y="51898"/>
                    <a:pt x="435998" y="67424"/>
                    <a:pt x="446285" y="75234"/>
                  </a:cubicBezTo>
                  <a:cubicBezTo>
                    <a:pt x="449618" y="85235"/>
                    <a:pt x="451523" y="102761"/>
                    <a:pt x="452857" y="115715"/>
                  </a:cubicBezTo>
                  <a:cubicBezTo>
                    <a:pt x="453524" y="121621"/>
                    <a:pt x="454095" y="127145"/>
                    <a:pt x="454667" y="131432"/>
                  </a:cubicBezTo>
                  <a:cubicBezTo>
                    <a:pt x="456000" y="140957"/>
                    <a:pt x="464192" y="147719"/>
                    <a:pt x="473526" y="147719"/>
                  </a:cubicBezTo>
                  <a:cubicBezTo>
                    <a:pt x="474479" y="147719"/>
                    <a:pt x="475336" y="147719"/>
                    <a:pt x="476288" y="147529"/>
                  </a:cubicBezTo>
                  <a:cubicBezTo>
                    <a:pt x="486671" y="146005"/>
                    <a:pt x="493910" y="136385"/>
                    <a:pt x="492386" y="125907"/>
                  </a:cubicBezTo>
                  <a:close/>
                </a:path>
              </a:pathLst>
            </a:custGeom>
            <a:solidFill>
              <a:srgbClr val="29B5E8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9019" name="TextBox 9018"/>
          <p:cNvSpPr txBox="1"/>
          <p:nvPr/>
        </p:nvSpPr>
        <p:spPr>
          <a:xfrm>
            <a:off x="6254496" y="1901952"/>
            <a:ext cx="234086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11567F"/>
                </a:solidFill>
                <a:latin typeface="Arial"/>
              </a:rPr>
              <a:t>Relationship Manager</a:t>
            </a:r>
          </a:p>
        </p:txBody>
      </p:sp>
      <p:sp>
        <p:nvSpPr>
          <p:cNvPr id="9020" name="TextBox 9019"/>
          <p:cNvSpPr txBox="1"/>
          <p:nvPr/>
        </p:nvSpPr>
        <p:spPr>
          <a:xfrm>
            <a:off x="6254496" y="2167128"/>
            <a:ext cx="2340864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5B5B5B"/>
                </a:solidFill>
                <a:latin typeface="Arial"/>
              </a:rPr>
              <a:t>A ranked worklist and the next best action for each customer</a:t>
            </a:r>
          </a:p>
        </p:txBody>
      </p:sp>
      <p:grpSp>
        <p:nvGrpSpPr>
          <p:cNvPr id="9019" name="Google Shape;3813;p98"/>
          <p:cNvGrpSpPr/>
          <p:nvPr/>
        </p:nvGrpSpPr>
        <p:grpSpPr>
          <a:xfrm>
            <a:off x="5815584" y="2738957"/>
            <a:ext cx="329184" cy="227941"/>
            <a:chOff x="6123041" y="3332722"/>
            <a:chExt cx="519225" cy="359535"/>
          </a:xfrm>
        </p:grpSpPr>
        <p:sp>
          <p:nvSpPr>
            <p:cNvPr id="9020" name="Google Shape;3814;p98"/>
            <p:cNvSpPr/>
            <p:nvPr/>
          </p:nvSpPr>
          <p:spPr>
            <a:xfrm>
              <a:off x="6403887" y="3342023"/>
              <a:ext cx="168816" cy="250316"/>
            </a:xfrm>
            <a:custGeom>
              <a:avLst/>
              <a:gdLst/>
              <a:ahLst/>
              <a:cxnLst/>
              <a:rect l="l" t="t" r="r" b="b"/>
              <a:pathLst>
                <a:path w="168816" h="250316" extrusionOk="0">
                  <a:moveTo>
                    <a:pt x="7368" y="61436"/>
                  </a:moveTo>
                  <a:cubicBezTo>
                    <a:pt x="13464" y="64008"/>
                    <a:pt x="20417" y="61055"/>
                    <a:pt x="22893" y="54959"/>
                  </a:cubicBezTo>
                  <a:cubicBezTo>
                    <a:pt x="35562" y="24003"/>
                    <a:pt x="60517" y="24003"/>
                    <a:pt x="74233" y="24003"/>
                  </a:cubicBezTo>
                  <a:lnTo>
                    <a:pt x="76519" y="24003"/>
                  </a:lnTo>
                  <a:cubicBezTo>
                    <a:pt x="85854" y="24003"/>
                    <a:pt x="103284" y="24003"/>
                    <a:pt x="116334" y="36957"/>
                  </a:cubicBezTo>
                  <a:cubicBezTo>
                    <a:pt x="129192" y="49816"/>
                    <a:pt x="135765" y="72676"/>
                    <a:pt x="135765" y="104966"/>
                  </a:cubicBezTo>
                  <a:cubicBezTo>
                    <a:pt x="135765" y="108109"/>
                    <a:pt x="137003" y="111157"/>
                    <a:pt x="139289" y="113348"/>
                  </a:cubicBezTo>
                  <a:cubicBezTo>
                    <a:pt x="143004" y="116967"/>
                    <a:pt x="145004" y="121920"/>
                    <a:pt x="145004" y="127064"/>
                  </a:cubicBezTo>
                  <a:lnTo>
                    <a:pt x="145004" y="133826"/>
                  </a:lnTo>
                  <a:cubicBezTo>
                    <a:pt x="145004" y="138970"/>
                    <a:pt x="143004" y="143923"/>
                    <a:pt x="139289" y="147542"/>
                  </a:cubicBezTo>
                  <a:lnTo>
                    <a:pt x="136146" y="150686"/>
                  </a:lnTo>
                  <a:cubicBezTo>
                    <a:pt x="133955" y="152876"/>
                    <a:pt x="132717" y="155924"/>
                    <a:pt x="132717" y="159068"/>
                  </a:cubicBezTo>
                  <a:cubicBezTo>
                    <a:pt x="132717" y="173069"/>
                    <a:pt x="126335" y="186404"/>
                    <a:pt x="115667" y="194786"/>
                  </a:cubicBezTo>
                  <a:cubicBezTo>
                    <a:pt x="111381" y="198120"/>
                    <a:pt x="106999" y="202502"/>
                    <a:pt x="102427" y="206978"/>
                  </a:cubicBezTo>
                  <a:cubicBezTo>
                    <a:pt x="94140" y="215265"/>
                    <a:pt x="82710" y="226505"/>
                    <a:pt x="75471" y="226505"/>
                  </a:cubicBezTo>
                  <a:cubicBezTo>
                    <a:pt x="68232" y="226505"/>
                    <a:pt x="56802" y="215170"/>
                    <a:pt x="48516" y="206978"/>
                  </a:cubicBezTo>
                  <a:cubicBezTo>
                    <a:pt x="43944" y="202406"/>
                    <a:pt x="39562" y="198120"/>
                    <a:pt x="35276" y="194786"/>
                  </a:cubicBezTo>
                  <a:cubicBezTo>
                    <a:pt x="30132" y="190691"/>
                    <a:pt x="22608" y="191643"/>
                    <a:pt x="18607" y="196787"/>
                  </a:cubicBezTo>
                  <a:cubicBezTo>
                    <a:pt x="14511" y="201930"/>
                    <a:pt x="15464" y="209455"/>
                    <a:pt x="20607" y="213455"/>
                  </a:cubicBezTo>
                  <a:cubicBezTo>
                    <a:pt x="23846" y="215932"/>
                    <a:pt x="27656" y="219837"/>
                    <a:pt x="31752" y="223838"/>
                  </a:cubicBezTo>
                  <a:cubicBezTo>
                    <a:pt x="44229" y="236220"/>
                    <a:pt x="58422" y="250317"/>
                    <a:pt x="75471" y="250317"/>
                  </a:cubicBezTo>
                  <a:cubicBezTo>
                    <a:pt x="92521" y="250317"/>
                    <a:pt x="106713" y="236220"/>
                    <a:pt x="119191" y="223838"/>
                  </a:cubicBezTo>
                  <a:cubicBezTo>
                    <a:pt x="123287" y="219742"/>
                    <a:pt x="127097" y="215932"/>
                    <a:pt x="130335" y="213455"/>
                  </a:cubicBezTo>
                  <a:cubicBezTo>
                    <a:pt x="145385" y="201644"/>
                    <a:pt x="154910" y="183452"/>
                    <a:pt x="156339" y="164116"/>
                  </a:cubicBezTo>
                  <a:cubicBezTo>
                    <a:pt x="164435" y="156020"/>
                    <a:pt x="168816" y="145161"/>
                    <a:pt x="168816" y="133731"/>
                  </a:cubicBezTo>
                  <a:lnTo>
                    <a:pt x="168816" y="126968"/>
                  </a:lnTo>
                  <a:cubicBezTo>
                    <a:pt x="168816" y="117158"/>
                    <a:pt x="165578" y="107823"/>
                    <a:pt x="159577" y="100298"/>
                  </a:cubicBezTo>
                  <a:cubicBezTo>
                    <a:pt x="158910" y="63722"/>
                    <a:pt x="150052" y="36767"/>
                    <a:pt x="133193" y="19907"/>
                  </a:cubicBezTo>
                  <a:cubicBezTo>
                    <a:pt x="113190" y="-95"/>
                    <a:pt x="87378" y="95"/>
                    <a:pt x="76519" y="0"/>
                  </a:cubicBezTo>
                  <a:lnTo>
                    <a:pt x="74328" y="0"/>
                  </a:lnTo>
                  <a:cubicBezTo>
                    <a:pt x="59565" y="0"/>
                    <a:pt x="19655" y="-95"/>
                    <a:pt x="891" y="45720"/>
                  </a:cubicBezTo>
                  <a:cubicBezTo>
                    <a:pt x="-1586" y="51816"/>
                    <a:pt x="1272" y="58769"/>
                    <a:pt x="7368" y="61246"/>
                  </a:cubicBezTo>
                  <a:close/>
                </a:path>
              </a:pathLst>
            </a:custGeom>
            <a:solidFill>
              <a:srgbClr val="29B5E8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21" name="Google Shape;3815;p98"/>
            <p:cNvSpPr/>
            <p:nvPr/>
          </p:nvSpPr>
          <p:spPr>
            <a:xfrm>
              <a:off x="6419818" y="3384578"/>
              <a:ext cx="118309" cy="63744"/>
            </a:xfrm>
            <a:custGeom>
              <a:avLst/>
              <a:gdLst/>
              <a:ahLst/>
              <a:cxnLst/>
              <a:rect l="l" t="t" r="r" b="b"/>
              <a:pathLst>
                <a:path w="118309" h="63744" extrusionOk="0">
                  <a:moveTo>
                    <a:pt x="7153" y="40980"/>
                  </a:moveTo>
                  <a:cubicBezTo>
                    <a:pt x="1152" y="43647"/>
                    <a:pt x="-1610" y="50600"/>
                    <a:pt x="962" y="56601"/>
                  </a:cubicBezTo>
                  <a:cubicBezTo>
                    <a:pt x="2867" y="61077"/>
                    <a:pt x="7248" y="63744"/>
                    <a:pt x="11915" y="63744"/>
                  </a:cubicBezTo>
                  <a:cubicBezTo>
                    <a:pt x="13535" y="63744"/>
                    <a:pt x="15154" y="63459"/>
                    <a:pt x="16678" y="62792"/>
                  </a:cubicBezTo>
                  <a:cubicBezTo>
                    <a:pt x="30775" y="56696"/>
                    <a:pt x="38395" y="46409"/>
                    <a:pt x="42110" y="36122"/>
                  </a:cubicBezTo>
                  <a:cubicBezTo>
                    <a:pt x="56873" y="47266"/>
                    <a:pt x="79543" y="59839"/>
                    <a:pt x="106403" y="59839"/>
                  </a:cubicBezTo>
                  <a:cubicBezTo>
                    <a:pt x="112976" y="59839"/>
                    <a:pt x="118310" y="54505"/>
                    <a:pt x="118310" y="47933"/>
                  </a:cubicBezTo>
                  <a:cubicBezTo>
                    <a:pt x="118310" y="41361"/>
                    <a:pt x="112976" y="36027"/>
                    <a:pt x="106403" y="36027"/>
                  </a:cubicBezTo>
                  <a:cubicBezTo>
                    <a:pt x="70304" y="36027"/>
                    <a:pt x="42014" y="4308"/>
                    <a:pt x="41729" y="4023"/>
                  </a:cubicBezTo>
                  <a:cubicBezTo>
                    <a:pt x="38204" y="22"/>
                    <a:pt x="32489" y="-1121"/>
                    <a:pt x="27632" y="1165"/>
                  </a:cubicBezTo>
                  <a:cubicBezTo>
                    <a:pt x="22774" y="3451"/>
                    <a:pt x="20107" y="8690"/>
                    <a:pt x="21059" y="14024"/>
                  </a:cubicBezTo>
                  <a:cubicBezTo>
                    <a:pt x="21440" y="16024"/>
                    <a:pt x="23917" y="33836"/>
                    <a:pt x="7153" y="41075"/>
                  </a:cubicBezTo>
                  <a:close/>
                </a:path>
              </a:pathLst>
            </a:custGeom>
            <a:solidFill>
              <a:srgbClr val="29B5E8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22" name="Google Shape;3816;p98"/>
            <p:cNvSpPr/>
            <p:nvPr/>
          </p:nvSpPr>
          <p:spPr>
            <a:xfrm>
              <a:off x="6469310" y="3596151"/>
              <a:ext cx="172956" cy="96106"/>
            </a:xfrm>
            <a:custGeom>
              <a:avLst/>
              <a:gdLst/>
              <a:ahLst/>
              <a:cxnLst/>
              <a:rect l="l" t="t" r="r" b="b"/>
              <a:pathLst>
                <a:path w="172956" h="96106" extrusionOk="0">
                  <a:moveTo>
                    <a:pt x="171592" y="73056"/>
                  </a:moveTo>
                  <a:cubicBezTo>
                    <a:pt x="170354" y="61721"/>
                    <a:pt x="168925" y="47624"/>
                    <a:pt x="165020" y="38195"/>
                  </a:cubicBezTo>
                  <a:cubicBezTo>
                    <a:pt x="163210" y="33813"/>
                    <a:pt x="158448" y="22193"/>
                    <a:pt x="82438" y="476"/>
                  </a:cubicBezTo>
                  <a:cubicBezTo>
                    <a:pt x="78533" y="-667"/>
                    <a:pt x="74342" y="285"/>
                    <a:pt x="71294" y="2952"/>
                  </a:cubicBezTo>
                  <a:lnTo>
                    <a:pt x="4048" y="62102"/>
                  </a:lnTo>
                  <a:cubicBezTo>
                    <a:pt x="-905" y="66484"/>
                    <a:pt x="-1382" y="74009"/>
                    <a:pt x="3000" y="78866"/>
                  </a:cubicBezTo>
                  <a:cubicBezTo>
                    <a:pt x="7381" y="83724"/>
                    <a:pt x="14811" y="84296"/>
                    <a:pt x="19764" y="79914"/>
                  </a:cubicBezTo>
                  <a:lnTo>
                    <a:pt x="82153" y="25145"/>
                  </a:lnTo>
                  <a:cubicBezTo>
                    <a:pt x="108251" y="32956"/>
                    <a:pt x="137017" y="43433"/>
                    <a:pt x="143494" y="48577"/>
                  </a:cubicBezTo>
                  <a:cubicBezTo>
                    <a:pt x="145780" y="55244"/>
                    <a:pt x="147018" y="66865"/>
                    <a:pt x="147970" y="75533"/>
                  </a:cubicBezTo>
                  <a:cubicBezTo>
                    <a:pt x="148351" y="79438"/>
                    <a:pt x="148732" y="83057"/>
                    <a:pt x="149209" y="85915"/>
                  </a:cubicBezTo>
                  <a:cubicBezTo>
                    <a:pt x="150066" y="91820"/>
                    <a:pt x="155114" y="96107"/>
                    <a:pt x="161020" y="96107"/>
                  </a:cubicBezTo>
                  <a:cubicBezTo>
                    <a:pt x="161591" y="96107"/>
                    <a:pt x="162163" y="96107"/>
                    <a:pt x="162734" y="96011"/>
                  </a:cubicBezTo>
                  <a:cubicBezTo>
                    <a:pt x="169211" y="95059"/>
                    <a:pt x="173783" y="89058"/>
                    <a:pt x="172831" y="82486"/>
                  </a:cubicBezTo>
                  <a:cubicBezTo>
                    <a:pt x="172450" y="79914"/>
                    <a:pt x="172069" y="76580"/>
                    <a:pt x="171688" y="73056"/>
                  </a:cubicBezTo>
                  <a:close/>
                </a:path>
              </a:pathLst>
            </a:custGeom>
            <a:solidFill>
              <a:srgbClr val="29B5E8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23" name="Google Shape;3817;p98"/>
            <p:cNvSpPr/>
            <p:nvPr/>
          </p:nvSpPr>
          <p:spPr>
            <a:xfrm>
              <a:off x="6201673" y="3414791"/>
              <a:ext cx="165380" cy="177739"/>
            </a:xfrm>
            <a:custGeom>
              <a:avLst/>
              <a:gdLst/>
              <a:ahLst/>
              <a:cxnLst/>
              <a:rect l="l" t="t" r="r" b="b"/>
              <a:pathLst>
                <a:path w="165380" h="177739" extrusionOk="0">
                  <a:moveTo>
                    <a:pt x="86233" y="152974"/>
                  </a:moveTo>
                  <a:cubicBezTo>
                    <a:pt x="82138" y="154308"/>
                    <a:pt x="77756" y="154117"/>
                    <a:pt x="73756" y="152498"/>
                  </a:cubicBezTo>
                  <a:cubicBezTo>
                    <a:pt x="60135" y="146688"/>
                    <a:pt x="28131" y="126971"/>
                    <a:pt x="23749" y="68869"/>
                  </a:cubicBezTo>
                  <a:cubicBezTo>
                    <a:pt x="23273" y="62296"/>
                    <a:pt x="17558" y="57248"/>
                    <a:pt x="10986" y="57915"/>
                  </a:cubicBezTo>
                  <a:cubicBezTo>
                    <a:pt x="4414" y="58391"/>
                    <a:pt x="-444" y="64106"/>
                    <a:pt x="32" y="70678"/>
                  </a:cubicBezTo>
                  <a:cubicBezTo>
                    <a:pt x="5366" y="141830"/>
                    <a:pt x="46895" y="166881"/>
                    <a:pt x="64516" y="174406"/>
                  </a:cubicBezTo>
                  <a:cubicBezTo>
                    <a:pt x="69660" y="176596"/>
                    <a:pt x="75184" y="177739"/>
                    <a:pt x="80709" y="177739"/>
                  </a:cubicBezTo>
                  <a:cubicBezTo>
                    <a:pt x="85090" y="177739"/>
                    <a:pt x="89472" y="177073"/>
                    <a:pt x="93758" y="175644"/>
                  </a:cubicBezTo>
                  <a:cubicBezTo>
                    <a:pt x="110617" y="170024"/>
                    <a:pt x="151384" y="150117"/>
                    <a:pt x="165100" y="86109"/>
                  </a:cubicBezTo>
                  <a:cubicBezTo>
                    <a:pt x="166529" y="79727"/>
                    <a:pt x="162338" y="73345"/>
                    <a:pt x="155956" y="72012"/>
                  </a:cubicBezTo>
                  <a:cubicBezTo>
                    <a:pt x="154051" y="71631"/>
                    <a:pt x="152146" y="71821"/>
                    <a:pt x="150432" y="72298"/>
                  </a:cubicBezTo>
                  <a:cubicBezTo>
                    <a:pt x="151099" y="71155"/>
                    <a:pt x="151670" y="69916"/>
                    <a:pt x="151956" y="68488"/>
                  </a:cubicBezTo>
                  <a:cubicBezTo>
                    <a:pt x="153289" y="62011"/>
                    <a:pt x="149194" y="55724"/>
                    <a:pt x="142717" y="54391"/>
                  </a:cubicBezTo>
                  <a:cubicBezTo>
                    <a:pt x="93377" y="44104"/>
                    <a:pt x="74422" y="8004"/>
                    <a:pt x="73660" y="6480"/>
                  </a:cubicBezTo>
                  <a:cubicBezTo>
                    <a:pt x="71565" y="2194"/>
                    <a:pt x="67088" y="-92"/>
                    <a:pt x="62230" y="3"/>
                  </a:cubicBezTo>
                  <a:cubicBezTo>
                    <a:pt x="57468" y="289"/>
                    <a:pt x="53277" y="3432"/>
                    <a:pt x="51753" y="8004"/>
                  </a:cubicBezTo>
                  <a:cubicBezTo>
                    <a:pt x="51467" y="8671"/>
                    <a:pt x="45371" y="25435"/>
                    <a:pt x="21844" y="35817"/>
                  </a:cubicBezTo>
                  <a:cubicBezTo>
                    <a:pt x="15844" y="38484"/>
                    <a:pt x="13081" y="45532"/>
                    <a:pt x="15748" y="51533"/>
                  </a:cubicBezTo>
                  <a:cubicBezTo>
                    <a:pt x="18415" y="57534"/>
                    <a:pt x="25464" y="60296"/>
                    <a:pt x="31465" y="57629"/>
                  </a:cubicBezTo>
                  <a:cubicBezTo>
                    <a:pt x="46895" y="50866"/>
                    <a:pt x="57087" y="41722"/>
                    <a:pt x="63659" y="33626"/>
                  </a:cubicBezTo>
                  <a:cubicBezTo>
                    <a:pt x="76137" y="48676"/>
                    <a:pt x="99664" y="69726"/>
                    <a:pt x="137954" y="77727"/>
                  </a:cubicBezTo>
                  <a:cubicBezTo>
                    <a:pt x="138811" y="77917"/>
                    <a:pt x="139573" y="78013"/>
                    <a:pt x="140431" y="78013"/>
                  </a:cubicBezTo>
                  <a:cubicBezTo>
                    <a:pt x="141478" y="78013"/>
                    <a:pt x="142526" y="77727"/>
                    <a:pt x="143574" y="77441"/>
                  </a:cubicBezTo>
                  <a:cubicBezTo>
                    <a:pt x="142907" y="78584"/>
                    <a:pt x="142240" y="79822"/>
                    <a:pt x="141955" y="81156"/>
                  </a:cubicBezTo>
                  <a:cubicBezTo>
                    <a:pt x="130810" y="133067"/>
                    <a:pt x="99378" y="148688"/>
                    <a:pt x="86424" y="153070"/>
                  </a:cubicBezTo>
                  <a:close/>
                </a:path>
              </a:pathLst>
            </a:custGeom>
            <a:solidFill>
              <a:srgbClr val="29B5E8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24" name="Google Shape;3818;p98"/>
            <p:cNvSpPr/>
            <p:nvPr/>
          </p:nvSpPr>
          <p:spPr>
            <a:xfrm>
              <a:off x="6123041" y="3596056"/>
              <a:ext cx="323026" cy="96011"/>
            </a:xfrm>
            <a:custGeom>
              <a:avLst/>
              <a:gdLst/>
              <a:ahLst/>
              <a:cxnLst/>
              <a:rect l="l" t="t" r="r" b="b"/>
              <a:pathLst>
                <a:path w="323026" h="96011" extrusionOk="0">
                  <a:moveTo>
                    <a:pt x="315265" y="38195"/>
                  </a:moveTo>
                  <a:cubicBezTo>
                    <a:pt x="313455" y="33813"/>
                    <a:pt x="308693" y="22193"/>
                    <a:pt x="232683" y="476"/>
                  </a:cubicBezTo>
                  <a:cubicBezTo>
                    <a:pt x="228778" y="-667"/>
                    <a:pt x="224587" y="285"/>
                    <a:pt x="221539" y="2952"/>
                  </a:cubicBezTo>
                  <a:lnTo>
                    <a:pt x="161532" y="55721"/>
                  </a:lnTo>
                  <a:lnTo>
                    <a:pt x="101524" y="2952"/>
                  </a:lnTo>
                  <a:cubicBezTo>
                    <a:pt x="98476" y="285"/>
                    <a:pt x="94285" y="-667"/>
                    <a:pt x="90380" y="476"/>
                  </a:cubicBezTo>
                  <a:cubicBezTo>
                    <a:pt x="14370" y="22193"/>
                    <a:pt x="9608" y="33813"/>
                    <a:pt x="7798" y="38195"/>
                  </a:cubicBezTo>
                  <a:cubicBezTo>
                    <a:pt x="3702" y="48291"/>
                    <a:pt x="2178" y="62293"/>
                    <a:pt x="940" y="74675"/>
                  </a:cubicBezTo>
                  <a:cubicBezTo>
                    <a:pt x="654" y="77533"/>
                    <a:pt x="369" y="80295"/>
                    <a:pt x="83" y="82772"/>
                  </a:cubicBezTo>
                  <a:cubicBezTo>
                    <a:pt x="-679" y="89344"/>
                    <a:pt x="3893" y="95249"/>
                    <a:pt x="10465" y="96011"/>
                  </a:cubicBezTo>
                  <a:cubicBezTo>
                    <a:pt x="10941" y="96011"/>
                    <a:pt x="11418" y="96011"/>
                    <a:pt x="11894" y="96011"/>
                  </a:cubicBezTo>
                  <a:cubicBezTo>
                    <a:pt x="17799" y="96011"/>
                    <a:pt x="22943" y="91630"/>
                    <a:pt x="23705" y="85534"/>
                  </a:cubicBezTo>
                  <a:cubicBezTo>
                    <a:pt x="23991" y="82962"/>
                    <a:pt x="24276" y="80009"/>
                    <a:pt x="24657" y="76961"/>
                  </a:cubicBezTo>
                  <a:cubicBezTo>
                    <a:pt x="25610" y="67341"/>
                    <a:pt x="26848" y="55530"/>
                    <a:pt x="29325" y="48482"/>
                  </a:cubicBezTo>
                  <a:cubicBezTo>
                    <a:pt x="35897" y="43338"/>
                    <a:pt x="64567" y="32861"/>
                    <a:pt x="90666" y="25050"/>
                  </a:cubicBezTo>
                  <a:lnTo>
                    <a:pt x="153054" y="79819"/>
                  </a:lnTo>
                  <a:cubicBezTo>
                    <a:pt x="155340" y="81819"/>
                    <a:pt x="158198" y="82676"/>
                    <a:pt x="161055" y="82676"/>
                  </a:cubicBezTo>
                  <a:cubicBezTo>
                    <a:pt x="161246" y="82676"/>
                    <a:pt x="161341" y="82676"/>
                    <a:pt x="161532" y="82676"/>
                  </a:cubicBezTo>
                  <a:cubicBezTo>
                    <a:pt x="161722" y="82676"/>
                    <a:pt x="161913" y="82676"/>
                    <a:pt x="162103" y="82676"/>
                  </a:cubicBezTo>
                  <a:cubicBezTo>
                    <a:pt x="164865" y="82676"/>
                    <a:pt x="167723" y="81819"/>
                    <a:pt x="170009" y="79819"/>
                  </a:cubicBezTo>
                  <a:lnTo>
                    <a:pt x="232398" y="25050"/>
                  </a:lnTo>
                  <a:cubicBezTo>
                    <a:pt x="258591" y="32861"/>
                    <a:pt x="287262" y="43338"/>
                    <a:pt x="293739" y="48482"/>
                  </a:cubicBezTo>
                  <a:cubicBezTo>
                    <a:pt x="296691" y="56864"/>
                    <a:pt x="298025" y="71151"/>
                    <a:pt x="298977" y="81724"/>
                  </a:cubicBezTo>
                  <a:lnTo>
                    <a:pt x="299263" y="85153"/>
                  </a:lnTo>
                  <a:cubicBezTo>
                    <a:pt x="299835" y="91344"/>
                    <a:pt x="305073" y="95916"/>
                    <a:pt x="311074" y="95916"/>
                  </a:cubicBezTo>
                  <a:cubicBezTo>
                    <a:pt x="311455" y="95916"/>
                    <a:pt x="311836" y="95916"/>
                    <a:pt x="312217" y="95916"/>
                  </a:cubicBezTo>
                  <a:cubicBezTo>
                    <a:pt x="318789" y="95345"/>
                    <a:pt x="323552" y="89534"/>
                    <a:pt x="322980" y="82962"/>
                  </a:cubicBezTo>
                  <a:lnTo>
                    <a:pt x="322695" y="79533"/>
                  </a:lnTo>
                  <a:cubicBezTo>
                    <a:pt x="321456" y="66103"/>
                    <a:pt x="319932" y="49434"/>
                    <a:pt x="315265" y="38004"/>
                  </a:cubicBezTo>
                  <a:close/>
                </a:path>
              </a:pathLst>
            </a:custGeom>
            <a:solidFill>
              <a:srgbClr val="29B5E8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25" name="Google Shape;3819;p98"/>
            <p:cNvSpPr/>
            <p:nvPr/>
          </p:nvSpPr>
          <p:spPr>
            <a:xfrm>
              <a:off x="6170712" y="3332722"/>
              <a:ext cx="227379" cy="256284"/>
            </a:xfrm>
            <a:custGeom>
              <a:avLst/>
              <a:gdLst/>
              <a:ahLst/>
              <a:cxnLst/>
              <a:rect l="l" t="t" r="r" b="b"/>
              <a:pathLst>
                <a:path w="227379" h="256284" extrusionOk="0">
                  <a:moveTo>
                    <a:pt x="8132" y="234948"/>
                  </a:moveTo>
                  <a:cubicBezTo>
                    <a:pt x="20801" y="248759"/>
                    <a:pt x="41375" y="252188"/>
                    <a:pt x="43756" y="252569"/>
                  </a:cubicBezTo>
                  <a:cubicBezTo>
                    <a:pt x="50328" y="253522"/>
                    <a:pt x="56234" y="249045"/>
                    <a:pt x="57281" y="242568"/>
                  </a:cubicBezTo>
                  <a:cubicBezTo>
                    <a:pt x="58234" y="236091"/>
                    <a:pt x="53852" y="229995"/>
                    <a:pt x="47375" y="229043"/>
                  </a:cubicBezTo>
                  <a:cubicBezTo>
                    <a:pt x="43375" y="228376"/>
                    <a:pt x="31659" y="225328"/>
                    <a:pt x="25849" y="219041"/>
                  </a:cubicBezTo>
                  <a:cubicBezTo>
                    <a:pt x="22706" y="214374"/>
                    <a:pt x="23372" y="191895"/>
                    <a:pt x="27182" y="171797"/>
                  </a:cubicBezTo>
                  <a:cubicBezTo>
                    <a:pt x="27468" y="170273"/>
                    <a:pt x="27468" y="168749"/>
                    <a:pt x="27182" y="167321"/>
                  </a:cubicBezTo>
                  <a:cubicBezTo>
                    <a:pt x="26992" y="166368"/>
                    <a:pt x="9085" y="71499"/>
                    <a:pt x="61758" y="34923"/>
                  </a:cubicBezTo>
                  <a:cubicBezTo>
                    <a:pt x="91952" y="13968"/>
                    <a:pt x="109097" y="28446"/>
                    <a:pt x="110812" y="30065"/>
                  </a:cubicBezTo>
                  <a:cubicBezTo>
                    <a:pt x="114146" y="33399"/>
                    <a:pt x="119289" y="34447"/>
                    <a:pt x="123575" y="32637"/>
                  </a:cubicBezTo>
                  <a:cubicBezTo>
                    <a:pt x="128052" y="30923"/>
                    <a:pt x="167486" y="16826"/>
                    <a:pt x="187393" y="62165"/>
                  </a:cubicBezTo>
                  <a:cubicBezTo>
                    <a:pt x="194346" y="78167"/>
                    <a:pt x="200156" y="136460"/>
                    <a:pt x="202347" y="172274"/>
                  </a:cubicBezTo>
                  <a:cubicBezTo>
                    <a:pt x="204538" y="192562"/>
                    <a:pt x="203300" y="215041"/>
                    <a:pt x="200061" y="219232"/>
                  </a:cubicBezTo>
                  <a:cubicBezTo>
                    <a:pt x="192727" y="225995"/>
                    <a:pt x="177106" y="231424"/>
                    <a:pt x="171677" y="232948"/>
                  </a:cubicBezTo>
                  <a:cubicBezTo>
                    <a:pt x="165390" y="234758"/>
                    <a:pt x="161675" y="241330"/>
                    <a:pt x="163390" y="247616"/>
                  </a:cubicBezTo>
                  <a:cubicBezTo>
                    <a:pt x="164819" y="252855"/>
                    <a:pt x="169676" y="256284"/>
                    <a:pt x="174820" y="256284"/>
                  </a:cubicBezTo>
                  <a:cubicBezTo>
                    <a:pt x="175868" y="256284"/>
                    <a:pt x="176915" y="256189"/>
                    <a:pt x="178058" y="255808"/>
                  </a:cubicBezTo>
                  <a:cubicBezTo>
                    <a:pt x="180630" y="255141"/>
                    <a:pt x="203300" y="248569"/>
                    <a:pt x="216158" y="236663"/>
                  </a:cubicBezTo>
                  <a:cubicBezTo>
                    <a:pt x="230160" y="223709"/>
                    <a:pt x="227779" y="185513"/>
                    <a:pt x="226064" y="170178"/>
                  </a:cubicBezTo>
                  <a:cubicBezTo>
                    <a:pt x="225493" y="160748"/>
                    <a:pt x="220159" y="77405"/>
                    <a:pt x="209205" y="52544"/>
                  </a:cubicBezTo>
                  <a:cubicBezTo>
                    <a:pt x="187679" y="3395"/>
                    <a:pt x="145578" y="1395"/>
                    <a:pt x="121385" y="8253"/>
                  </a:cubicBezTo>
                  <a:cubicBezTo>
                    <a:pt x="107383" y="-796"/>
                    <a:pt x="80427" y="-7082"/>
                    <a:pt x="48137" y="15397"/>
                  </a:cubicBezTo>
                  <a:cubicBezTo>
                    <a:pt x="-12727" y="57783"/>
                    <a:pt x="512" y="153033"/>
                    <a:pt x="3370" y="169607"/>
                  </a:cubicBezTo>
                  <a:cubicBezTo>
                    <a:pt x="322" y="186371"/>
                    <a:pt x="-4155" y="221613"/>
                    <a:pt x="8132" y="235043"/>
                  </a:cubicBezTo>
                  <a:close/>
                </a:path>
              </a:pathLst>
            </a:custGeom>
            <a:solidFill>
              <a:srgbClr val="29B5E8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9026" name="TextBox 9025"/>
          <p:cNvSpPr txBox="1"/>
          <p:nvPr/>
        </p:nvSpPr>
        <p:spPr>
          <a:xfrm>
            <a:off x="6254496" y="2688336"/>
            <a:ext cx="234086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11567F"/>
                </a:solidFill>
                <a:latin typeface="Arial"/>
              </a:rPr>
              <a:t>Team Lead</a:t>
            </a:r>
          </a:p>
        </p:txBody>
      </p:sp>
      <p:sp>
        <p:nvSpPr>
          <p:cNvPr id="9027" name="TextBox 9026"/>
          <p:cNvSpPr txBox="1"/>
          <p:nvPr/>
        </p:nvSpPr>
        <p:spPr>
          <a:xfrm>
            <a:off x="6254496" y="2953512"/>
            <a:ext cx="2340864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5B5B5B"/>
                </a:solidFill>
                <a:latin typeface="Arial"/>
              </a:rPr>
              <a:t>Approves larger offers for the team</a:t>
            </a:r>
          </a:p>
        </p:txBody>
      </p:sp>
      <p:grpSp>
        <p:nvGrpSpPr>
          <p:cNvPr id="9026" name="Google Shape;4196;p99"/>
          <p:cNvGrpSpPr/>
          <p:nvPr/>
        </p:nvGrpSpPr>
        <p:grpSpPr>
          <a:xfrm>
            <a:off x="5815584" y="3475019"/>
            <a:ext cx="329184" cy="328585"/>
            <a:chOff x="2622773" y="1041445"/>
            <a:chExt cx="523398" cy="522446"/>
          </a:xfrm>
        </p:grpSpPr>
        <p:sp>
          <p:nvSpPr>
            <p:cNvPr id="9027" name="Google Shape;4197;p99"/>
            <p:cNvSpPr/>
            <p:nvPr/>
          </p:nvSpPr>
          <p:spPr>
            <a:xfrm>
              <a:off x="2727812" y="1256972"/>
              <a:ext cx="408252" cy="197477"/>
            </a:xfrm>
            <a:custGeom>
              <a:avLst/>
              <a:gdLst/>
              <a:ahLst/>
              <a:cxnLst/>
              <a:rect l="l" t="t" r="r" b="b"/>
              <a:pathLst>
                <a:path w="408252" h="197477" extrusionOk="0">
                  <a:moveTo>
                    <a:pt x="387881" y="3548"/>
                  </a:moveTo>
                  <a:lnTo>
                    <a:pt x="243577" y="150138"/>
                  </a:lnTo>
                  <a:lnTo>
                    <a:pt x="122514" y="109181"/>
                  </a:lnTo>
                  <a:cubicBezTo>
                    <a:pt x="119180" y="108038"/>
                    <a:pt x="115561" y="108419"/>
                    <a:pt x="112513" y="110324"/>
                  </a:cubicBezTo>
                  <a:lnTo>
                    <a:pt x="5738" y="175379"/>
                  </a:lnTo>
                  <a:cubicBezTo>
                    <a:pt x="118" y="178808"/>
                    <a:pt x="-1692" y="186143"/>
                    <a:pt x="1737" y="191762"/>
                  </a:cubicBezTo>
                  <a:cubicBezTo>
                    <a:pt x="4023" y="195477"/>
                    <a:pt x="7928" y="197477"/>
                    <a:pt x="11929" y="197477"/>
                  </a:cubicBezTo>
                  <a:cubicBezTo>
                    <a:pt x="14024" y="197477"/>
                    <a:pt x="16215" y="196906"/>
                    <a:pt x="18120" y="195763"/>
                  </a:cubicBezTo>
                  <a:lnTo>
                    <a:pt x="120133" y="133565"/>
                  </a:lnTo>
                  <a:lnTo>
                    <a:pt x="243005" y="175189"/>
                  </a:lnTo>
                  <a:cubicBezTo>
                    <a:pt x="247292" y="176713"/>
                    <a:pt x="252149" y="175570"/>
                    <a:pt x="255293" y="172236"/>
                  </a:cubicBezTo>
                  <a:lnTo>
                    <a:pt x="404835" y="20312"/>
                  </a:lnTo>
                  <a:cubicBezTo>
                    <a:pt x="409407" y="15645"/>
                    <a:pt x="409407" y="8120"/>
                    <a:pt x="404740" y="3453"/>
                  </a:cubicBezTo>
                  <a:cubicBezTo>
                    <a:pt x="400073" y="-1214"/>
                    <a:pt x="392548" y="-1119"/>
                    <a:pt x="387881" y="3548"/>
                  </a:cubicBezTo>
                  <a:close/>
                </a:path>
              </a:pathLst>
            </a:custGeom>
            <a:solidFill>
              <a:srgbClr val="29B5E8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28" name="Google Shape;4198;p99"/>
            <p:cNvSpPr/>
            <p:nvPr/>
          </p:nvSpPr>
          <p:spPr>
            <a:xfrm>
              <a:off x="2720024" y="1189650"/>
              <a:ext cx="412246" cy="140974"/>
            </a:xfrm>
            <a:custGeom>
              <a:avLst/>
              <a:gdLst/>
              <a:ahLst/>
              <a:cxnLst/>
              <a:rect l="l" t="t" r="r" b="b"/>
              <a:pathLst>
                <a:path w="412246" h="140974" extrusionOk="0">
                  <a:moveTo>
                    <a:pt x="11811" y="140975"/>
                  </a:moveTo>
                  <a:lnTo>
                    <a:pt x="83820" y="140975"/>
                  </a:lnTo>
                  <a:cubicBezTo>
                    <a:pt x="84868" y="140975"/>
                    <a:pt x="85916" y="140879"/>
                    <a:pt x="86963" y="140594"/>
                  </a:cubicBezTo>
                  <a:lnTo>
                    <a:pt x="149543" y="123639"/>
                  </a:lnTo>
                  <a:lnTo>
                    <a:pt x="254794" y="123639"/>
                  </a:lnTo>
                  <a:cubicBezTo>
                    <a:pt x="257175" y="123639"/>
                    <a:pt x="259556" y="122877"/>
                    <a:pt x="261556" y="121544"/>
                  </a:cubicBezTo>
                  <a:lnTo>
                    <a:pt x="407099" y="21722"/>
                  </a:lnTo>
                  <a:cubicBezTo>
                    <a:pt x="412528" y="18007"/>
                    <a:pt x="413861" y="10577"/>
                    <a:pt x="410147" y="5148"/>
                  </a:cubicBezTo>
                  <a:cubicBezTo>
                    <a:pt x="406432" y="-281"/>
                    <a:pt x="399002" y="-1615"/>
                    <a:pt x="393573" y="2100"/>
                  </a:cubicBezTo>
                  <a:lnTo>
                    <a:pt x="251079" y="99827"/>
                  </a:lnTo>
                  <a:lnTo>
                    <a:pt x="148019" y="99827"/>
                  </a:lnTo>
                  <a:cubicBezTo>
                    <a:pt x="146971" y="99827"/>
                    <a:pt x="145923" y="99922"/>
                    <a:pt x="144875" y="100208"/>
                  </a:cubicBezTo>
                  <a:lnTo>
                    <a:pt x="82296" y="117162"/>
                  </a:lnTo>
                  <a:lnTo>
                    <a:pt x="11906" y="117162"/>
                  </a:lnTo>
                  <a:cubicBezTo>
                    <a:pt x="5334" y="117162"/>
                    <a:pt x="0" y="122496"/>
                    <a:pt x="0" y="129068"/>
                  </a:cubicBezTo>
                  <a:cubicBezTo>
                    <a:pt x="0" y="135641"/>
                    <a:pt x="5334" y="140975"/>
                    <a:pt x="11906" y="140975"/>
                  </a:cubicBezTo>
                  <a:close/>
                </a:path>
              </a:pathLst>
            </a:custGeom>
            <a:solidFill>
              <a:srgbClr val="29B5E8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29" name="Google Shape;4199;p99"/>
            <p:cNvSpPr/>
            <p:nvPr/>
          </p:nvSpPr>
          <p:spPr>
            <a:xfrm>
              <a:off x="2728117" y="1115931"/>
              <a:ext cx="408625" cy="145827"/>
            </a:xfrm>
            <a:custGeom>
              <a:avLst/>
              <a:gdLst/>
              <a:ahLst/>
              <a:cxnLst/>
              <a:rect l="l" t="t" r="r" b="b"/>
              <a:pathLst>
                <a:path w="408625" h="145827" extrusionOk="0">
                  <a:moveTo>
                    <a:pt x="9338" y="126587"/>
                  </a:moveTo>
                  <a:lnTo>
                    <a:pt x="94587" y="145542"/>
                  </a:lnTo>
                  <a:cubicBezTo>
                    <a:pt x="95444" y="145733"/>
                    <a:pt x="96301" y="145828"/>
                    <a:pt x="97158" y="145828"/>
                  </a:cubicBezTo>
                  <a:cubicBezTo>
                    <a:pt x="100302" y="145828"/>
                    <a:pt x="103445" y="144590"/>
                    <a:pt x="105731" y="142208"/>
                  </a:cubicBezTo>
                  <a:lnTo>
                    <a:pt x="183741" y="61627"/>
                  </a:lnTo>
                  <a:lnTo>
                    <a:pt x="239367" y="103442"/>
                  </a:lnTo>
                  <a:cubicBezTo>
                    <a:pt x="244510" y="107347"/>
                    <a:pt x="251940" y="106394"/>
                    <a:pt x="255940" y="101251"/>
                  </a:cubicBezTo>
                  <a:lnTo>
                    <a:pt x="316424" y="23813"/>
                  </a:lnTo>
                  <a:lnTo>
                    <a:pt x="396720" y="23813"/>
                  </a:lnTo>
                  <a:cubicBezTo>
                    <a:pt x="403292" y="23813"/>
                    <a:pt x="408626" y="18479"/>
                    <a:pt x="408626" y="11906"/>
                  </a:cubicBezTo>
                  <a:cubicBezTo>
                    <a:pt x="408626" y="5334"/>
                    <a:pt x="403292" y="0"/>
                    <a:pt x="396720" y="0"/>
                  </a:cubicBezTo>
                  <a:lnTo>
                    <a:pt x="310614" y="0"/>
                  </a:lnTo>
                  <a:cubicBezTo>
                    <a:pt x="306994" y="0"/>
                    <a:pt x="303470" y="1715"/>
                    <a:pt x="301184" y="4572"/>
                  </a:cubicBezTo>
                  <a:lnTo>
                    <a:pt x="244320" y="77438"/>
                  </a:lnTo>
                  <a:lnTo>
                    <a:pt x="189646" y="36290"/>
                  </a:lnTo>
                  <a:cubicBezTo>
                    <a:pt x="184884" y="32671"/>
                    <a:pt x="178121" y="33242"/>
                    <a:pt x="173930" y="37528"/>
                  </a:cubicBezTo>
                  <a:lnTo>
                    <a:pt x="93253" y="120872"/>
                  </a:lnTo>
                  <a:lnTo>
                    <a:pt x="14481" y="103346"/>
                  </a:lnTo>
                  <a:cubicBezTo>
                    <a:pt x="8100" y="101822"/>
                    <a:pt x="1718" y="105918"/>
                    <a:pt x="289" y="112395"/>
                  </a:cubicBezTo>
                  <a:cubicBezTo>
                    <a:pt x="-1140" y="118777"/>
                    <a:pt x="2861" y="125159"/>
                    <a:pt x="9338" y="126587"/>
                  </a:cubicBezTo>
                  <a:close/>
                </a:path>
              </a:pathLst>
            </a:custGeom>
            <a:solidFill>
              <a:srgbClr val="29B5E8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30" name="Google Shape;4200;p99"/>
            <p:cNvSpPr/>
            <p:nvPr/>
          </p:nvSpPr>
          <p:spPr>
            <a:xfrm>
              <a:off x="2622773" y="1041445"/>
              <a:ext cx="523398" cy="522446"/>
            </a:xfrm>
            <a:custGeom>
              <a:avLst/>
              <a:gdLst/>
              <a:ahLst/>
              <a:cxnLst/>
              <a:rect l="l" t="t" r="r" b="b"/>
              <a:pathLst>
                <a:path w="523398" h="522446" extrusionOk="0">
                  <a:moveTo>
                    <a:pt x="504349" y="451580"/>
                  </a:moveTo>
                  <a:lnTo>
                    <a:pt x="70866" y="451580"/>
                  </a:lnTo>
                  <a:lnTo>
                    <a:pt x="70866" y="19050"/>
                  </a:lnTo>
                  <a:cubicBezTo>
                    <a:pt x="70866" y="8572"/>
                    <a:pt x="62294" y="0"/>
                    <a:pt x="51816" y="0"/>
                  </a:cubicBezTo>
                  <a:cubicBezTo>
                    <a:pt x="41338" y="0"/>
                    <a:pt x="32766" y="8572"/>
                    <a:pt x="32766" y="19050"/>
                  </a:cubicBezTo>
                  <a:lnTo>
                    <a:pt x="32766" y="451580"/>
                  </a:lnTo>
                  <a:lnTo>
                    <a:pt x="19050" y="451580"/>
                  </a:lnTo>
                  <a:cubicBezTo>
                    <a:pt x="8573" y="451580"/>
                    <a:pt x="0" y="460153"/>
                    <a:pt x="0" y="470630"/>
                  </a:cubicBezTo>
                  <a:cubicBezTo>
                    <a:pt x="0" y="481108"/>
                    <a:pt x="8573" y="489680"/>
                    <a:pt x="19050" y="489680"/>
                  </a:cubicBezTo>
                  <a:lnTo>
                    <a:pt x="32766" y="489680"/>
                  </a:lnTo>
                  <a:lnTo>
                    <a:pt x="32766" y="503396"/>
                  </a:lnTo>
                  <a:cubicBezTo>
                    <a:pt x="32766" y="513874"/>
                    <a:pt x="41338" y="522446"/>
                    <a:pt x="51816" y="522446"/>
                  </a:cubicBezTo>
                  <a:cubicBezTo>
                    <a:pt x="62294" y="522446"/>
                    <a:pt x="70866" y="513874"/>
                    <a:pt x="70866" y="503396"/>
                  </a:cubicBezTo>
                  <a:lnTo>
                    <a:pt x="70866" y="489680"/>
                  </a:lnTo>
                  <a:lnTo>
                    <a:pt x="504349" y="489680"/>
                  </a:lnTo>
                  <a:cubicBezTo>
                    <a:pt x="514826" y="489680"/>
                    <a:pt x="523399" y="481108"/>
                    <a:pt x="523399" y="470630"/>
                  </a:cubicBezTo>
                  <a:cubicBezTo>
                    <a:pt x="523399" y="460153"/>
                    <a:pt x="514826" y="451580"/>
                    <a:pt x="504349" y="451580"/>
                  </a:cubicBezTo>
                  <a:close/>
                </a:path>
              </a:pathLst>
            </a:custGeom>
            <a:solidFill>
              <a:srgbClr val="29B5E8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9031" name="TextBox 9030"/>
          <p:cNvSpPr txBox="1"/>
          <p:nvPr/>
        </p:nvSpPr>
        <p:spPr>
          <a:xfrm>
            <a:off x="6254496" y="3474720"/>
            <a:ext cx="234086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11567F"/>
                </a:solidFill>
                <a:latin typeface="Arial"/>
              </a:rPr>
              <a:t>Analyst</a:t>
            </a:r>
          </a:p>
        </p:txBody>
      </p:sp>
      <p:sp>
        <p:nvSpPr>
          <p:cNvPr id="9032" name="TextBox 9031"/>
          <p:cNvSpPr txBox="1"/>
          <p:nvPr/>
        </p:nvSpPr>
        <p:spPr>
          <a:xfrm>
            <a:off x="6254496" y="3739896"/>
            <a:ext cx="2340864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5B5B5B"/>
                </a:solidFill>
                <a:latin typeface="Arial"/>
              </a:rPr>
              <a:t>Tunes signals, weights and rules without code</a:t>
            </a:r>
          </a:p>
        </p:txBody>
      </p:sp>
      <p:sp>
        <p:nvSpPr>
          <p:cNvPr id="9033" name="TextBox 9032"/>
          <p:cNvSpPr txBox="1"/>
          <p:nvPr/>
        </p:nvSpPr>
        <p:spPr>
          <a:xfrm>
            <a:off x="5833872" y="4261104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1">
                <a:solidFill>
                  <a:srgbClr val="5B5B5B"/>
                </a:solidFill>
                <a:latin typeface="Arial"/>
              </a:rPr>
              <a:t>Indian health insurance and retail lending: IRDAI grievances, cashless claims, portability, EMI stress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40080"/>
            <a:ext cx="91440" cy="329184"/>
          </a:xfrm>
          <a:prstGeom prst="rect">
            <a:avLst/>
          </a:prstGeom>
          <a:solidFill>
            <a:srgbClr val="29B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603504"/>
            <a:ext cx="832104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 i="0">
                <a:solidFill>
                  <a:srgbClr val="000000"/>
                </a:solidFill>
                <a:latin typeface="Arial"/>
              </a:rPr>
              <a:t>From customer question to next best action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987552"/>
            <a:ext cx="8321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5B5B5B"/>
                </a:solidFill>
                <a:latin typeface="Arial"/>
              </a:rPr>
              <a:t>Unify every touchpoint, read it with AI, decide with approved rules, and learn from every outcome.</a:t>
            </a:r>
          </a:p>
        </p:txBody>
      </p:sp>
      <p:sp>
        <p:nvSpPr>
          <p:cNvPr id="6" name="Oval 5"/>
          <p:cNvSpPr/>
          <p:nvPr/>
        </p:nvSpPr>
        <p:spPr>
          <a:xfrm>
            <a:off x="411480" y="1444752"/>
            <a:ext cx="438912" cy="438912"/>
          </a:xfrm>
          <a:prstGeom prst="ellipse">
            <a:avLst/>
          </a:prstGeom>
          <a:solidFill>
            <a:srgbClr val="1156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1444752"/>
            <a:ext cx="438912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1426464"/>
            <a:ext cx="32918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252525"/>
                </a:solidFill>
                <a:latin typeface="Arial"/>
              </a:rPr>
              <a:t>Unify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1700784"/>
            <a:ext cx="33375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5B5B5B"/>
                </a:solidFill>
                <a:latin typeface="Arial"/>
              </a:rPr>
              <a:t>Calls, emails, tickets, payments and policies become one live customer view.</a:t>
            </a:r>
          </a:p>
        </p:txBody>
      </p:sp>
      <p:sp>
        <p:nvSpPr>
          <p:cNvPr id="10" name="Oval 9"/>
          <p:cNvSpPr/>
          <p:nvPr/>
        </p:nvSpPr>
        <p:spPr>
          <a:xfrm>
            <a:off x="411480" y="2286000"/>
            <a:ext cx="438912" cy="438912"/>
          </a:xfrm>
          <a:prstGeom prst="ellipse">
            <a:avLst/>
          </a:prstGeom>
          <a:solidFill>
            <a:srgbClr val="75CD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1480" y="2286000"/>
            <a:ext cx="438912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2267712"/>
            <a:ext cx="32918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252525"/>
                </a:solidFill>
                <a:latin typeface="Arial"/>
              </a:rPr>
              <a:t>Understand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2542032"/>
            <a:ext cx="33375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5B5B5B"/>
                </a:solidFill>
                <a:latin typeface="Arial"/>
              </a:rPr>
              <a:t>AI picks out intent, sentiment and evidence from every conversation.</a:t>
            </a:r>
          </a:p>
        </p:txBody>
      </p:sp>
      <p:sp>
        <p:nvSpPr>
          <p:cNvPr id="14" name="Oval 13"/>
          <p:cNvSpPr/>
          <p:nvPr/>
        </p:nvSpPr>
        <p:spPr>
          <a:xfrm>
            <a:off x="411480" y="3127248"/>
            <a:ext cx="438912" cy="438912"/>
          </a:xfrm>
          <a:prstGeom prst="ellipse">
            <a:avLst/>
          </a:prstGeom>
          <a:solidFill>
            <a:srgbClr val="29B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11480" y="3127248"/>
            <a:ext cx="438912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" y="3108960"/>
            <a:ext cx="32918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252525"/>
                </a:solidFill>
                <a:latin typeface="Arial"/>
              </a:rPr>
              <a:t>Decide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5840" y="3383280"/>
            <a:ext cx="33375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5B5B5B"/>
                </a:solidFill>
                <a:latin typeface="Arial"/>
              </a:rPr>
              <a:t>Approved rules rank the next best action for each role.</a:t>
            </a:r>
          </a:p>
        </p:txBody>
      </p:sp>
      <p:sp>
        <p:nvSpPr>
          <p:cNvPr id="18" name="Oval 17"/>
          <p:cNvSpPr/>
          <p:nvPr/>
        </p:nvSpPr>
        <p:spPr>
          <a:xfrm>
            <a:off x="411480" y="3968496"/>
            <a:ext cx="438912" cy="438912"/>
          </a:xfrm>
          <a:prstGeom prst="ellipse">
            <a:avLst/>
          </a:prstGeom>
          <a:solidFill>
            <a:srgbClr val="FF9F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11480" y="3968496"/>
            <a:ext cx="438912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5840" y="3950208"/>
            <a:ext cx="32918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252525"/>
                </a:solidFill>
                <a:latin typeface="Arial"/>
              </a:rPr>
              <a:t>Learn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5840" y="4224528"/>
            <a:ext cx="33375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5B5B5B"/>
                </a:solidFill>
                <a:latin typeface="Arial"/>
              </a:rPr>
              <a:t>Every outcome updates which actions work best.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709160" y="1417320"/>
            <a:ext cx="1920240" cy="1005840"/>
          </a:xfrm>
          <a:prstGeom prst="roundRect">
            <a:avLst>
              <a:gd name="adj" fmla="val 8000"/>
            </a:avLst>
          </a:prstGeom>
          <a:solidFill>
            <a:srgbClr val="F4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855464" y="1527048"/>
            <a:ext cx="16459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29B5E8"/>
                </a:solidFill>
                <a:latin typeface="Arial"/>
              </a:rPr>
              <a:t>30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855464" y="1971548"/>
            <a:ext cx="1645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5B5B5B"/>
                </a:solidFill>
                <a:latin typeface="Arial"/>
              </a:rPr>
              <a:t>customers unified, every one scored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766560" y="1417320"/>
            <a:ext cx="1920240" cy="1005840"/>
          </a:xfrm>
          <a:prstGeom prst="roundRect">
            <a:avLst>
              <a:gd name="adj" fmla="val 8000"/>
            </a:avLst>
          </a:prstGeom>
          <a:solidFill>
            <a:srgbClr val="F4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912864" y="1527048"/>
            <a:ext cx="16459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29B5E8"/>
                </a:solidFill>
                <a:latin typeface="Arial"/>
              </a:rPr>
              <a:t>8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912864" y="1971548"/>
            <a:ext cx="1645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5B5B5B"/>
                </a:solidFill>
                <a:latin typeface="Arial"/>
              </a:rPr>
              <a:t>source types, in English and Hinglish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709160" y="2542032"/>
            <a:ext cx="1920240" cy="1005840"/>
          </a:xfrm>
          <a:prstGeom prst="roundRect">
            <a:avLst>
              <a:gd name="adj" fmla="val 8000"/>
            </a:avLst>
          </a:prstGeom>
          <a:solidFill>
            <a:srgbClr val="F4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855464" y="2651760"/>
            <a:ext cx="16459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11567F"/>
                </a:solidFill>
                <a:latin typeface="Arial"/>
              </a:rPr>
              <a:t>184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855464" y="3096260"/>
            <a:ext cx="1645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5B5B5B"/>
                </a:solidFill>
                <a:latin typeface="Arial"/>
              </a:rPr>
              <a:t>live signals, each with its evidence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766560" y="2542032"/>
            <a:ext cx="1920240" cy="1005840"/>
          </a:xfrm>
          <a:prstGeom prst="roundRect">
            <a:avLst>
              <a:gd name="adj" fmla="val 8000"/>
            </a:avLst>
          </a:prstGeom>
          <a:solidFill>
            <a:srgbClr val="F4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912864" y="2651760"/>
            <a:ext cx="16459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29B5E8"/>
                </a:solidFill>
                <a:latin typeface="Arial"/>
              </a:rPr>
              <a:t>3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912864" y="3096260"/>
            <a:ext cx="1645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5B5B5B"/>
                </a:solidFill>
                <a:latin typeface="Arial"/>
              </a:rPr>
              <a:t>decision engines running side by side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709160" y="3666744"/>
            <a:ext cx="1920240" cy="1005840"/>
          </a:xfrm>
          <a:prstGeom prst="roundRect">
            <a:avLst>
              <a:gd name="adj" fmla="val 8000"/>
            </a:avLst>
          </a:prstGeom>
          <a:solidFill>
            <a:srgbClr val="F4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855464" y="3776472"/>
            <a:ext cx="16459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29B5E8"/>
                </a:solidFill>
                <a:latin typeface="Arial"/>
              </a:rPr>
              <a:t>4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855464" y="4220972"/>
            <a:ext cx="1645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5B5B5B"/>
                </a:solidFill>
                <a:latin typeface="Arial"/>
              </a:rPr>
              <a:t>reusable CoCo CLI skills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766560" y="3666744"/>
            <a:ext cx="1920240" cy="1005840"/>
          </a:xfrm>
          <a:prstGeom prst="roundRect">
            <a:avLst>
              <a:gd name="adj" fmla="val 8000"/>
            </a:avLst>
          </a:prstGeom>
          <a:solidFill>
            <a:srgbClr val="F4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912864" y="3776472"/>
            <a:ext cx="16459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11567F"/>
                </a:solidFill>
                <a:latin typeface="Arial"/>
              </a:rPr>
              <a:t>19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912864" y="4220972"/>
            <a:ext cx="1645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5B5B5B"/>
                </a:solidFill>
                <a:latin typeface="Arial"/>
              </a:rPr>
              <a:t>config rows to add a new engine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40080"/>
            <a:ext cx="91440" cy="329184"/>
          </a:xfrm>
          <a:prstGeom prst="rect">
            <a:avLst/>
          </a:prstGeom>
          <a:solidFill>
            <a:srgbClr val="29B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603504"/>
            <a:ext cx="832104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 i="0">
                <a:solidFill>
                  <a:srgbClr val="000000"/>
                </a:solidFill>
                <a:latin typeface="Arial"/>
              </a:rPr>
              <a:t>Architecture: four independent layers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987552"/>
            <a:ext cx="8321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5B5B5B"/>
                </a:solidFill>
                <a:latin typeface="Arial"/>
              </a:rPr>
              <a:t>Each layer reads only from the one before it, so any layer can change without touching the rest.</a:t>
            </a:r>
          </a:p>
        </p:txBody>
      </p:sp>
      <p:pic>
        <p:nvPicPr>
          <p:cNvPr id="6" name="Picture 5" descr="01-hl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1298448"/>
            <a:ext cx="8001000" cy="365263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40080"/>
            <a:ext cx="91440" cy="329184"/>
          </a:xfrm>
          <a:prstGeom prst="rect">
            <a:avLst/>
          </a:prstGeom>
          <a:solidFill>
            <a:srgbClr val="29B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603504"/>
            <a:ext cx="832104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 i="0">
                <a:solidFill>
                  <a:srgbClr val="000000"/>
                </a:solidFill>
                <a:latin typeface="Arial"/>
              </a:rPr>
              <a:t>Layer 1 · Every touchpoint, one customer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987552"/>
            <a:ext cx="8321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5B5B5B"/>
                </a:solidFill>
                <a:latin typeface="Arial"/>
              </a:rPr>
              <a:t>A small, high-quality Indian dataset. Dynamic Tables keep it current; a semantic view gives everyone the same definitions.</a:t>
            </a:r>
          </a:p>
        </p:txBody>
      </p:sp>
      <p:pic>
        <p:nvPicPr>
          <p:cNvPr id="6" name="Picture 5" descr="02-data-lay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1298448"/>
            <a:ext cx="8001000" cy="365263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40080"/>
            <a:ext cx="91440" cy="329184"/>
          </a:xfrm>
          <a:prstGeom prst="rect">
            <a:avLst/>
          </a:prstGeom>
          <a:solidFill>
            <a:srgbClr val="29B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603504"/>
            <a:ext cx="832104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 i="0">
                <a:solidFill>
                  <a:srgbClr val="000000"/>
                </a:solidFill>
                <a:latin typeface="Arial"/>
              </a:rPr>
              <a:t>Layer 2 · AI turns conversations into evidence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987552"/>
            <a:ext cx="8321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5B5B5B"/>
                </a:solidFill>
                <a:latin typeface="Arial"/>
              </a:rPr>
              <a:t>AI extracts facts into a fixed vocabulary, and every signal keeps the sentence that justifies it.</a:t>
            </a:r>
          </a:p>
        </p:txBody>
      </p:sp>
      <p:pic>
        <p:nvPicPr>
          <p:cNvPr id="6" name="Picture 5" descr="03-signal-lay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1298448"/>
            <a:ext cx="8001000" cy="365263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40080"/>
            <a:ext cx="91440" cy="329184"/>
          </a:xfrm>
          <a:prstGeom prst="rect">
            <a:avLst/>
          </a:prstGeom>
          <a:solidFill>
            <a:srgbClr val="29B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603504"/>
            <a:ext cx="832104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 i="0">
                <a:solidFill>
                  <a:srgbClr val="000000"/>
                </a:solidFill>
                <a:latin typeface="Arial"/>
              </a:rPr>
              <a:t>Layer 3 · Isolated engines on a shared vocabulary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987552"/>
            <a:ext cx="8321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5B5B5B"/>
                </a:solidFill>
                <a:latin typeface="Arial"/>
              </a:rPr>
              <a:t>Each use case is its own engine. All read the same signals, and none can change another.</a:t>
            </a:r>
          </a:p>
        </p:txBody>
      </p:sp>
      <p:pic>
        <p:nvPicPr>
          <p:cNvPr id="6" name="Picture 5" descr="04-decision-lay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1298448"/>
            <a:ext cx="8001000" cy="365263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40080"/>
            <a:ext cx="91440" cy="329184"/>
          </a:xfrm>
          <a:prstGeom prst="rect">
            <a:avLst/>
          </a:prstGeom>
          <a:solidFill>
            <a:srgbClr val="29B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603504"/>
            <a:ext cx="832104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 i="0">
                <a:solidFill>
                  <a:srgbClr val="000000"/>
                </a:solidFill>
                <a:latin typeface="Arial"/>
              </a:rPr>
              <a:t>Repeatable recommendations that keep improving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987552"/>
            <a:ext cx="8321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5B5B5B"/>
                </a:solidFill>
                <a:latin typeface="Arial"/>
              </a:rPr>
              <a:t>AI reads, rules decide. Scoring runs on measured track records, so every answer can be reproduced and explained.</a:t>
            </a:r>
          </a:p>
        </p:txBody>
      </p:sp>
      <p:pic>
        <p:nvPicPr>
          <p:cNvPr id="6" name="Picture 5" descr="05-learning-loo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1298448"/>
            <a:ext cx="8001000" cy="365263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40080"/>
            <a:ext cx="91440" cy="329184"/>
          </a:xfrm>
          <a:prstGeom prst="rect">
            <a:avLst/>
          </a:prstGeom>
          <a:solidFill>
            <a:srgbClr val="29B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603504"/>
            <a:ext cx="832104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 i="0">
                <a:solidFill>
                  <a:srgbClr val="000000"/>
                </a:solidFill>
                <a:latin typeface="Arial"/>
              </a:rPr>
              <a:t>Proactive by default, with people in the loop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987552"/>
            <a:ext cx="8321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5B5B5B"/>
                </a:solidFill>
                <a:latin typeface="Arial"/>
              </a:rPr>
              <a:t>The platform watches every customer on a schedule and routes each decision to the person with the right authority.</a:t>
            </a:r>
          </a:p>
        </p:txBody>
      </p:sp>
      <p:pic>
        <p:nvPicPr>
          <p:cNvPr id="6" name="Picture 5" descr="06-agentic-hit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1298448"/>
            <a:ext cx="8001000" cy="365263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40080"/>
            <a:ext cx="91440" cy="329184"/>
          </a:xfrm>
          <a:prstGeom prst="rect">
            <a:avLst/>
          </a:prstGeom>
          <a:solidFill>
            <a:srgbClr val="29B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603504"/>
            <a:ext cx="832104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 i="0">
                <a:solidFill>
                  <a:srgbClr val="000000"/>
                </a:solidFill>
                <a:latin typeface="Arial"/>
              </a:rPr>
              <a:t>Adding a use case takes configuration only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987552"/>
            <a:ext cx="8321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5B5B5B"/>
                </a:solidFill>
                <a:latin typeface="Arial"/>
              </a:rPr>
              <a:t>We added Service Recovery to the working platform. Nothing that already existed changed.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" y="1417320"/>
            <a:ext cx="2697480" cy="3291840"/>
          </a:xfrm>
          <a:prstGeom prst="roundRect">
            <a:avLst>
              <a:gd name="adj" fmla="val 8000"/>
            </a:avLst>
          </a:prstGeom>
          <a:solidFill>
            <a:srgbClr val="DDF2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21792" y="1572768"/>
            <a:ext cx="23774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0" b="1" i="0">
                <a:solidFill>
                  <a:srgbClr val="11567F"/>
                </a:solidFill>
                <a:latin typeface="Arial"/>
              </a:rPr>
              <a:t>19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" y="2487168"/>
            <a:ext cx="2331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252525"/>
                </a:solidFill>
                <a:latin typeface="Arial"/>
              </a:rPr>
              <a:t>configuration rows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" y="2816352"/>
            <a:ext cx="2331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5B5B5B"/>
                </a:solidFill>
                <a:latin typeface="Arial"/>
              </a:rPr>
              <a:t>0 lines of engine code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" y="3246120"/>
            <a:ext cx="228600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5B5B5B"/>
                </a:solidFill>
                <a:latin typeface="Arial"/>
              </a:rPr>
              <a:t>Existing engines returned identical results before and after the change.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291840" y="1417320"/>
            <a:ext cx="2606040" cy="3291840"/>
          </a:xfrm>
          <a:prstGeom prst="roundRect">
            <a:avLst>
              <a:gd name="adj" fmla="val 8000"/>
            </a:avLst>
          </a:prstGeom>
          <a:solidFill>
            <a:srgbClr val="EA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74720" y="1572768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5B5B5B"/>
                </a:solidFill>
                <a:latin typeface="Arial"/>
              </a:rPr>
              <a:t>BEFORE</a:t>
            </a:r>
          </a:p>
        </p:txBody>
      </p:sp>
      <p:sp>
        <p:nvSpPr>
          <p:cNvPr id="13" name="Oval 12"/>
          <p:cNvSpPr/>
          <p:nvPr/>
        </p:nvSpPr>
        <p:spPr>
          <a:xfrm>
            <a:off x="3474720" y="2020824"/>
            <a:ext cx="128016" cy="128016"/>
          </a:xfrm>
          <a:prstGeom prst="ellipse">
            <a:avLst/>
          </a:prstGeom>
          <a:solidFill>
            <a:srgbClr val="29B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712464" y="1938528"/>
            <a:ext cx="205740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252525"/>
                </a:solidFill>
                <a:latin typeface="Arial"/>
              </a:rPr>
              <a:t>3 customers with stuck claims were on nobody's worklist</a:t>
            </a:r>
          </a:p>
        </p:txBody>
      </p:sp>
      <p:sp>
        <p:nvSpPr>
          <p:cNvPr id="15" name="Oval 14"/>
          <p:cNvSpPr/>
          <p:nvPr/>
        </p:nvSpPr>
        <p:spPr>
          <a:xfrm>
            <a:off x="3474720" y="3209544"/>
            <a:ext cx="128016" cy="128016"/>
          </a:xfrm>
          <a:prstGeom prst="ellipse">
            <a:avLst/>
          </a:prstGeom>
          <a:solidFill>
            <a:srgbClr val="29B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712464" y="3127248"/>
            <a:ext cx="205740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252525"/>
                </a:solidFill>
                <a:latin typeface="Arial"/>
              </a:rPr>
              <a:t>2 customers we had let down were offered a loan top-up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035040" y="1417320"/>
            <a:ext cx="2606040" cy="3291840"/>
          </a:xfrm>
          <a:prstGeom prst="roundRect">
            <a:avLst>
              <a:gd name="adj" fmla="val 8000"/>
            </a:avLst>
          </a:prstGeom>
          <a:solidFill>
            <a:srgbClr val="E3F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17920" y="1572768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5B5B5B"/>
                </a:solidFill>
                <a:latin typeface="Arial"/>
              </a:rPr>
              <a:t>AFTER</a:t>
            </a:r>
          </a:p>
        </p:txBody>
      </p:sp>
      <p:sp>
        <p:nvSpPr>
          <p:cNvPr id="19" name="Oval 18"/>
          <p:cNvSpPr/>
          <p:nvPr/>
        </p:nvSpPr>
        <p:spPr>
          <a:xfrm>
            <a:off x="6217920" y="2020824"/>
            <a:ext cx="128016" cy="128016"/>
          </a:xfrm>
          <a:prstGeom prst="ellipse">
            <a:avLst/>
          </a:prstGeom>
          <a:solidFill>
            <a:srgbClr val="75CD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55664" y="1938528"/>
            <a:ext cx="205740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252525"/>
                </a:solidFill>
                <a:latin typeface="Arial"/>
              </a:rPr>
              <a:t>All 3 now top the list with an expedited claim</a:t>
            </a:r>
          </a:p>
        </p:txBody>
      </p:sp>
      <p:sp>
        <p:nvSpPr>
          <p:cNvPr id="21" name="Oval 20"/>
          <p:cNvSpPr/>
          <p:nvPr/>
        </p:nvSpPr>
        <p:spPr>
          <a:xfrm>
            <a:off x="6217920" y="3209544"/>
            <a:ext cx="128016" cy="128016"/>
          </a:xfrm>
          <a:prstGeom prst="ellipse">
            <a:avLst/>
          </a:prstGeom>
          <a:solidFill>
            <a:srgbClr val="75CD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55664" y="3127248"/>
            <a:ext cx="205740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252525"/>
                </a:solidFill>
                <a:latin typeface="Arial"/>
              </a:rPr>
              <a:t>Both get a priority callback, and no upsell until it's fixed</a:t>
            </a:r>
          </a:p>
        </p:txBody>
      </p:sp>
      <p:sp>
        <p:nvSpPr>
          <p:cNvPr id="23" name="Right Arrow 22"/>
          <p:cNvSpPr/>
          <p:nvPr/>
        </p:nvSpPr>
        <p:spPr>
          <a:xfrm>
            <a:off x="5916168" y="2926080"/>
            <a:ext cx="109728" cy="256032"/>
          </a:xfrm>
          <a:prstGeom prst="rightArrow">
            <a:avLst/>
          </a:prstGeom>
          <a:solidFill>
            <a:srgbClr val="5B5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40080"/>
            <a:ext cx="91440" cy="329184"/>
          </a:xfrm>
          <a:prstGeom prst="rect">
            <a:avLst/>
          </a:prstGeom>
          <a:solidFill>
            <a:srgbClr val="29B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603504"/>
            <a:ext cx="832104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 i="0">
                <a:solidFill>
                  <a:srgbClr val="000000"/>
                </a:solidFill>
                <a:latin typeface="Arial"/>
              </a:rPr>
              <a:t>Built and run with CoCo CLI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987552"/>
            <a:ext cx="8321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5B5B5B"/>
                </a:solidFill>
                <a:latin typeface="Arial"/>
              </a:rPr>
              <a:t>CoCo CLI seeded the data, built the platform, and publishes four reusable skills to Snowflake for any team.</a:t>
            </a:r>
          </a:p>
        </p:txBody>
      </p:sp>
      <p:pic>
        <p:nvPicPr>
          <p:cNvPr id="6" name="Picture 5" descr="07-coco-skill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1298448"/>
            <a:ext cx="8001000" cy="365263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40080"/>
            <a:ext cx="91440" cy="329184"/>
          </a:xfrm>
          <a:prstGeom prst="rect">
            <a:avLst/>
          </a:prstGeom>
          <a:solidFill>
            <a:srgbClr val="29B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603504"/>
            <a:ext cx="832104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 i="0">
                <a:solidFill>
                  <a:srgbClr val="000000"/>
                </a:solidFill>
                <a:latin typeface="Arial"/>
              </a:rPr>
              <a:t>Snowflake capabilities in use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987552"/>
            <a:ext cx="8321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5B5B5B"/>
                </a:solidFill>
                <a:latin typeface="Arial"/>
              </a:rPr>
              <a:t>Data, AI and the app all run inside Snowflake. No customer data leaves the account.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" y="1417320"/>
            <a:ext cx="1977390" cy="1024128"/>
          </a:xfrm>
          <a:prstGeom prst="roundRect">
            <a:avLst>
              <a:gd name="adj" fmla="val 8000"/>
            </a:avLst>
          </a:prstGeom>
          <a:solidFill>
            <a:srgbClr val="E3ED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pSp>
        <p:nvGrpSpPr>
          <p:cNvPr id="9031" name="Google Shape;3038;p95"/>
          <p:cNvGrpSpPr/>
          <p:nvPr/>
        </p:nvGrpSpPr>
        <p:grpSpPr>
          <a:xfrm>
            <a:off x="539496" y="1514762"/>
            <a:ext cx="274320" cy="262316"/>
            <a:chOff x="245756" y="1799533"/>
            <a:chExt cx="533304" cy="509968"/>
          </a:xfrm>
        </p:grpSpPr>
        <p:grpSp>
          <p:nvGrpSpPr>
            <p:cNvPr id="9032" name="Google Shape;3039;p95"/>
            <p:cNvGrpSpPr/>
            <p:nvPr/>
          </p:nvGrpSpPr>
          <p:grpSpPr>
            <a:xfrm>
              <a:off x="245756" y="1799533"/>
              <a:ext cx="510063" cy="509968"/>
              <a:chOff x="245756" y="1799533"/>
              <a:chExt cx="510063" cy="509968"/>
            </a:xfrm>
          </p:grpSpPr>
          <p:sp>
            <p:nvSpPr>
              <p:cNvPr id="9033" name="Google Shape;3040;p95"/>
              <p:cNvSpPr/>
              <p:nvPr/>
            </p:nvSpPr>
            <p:spPr>
              <a:xfrm>
                <a:off x="450162" y="2128527"/>
                <a:ext cx="47910" cy="108108"/>
              </a:xfrm>
              <a:custGeom>
                <a:avLst/>
                <a:gdLst/>
                <a:ahLst/>
                <a:cxnLst/>
                <a:rect l="l" t="t" r="r" b="b"/>
                <a:pathLst>
                  <a:path w="47910" h="108108" extrusionOk="0">
                    <a:moveTo>
                      <a:pt x="24289" y="85725"/>
                    </a:moveTo>
                    <a:cubicBezTo>
                      <a:pt x="23241" y="85725"/>
                      <a:pt x="22384" y="84868"/>
                      <a:pt x="22384" y="83820"/>
                    </a:cubicBezTo>
                    <a:lnTo>
                      <a:pt x="22384" y="24384"/>
                    </a:lnTo>
                    <a:cubicBezTo>
                      <a:pt x="22384" y="23336"/>
                      <a:pt x="23241" y="22479"/>
                      <a:pt x="24289" y="22479"/>
                    </a:cubicBezTo>
                    <a:lnTo>
                      <a:pt x="29909" y="22479"/>
                    </a:lnTo>
                    <a:cubicBezTo>
                      <a:pt x="30290" y="14859"/>
                      <a:pt x="31052" y="7334"/>
                      <a:pt x="32385" y="0"/>
                    </a:cubicBezTo>
                    <a:lnTo>
                      <a:pt x="24384" y="0"/>
                    </a:lnTo>
                    <a:cubicBezTo>
                      <a:pt x="10954" y="0"/>
                      <a:pt x="0" y="10954"/>
                      <a:pt x="0" y="24289"/>
                    </a:cubicBezTo>
                    <a:lnTo>
                      <a:pt x="0" y="83725"/>
                    </a:lnTo>
                    <a:cubicBezTo>
                      <a:pt x="0" y="97155"/>
                      <a:pt x="10954" y="108109"/>
                      <a:pt x="24384" y="108109"/>
                    </a:cubicBezTo>
                    <a:lnTo>
                      <a:pt x="47911" y="108109"/>
                    </a:lnTo>
                    <a:cubicBezTo>
                      <a:pt x="44291" y="100870"/>
                      <a:pt x="41148" y="93440"/>
                      <a:pt x="38481" y="85630"/>
                    </a:cubicBezTo>
                    <a:lnTo>
                      <a:pt x="24289" y="85630"/>
                    </a:lnTo>
                    <a:close/>
                  </a:path>
                </a:pathLst>
              </a:custGeom>
              <a:solidFill>
                <a:srgbClr val="29B5E8"/>
              </a:solidFill>
              <a:ln>
                <a:noFill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rgbClr val="262626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034" name="Google Shape;3041;p95"/>
              <p:cNvSpPr/>
              <p:nvPr/>
            </p:nvSpPr>
            <p:spPr>
              <a:xfrm>
                <a:off x="320432" y="2128622"/>
                <a:ext cx="108203" cy="108108"/>
              </a:xfrm>
              <a:custGeom>
                <a:avLst/>
                <a:gdLst/>
                <a:ahLst/>
                <a:cxnLst/>
                <a:rect l="l" t="t" r="r" b="b"/>
                <a:pathLst>
                  <a:path w="108203" h="108108" extrusionOk="0">
                    <a:moveTo>
                      <a:pt x="83820" y="0"/>
                    </a:moveTo>
                    <a:lnTo>
                      <a:pt x="24384" y="0"/>
                    </a:lnTo>
                    <a:cubicBezTo>
                      <a:pt x="10954" y="0"/>
                      <a:pt x="0" y="10954"/>
                      <a:pt x="0" y="24289"/>
                    </a:cubicBezTo>
                    <a:lnTo>
                      <a:pt x="0" y="83725"/>
                    </a:lnTo>
                    <a:cubicBezTo>
                      <a:pt x="0" y="97155"/>
                      <a:pt x="10954" y="108109"/>
                      <a:pt x="24384" y="108109"/>
                    </a:cubicBezTo>
                    <a:lnTo>
                      <a:pt x="83820" y="108109"/>
                    </a:lnTo>
                    <a:cubicBezTo>
                      <a:pt x="97250" y="108109"/>
                      <a:pt x="108204" y="97155"/>
                      <a:pt x="108204" y="83725"/>
                    </a:cubicBezTo>
                    <a:lnTo>
                      <a:pt x="108204" y="24289"/>
                    </a:lnTo>
                    <a:cubicBezTo>
                      <a:pt x="108204" y="10954"/>
                      <a:pt x="97250" y="0"/>
                      <a:pt x="83820" y="0"/>
                    </a:cubicBezTo>
                    <a:close/>
                    <a:moveTo>
                      <a:pt x="85725" y="83725"/>
                    </a:moveTo>
                    <a:cubicBezTo>
                      <a:pt x="85725" y="84772"/>
                      <a:pt x="84868" y="85630"/>
                      <a:pt x="83820" y="85630"/>
                    </a:cubicBezTo>
                    <a:lnTo>
                      <a:pt x="24384" y="85630"/>
                    </a:lnTo>
                    <a:cubicBezTo>
                      <a:pt x="23336" y="85630"/>
                      <a:pt x="22479" y="84772"/>
                      <a:pt x="22479" y="83725"/>
                    </a:cubicBezTo>
                    <a:lnTo>
                      <a:pt x="22479" y="24289"/>
                    </a:lnTo>
                    <a:cubicBezTo>
                      <a:pt x="22479" y="23241"/>
                      <a:pt x="23336" y="22384"/>
                      <a:pt x="24384" y="22384"/>
                    </a:cubicBezTo>
                    <a:lnTo>
                      <a:pt x="83820" y="22384"/>
                    </a:lnTo>
                    <a:cubicBezTo>
                      <a:pt x="84868" y="22384"/>
                      <a:pt x="85725" y="23241"/>
                      <a:pt x="85725" y="24289"/>
                    </a:cubicBezTo>
                    <a:lnTo>
                      <a:pt x="85725" y="83725"/>
                    </a:lnTo>
                    <a:close/>
                  </a:path>
                </a:pathLst>
              </a:custGeom>
              <a:solidFill>
                <a:srgbClr val="29B5E8"/>
              </a:solidFill>
              <a:ln>
                <a:noFill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rgbClr val="262626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035" name="Google Shape;3042;p95"/>
              <p:cNvSpPr/>
              <p:nvPr/>
            </p:nvSpPr>
            <p:spPr>
              <a:xfrm>
                <a:off x="449972" y="1869256"/>
                <a:ext cx="108204" cy="108203"/>
              </a:xfrm>
              <a:custGeom>
                <a:avLst/>
                <a:gdLst/>
                <a:ahLst/>
                <a:cxnLst/>
                <a:rect l="l" t="t" r="r" b="b"/>
                <a:pathLst>
                  <a:path w="108204" h="108203" extrusionOk="0">
                    <a:moveTo>
                      <a:pt x="83820" y="0"/>
                    </a:moveTo>
                    <a:lnTo>
                      <a:pt x="24384" y="0"/>
                    </a:lnTo>
                    <a:cubicBezTo>
                      <a:pt x="10954" y="0"/>
                      <a:pt x="0" y="10954"/>
                      <a:pt x="0" y="24384"/>
                    </a:cubicBezTo>
                    <a:lnTo>
                      <a:pt x="0" y="83820"/>
                    </a:lnTo>
                    <a:cubicBezTo>
                      <a:pt x="0" y="97250"/>
                      <a:pt x="10954" y="108204"/>
                      <a:pt x="24384" y="108204"/>
                    </a:cubicBezTo>
                    <a:lnTo>
                      <a:pt x="83820" y="108204"/>
                    </a:lnTo>
                    <a:cubicBezTo>
                      <a:pt x="97250" y="108204"/>
                      <a:pt x="108204" y="97250"/>
                      <a:pt x="108204" y="83820"/>
                    </a:cubicBezTo>
                    <a:lnTo>
                      <a:pt x="108204" y="24384"/>
                    </a:lnTo>
                    <a:cubicBezTo>
                      <a:pt x="108204" y="10954"/>
                      <a:pt x="97250" y="0"/>
                      <a:pt x="83820" y="0"/>
                    </a:cubicBezTo>
                    <a:close/>
                    <a:moveTo>
                      <a:pt x="85630" y="83725"/>
                    </a:moveTo>
                    <a:cubicBezTo>
                      <a:pt x="85630" y="84773"/>
                      <a:pt x="84773" y="85630"/>
                      <a:pt x="83725" y="85630"/>
                    </a:cubicBezTo>
                    <a:lnTo>
                      <a:pt x="24289" y="85630"/>
                    </a:lnTo>
                    <a:cubicBezTo>
                      <a:pt x="23241" y="85630"/>
                      <a:pt x="22384" y="84773"/>
                      <a:pt x="22384" y="83725"/>
                    </a:cubicBezTo>
                    <a:lnTo>
                      <a:pt x="22384" y="24289"/>
                    </a:lnTo>
                    <a:cubicBezTo>
                      <a:pt x="22384" y="23241"/>
                      <a:pt x="23241" y="22384"/>
                      <a:pt x="24289" y="22384"/>
                    </a:cubicBezTo>
                    <a:lnTo>
                      <a:pt x="83725" y="22384"/>
                    </a:lnTo>
                    <a:cubicBezTo>
                      <a:pt x="84773" y="22384"/>
                      <a:pt x="85630" y="23241"/>
                      <a:pt x="85630" y="24289"/>
                    </a:cubicBezTo>
                    <a:lnTo>
                      <a:pt x="85630" y="83725"/>
                    </a:lnTo>
                    <a:close/>
                  </a:path>
                </a:pathLst>
              </a:custGeom>
              <a:solidFill>
                <a:srgbClr val="29B5E8"/>
              </a:solidFill>
              <a:ln>
                <a:noFill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rgbClr val="262626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036" name="Google Shape;3043;p95"/>
              <p:cNvSpPr/>
              <p:nvPr/>
            </p:nvSpPr>
            <p:spPr>
              <a:xfrm>
                <a:off x="450162" y="1997844"/>
                <a:ext cx="107060" cy="108013"/>
              </a:xfrm>
              <a:custGeom>
                <a:avLst/>
                <a:gdLst/>
                <a:ahLst/>
                <a:cxnLst/>
                <a:rect l="l" t="t" r="r" b="b"/>
                <a:pathLst>
                  <a:path w="107060" h="108013" extrusionOk="0">
                    <a:moveTo>
                      <a:pt x="24289" y="85725"/>
                    </a:moveTo>
                    <a:cubicBezTo>
                      <a:pt x="23241" y="85725"/>
                      <a:pt x="22384" y="84868"/>
                      <a:pt x="22384" y="83820"/>
                    </a:cubicBezTo>
                    <a:lnTo>
                      <a:pt x="22384" y="24384"/>
                    </a:lnTo>
                    <a:cubicBezTo>
                      <a:pt x="22384" y="23336"/>
                      <a:pt x="23241" y="22479"/>
                      <a:pt x="24289" y="22479"/>
                    </a:cubicBezTo>
                    <a:lnTo>
                      <a:pt x="83725" y="22479"/>
                    </a:lnTo>
                    <a:cubicBezTo>
                      <a:pt x="84773" y="22479"/>
                      <a:pt x="85630" y="23336"/>
                      <a:pt x="85630" y="24384"/>
                    </a:cubicBezTo>
                    <a:lnTo>
                      <a:pt x="85630" y="34481"/>
                    </a:lnTo>
                    <a:cubicBezTo>
                      <a:pt x="92392" y="28385"/>
                      <a:pt x="99441" y="22670"/>
                      <a:pt x="107061" y="17621"/>
                    </a:cubicBezTo>
                    <a:cubicBezTo>
                      <a:pt x="104108" y="7525"/>
                      <a:pt x="94869" y="0"/>
                      <a:pt x="83820" y="0"/>
                    </a:cubicBezTo>
                    <a:lnTo>
                      <a:pt x="24384" y="0"/>
                    </a:lnTo>
                    <a:cubicBezTo>
                      <a:pt x="10954" y="0"/>
                      <a:pt x="0" y="10954"/>
                      <a:pt x="0" y="24289"/>
                    </a:cubicBezTo>
                    <a:lnTo>
                      <a:pt x="0" y="83725"/>
                    </a:lnTo>
                    <a:cubicBezTo>
                      <a:pt x="0" y="97060"/>
                      <a:pt x="10954" y="108014"/>
                      <a:pt x="24384" y="108014"/>
                    </a:cubicBezTo>
                    <a:lnTo>
                      <a:pt x="38100" y="108014"/>
                    </a:lnTo>
                    <a:cubicBezTo>
                      <a:pt x="40577" y="100298"/>
                      <a:pt x="43815" y="92774"/>
                      <a:pt x="47339" y="85535"/>
                    </a:cubicBezTo>
                    <a:lnTo>
                      <a:pt x="24479" y="85535"/>
                    </a:lnTo>
                    <a:close/>
                  </a:path>
                </a:pathLst>
              </a:custGeom>
              <a:solidFill>
                <a:srgbClr val="29B5E8"/>
              </a:solidFill>
              <a:ln>
                <a:noFill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rgbClr val="262626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037" name="Google Shape;3044;p95"/>
              <p:cNvSpPr/>
              <p:nvPr/>
            </p:nvSpPr>
            <p:spPr>
              <a:xfrm>
                <a:off x="245756" y="1799533"/>
                <a:ext cx="510063" cy="509968"/>
              </a:xfrm>
              <a:custGeom>
                <a:avLst/>
                <a:gdLst/>
                <a:ahLst/>
                <a:cxnLst/>
                <a:rect l="l" t="t" r="r" b="b"/>
                <a:pathLst>
                  <a:path w="510063" h="509968" extrusionOk="0">
                    <a:moveTo>
                      <a:pt x="279273" y="476345"/>
                    </a:moveTo>
                    <a:lnTo>
                      <a:pt x="63437" y="476345"/>
                    </a:lnTo>
                    <a:cubicBezTo>
                      <a:pt x="46958" y="476345"/>
                      <a:pt x="33623" y="463010"/>
                      <a:pt x="33623" y="446532"/>
                    </a:cubicBezTo>
                    <a:lnTo>
                      <a:pt x="33623" y="63532"/>
                    </a:lnTo>
                    <a:cubicBezTo>
                      <a:pt x="33623" y="47054"/>
                      <a:pt x="46958" y="33719"/>
                      <a:pt x="63437" y="33719"/>
                    </a:cubicBezTo>
                    <a:lnTo>
                      <a:pt x="446532" y="33719"/>
                    </a:lnTo>
                    <a:cubicBezTo>
                      <a:pt x="463010" y="33719"/>
                      <a:pt x="476345" y="47054"/>
                      <a:pt x="476345" y="63532"/>
                    </a:cubicBezTo>
                    <a:lnTo>
                      <a:pt x="476345" y="202597"/>
                    </a:lnTo>
                    <a:cubicBezTo>
                      <a:pt x="488442" y="208026"/>
                      <a:pt x="499586" y="214694"/>
                      <a:pt x="510064" y="222599"/>
                    </a:cubicBezTo>
                    <a:lnTo>
                      <a:pt x="510064" y="63532"/>
                    </a:lnTo>
                    <a:cubicBezTo>
                      <a:pt x="510064" y="28480"/>
                      <a:pt x="481584" y="0"/>
                      <a:pt x="446627" y="0"/>
                    </a:cubicBezTo>
                    <a:lnTo>
                      <a:pt x="63437" y="0"/>
                    </a:lnTo>
                    <a:cubicBezTo>
                      <a:pt x="28385" y="0"/>
                      <a:pt x="0" y="28480"/>
                      <a:pt x="0" y="63532"/>
                    </a:cubicBezTo>
                    <a:lnTo>
                      <a:pt x="0" y="446532"/>
                    </a:lnTo>
                    <a:cubicBezTo>
                      <a:pt x="0" y="481584"/>
                      <a:pt x="28480" y="509969"/>
                      <a:pt x="63437" y="509969"/>
                    </a:cubicBezTo>
                    <a:lnTo>
                      <a:pt x="321659" y="509969"/>
                    </a:lnTo>
                    <a:cubicBezTo>
                      <a:pt x="305753" y="501110"/>
                      <a:pt x="291560" y="489680"/>
                      <a:pt x="279368" y="476345"/>
                    </a:cubicBezTo>
                    <a:close/>
                  </a:path>
                </a:pathLst>
              </a:custGeom>
              <a:solidFill>
                <a:srgbClr val="29B5E8"/>
              </a:solidFill>
              <a:ln>
                <a:noFill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rgbClr val="262626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038" name="Google Shape;3045;p95"/>
              <p:cNvSpPr/>
              <p:nvPr/>
            </p:nvSpPr>
            <p:spPr>
              <a:xfrm>
                <a:off x="579512" y="1869256"/>
                <a:ext cx="108204" cy="108203"/>
              </a:xfrm>
              <a:custGeom>
                <a:avLst/>
                <a:gdLst/>
                <a:ahLst/>
                <a:cxnLst/>
                <a:rect l="l" t="t" r="r" b="b"/>
                <a:pathLst>
                  <a:path w="108204" h="108203" extrusionOk="0">
                    <a:moveTo>
                      <a:pt x="83820" y="0"/>
                    </a:moveTo>
                    <a:lnTo>
                      <a:pt x="24384" y="0"/>
                    </a:lnTo>
                    <a:cubicBezTo>
                      <a:pt x="10954" y="0"/>
                      <a:pt x="0" y="10954"/>
                      <a:pt x="0" y="24384"/>
                    </a:cubicBezTo>
                    <a:lnTo>
                      <a:pt x="0" y="83820"/>
                    </a:lnTo>
                    <a:cubicBezTo>
                      <a:pt x="0" y="97250"/>
                      <a:pt x="10954" y="108204"/>
                      <a:pt x="24384" y="108204"/>
                    </a:cubicBezTo>
                    <a:lnTo>
                      <a:pt x="83820" y="108204"/>
                    </a:lnTo>
                    <a:cubicBezTo>
                      <a:pt x="97250" y="108204"/>
                      <a:pt x="108204" y="97250"/>
                      <a:pt x="108204" y="83820"/>
                    </a:cubicBezTo>
                    <a:lnTo>
                      <a:pt x="108204" y="24384"/>
                    </a:lnTo>
                    <a:cubicBezTo>
                      <a:pt x="108204" y="10954"/>
                      <a:pt x="97250" y="0"/>
                      <a:pt x="83820" y="0"/>
                    </a:cubicBezTo>
                    <a:close/>
                    <a:moveTo>
                      <a:pt x="85725" y="83725"/>
                    </a:moveTo>
                    <a:cubicBezTo>
                      <a:pt x="85725" y="84773"/>
                      <a:pt x="84868" y="85630"/>
                      <a:pt x="83820" y="85630"/>
                    </a:cubicBezTo>
                    <a:lnTo>
                      <a:pt x="24384" y="85630"/>
                    </a:lnTo>
                    <a:cubicBezTo>
                      <a:pt x="23336" y="85630"/>
                      <a:pt x="22479" y="84773"/>
                      <a:pt x="22479" y="83725"/>
                    </a:cubicBezTo>
                    <a:lnTo>
                      <a:pt x="22479" y="24289"/>
                    </a:lnTo>
                    <a:cubicBezTo>
                      <a:pt x="22479" y="23241"/>
                      <a:pt x="23336" y="22384"/>
                      <a:pt x="24384" y="22384"/>
                    </a:cubicBezTo>
                    <a:lnTo>
                      <a:pt x="83820" y="22384"/>
                    </a:lnTo>
                    <a:cubicBezTo>
                      <a:pt x="84868" y="22384"/>
                      <a:pt x="85725" y="23241"/>
                      <a:pt x="85725" y="24289"/>
                    </a:cubicBezTo>
                    <a:lnTo>
                      <a:pt x="85725" y="83725"/>
                    </a:lnTo>
                    <a:close/>
                  </a:path>
                </a:pathLst>
              </a:custGeom>
              <a:solidFill>
                <a:srgbClr val="29B5E8"/>
              </a:solidFill>
              <a:ln>
                <a:noFill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rgbClr val="262626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039" name="Google Shape;3046;p95"/>
              <p:cNvSpPr/>
              <p:nvPr/>
            </p:nvSpPr>
            <p:spPr>
              <a:xfrm>
                <a:off x="320432" y="1869256"/>
                <a:ext cx="108203" cy="108203"/>
              </a:xfrm>
              <a:custGeom>
                <a:avLst/>
                <a:gdLst/>
                <a:ahLst/>
                <a:cxnLst/>
                <a:rect l="l" t="t" r="r" b="b"/>
                <a:pathLst>
                  <a:path w="108203" h="108203" extrusionOk="0">
                    <a:moveTo>
                      <a:pt x="83820" y="0"/>
                    </a:moveTo>
                    <a:lnTo>
                      <a:pt x="24384" y="0"/>
                    </a:lnTo>
                    <a:cubicBezTo>
                      <a:pt x="10954" y="0"/>
                      <a:pt x="0" y="10954"/>
                      <a:pt x="0" y="24384"/>
                    </a:cubicBezTo>
                    <a:lnTo>
                      <a:pt x="0" y="83820"/>
                    </a:lnTo>
                    <a:cubicBezTo>
                      <a:pt x="0" y="97250"/>
                      <a:pt x="10954" y="108204"/>
                      <a:pt x="24384" y="108204"/>
                    </a:cubicBezTo>
                    <a:lnTo>
                      <a:pt x="83820" y="108204"/>
                    </a:lnTo>
                    <a:cubicBezTo>
                      <a:pt x="97250" y="108204"/>
                      <a:pt x="108204" y="97250"/>
                      <a:pt x="108204" y="83820"/>
                    </a:cubicBezTo>
                    <a:lnTo>
                      <a:pt x="108204" y="24384"/>
                    </a:lnTo>
                    <a:cubicBezTo>
                      <a:pt x="108204" y="10954"/>
                      <a:pt x="97250" y="0"/>
                      <a:pt x="83820" y="0"/>
                    </a:cubicBezTo>
                    <a:close/>
                    <a:moveTo>
                      <a:pt x="85725" y="83725"/>
                    </a:moveTo>
                    <a:cubicBezTo>
                      <a:pt x="85725" y="84773"/>
                      <a:pt x="84868" y="85630"/>
                      <a:pt x="83820" y="85630"/>
                    </a:cubicBezTo>
                    <a:lnTo>
                      <a:pt x="24384" y="85630"/>
                    </a:lnTo>
                    <a:cubicBezTo>
                      <a:pt x="23336" y="85630"/>
                      <a:pt x="22479" y="84773"/>
                      <a:pt x="22479" y="83725"/>
                    </a:cubicBezTo>
                    <a:lnTo>
                      <a:pt x="22479" y="24289"/>
                    </a:lnTo>
                    <a:cubicBezTo>
                      <a:pt x="22479" y="23241"/>
                      <a:pt x="23336" y="22384"/>
                      <a:pt x="24384" y="22384"/>
                    </a:cubicBezTo>
                    <a:lnTo>
                      <a:pt x="83820" y="22384"/>
                    </a:lnTo>
                    <a:cubicBezTo>
                      <a:pt x="84868" y="22384"/>
                      <a:pt x="85725" y="23241"/>
                      <a:pt x="85725" y="24289"/>
                    </a:cubicBezTo>
                    <a:lnTo>
                      <a:pt x="85725" y="83725"/>
                    </a:lnTo>
                    <a:close/>
                  </a:path>
                </a:pathLst>
              </a:custGeom>
              <a:solidFill>
                <a:srgbClr val="29B5E8"/>
              </a:solidFill>
              <a:ln>
                <a:noFill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rgbClr val="262626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040" name="Google Shape;3047;p95"/>
              <p:cNvSpPr/>
              <p:nvPr/>
            </p:nvSpPr>
            <p:spPr>
              <a:xfrm>
                <a:off x="320432" y="1998034"/>
                <a:ext cx="108203" cy="108013"/>
              </a:xfrm>
              <a:custGeom>
                <a:avLst/>
                <a:gdLst/>
                <a:ahLst/>
                <a:cxnLst/>
                <a:rect l="l" t="t" r="r" b="b"/>
                <a:pathLst>
                  <a:path w="108203" h="108013" extrusionOk="0">
                    <a:moveTo>
                      <a:pt x="83820" y="0"/>
                    </a:moveTo>
                    <a:lnTo>
                      <a:pt x="24384" y="0"/>
                    </a:lnTo>
                    <a:cubicBezTo>
                      <a:pt x="10954" y="0"/>
                      <a:pt x="0" y="10954"/>
                      <a:pt x="0" y="24289"/>
                    </a:cubicBezTo>
                    <a:lnTo>
                      <a:pt x="0" y="83725"/>
                    </a:lnTo>
                    <a:cubicBezTo>
                      <a:pt x="0" y="97060"/>
                      <a:pt x="10954" y="108014"/>
                      <a:pt x="24384" y="108014"/>
                    </a:cubicBezTo>
                    <a:lnTo>
                      <a:pt x="83820" y="108014"/>
                    </a:lnTo>
                    <a:cubicBezTo>
                      <a:pt x="97250" y="108014"/>
                      <a:pt x="108204" y="97060"/>
                      <a:pt x="108204" y="83725"/>
                    </a:cubicBezTo>
                    <a:lnTo>
                      <a:pt x="108204" y="24289"/>
                    </a:lnTo>
                    <a:cubicBezTo>
                      <a:pt x="108204" y="10954"/>
                      <a:pt x="97250" y="0"/>
                      <a:pt x="83820" y="0"/>
                    </a:cubicBezTo>
                    <a:close/>
                    <a:moveTo>
                      <a:pt x="85725" y="83725"/>
                    </a:moveTo>
                    <a:cubicBezTo>
                      <a:pt x="85725" y="84773"/>
                      <a:pt x="84868" y="85630"/>
                      <a:pt x="83820" y="85630"/>
                    </a:cubicBezTo>
                    <a:lnTo>
                      <a:pt x="24384" y="85630"/>
                    </a:lnTo>
                    <a:cubicBezTo>
                      <a:pt x="23336" y="85630"/>
                      <a:pt x="22479" y="84773"/>
                      <a:pt x="22479" y="83725"/>
                    </a:cubicBezTo>
                    <a:lnTo>
                      <a:pt x="22479" y="24289"/>
                    </a:lnTo>
                    <a:cubicBezTo>
                      <a:pt x="22479" y="23241"/>
                      <a:pt x="23336" y="22384"/>
                      <a:pt x="24384" y="22384"/>
                    </a:cubicBezTo>
                    <a:lnTo>
                      <a:pt x="83820" y="22384"/>
                    </a:lnTo>
                    <a:cubicBezTo>
                      <a:pt x="84868" y="22384"/>
                      <a:pt x="85725" y="23241"/>
                      <a:pt x="85725" y="24289"/>
                    </a:cubicBezTo>
                    <a:lnTo>
                      <a:pt x="85725" y="83725"/>
                    </a:lnTo>
                    <a:close/>
                  </a:path>
                </a:pathLst>
              </a:custGeom>
              <a:solidFill>
                <a:srgbClr val="29B5E8"/>
              </a:solidFill>
              <a:ln>
                <a:noFill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rgbClr val="262626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9041" name="Google Shape;3048;p95"/>
            <p:cNvGrpSpPr/>
            <p:nvPr/>
          </p:nvGrpSpPr>
          <p:grpSpPr>
            <a:xfrm>
              <a:off x="524648" y="2033467"/>
              <a:ext cx="254412" cy="252031"/>
              <a:chOff x="524648" y="2033467"/>
              <a:chExt cx="254412" cy="252031"/>
            </a:xfrm>
          </p:grpSpPr>
          <p:sp>
            <p:nvSpPr>
              <p:cNvPr id="9042" name="Google Shape;3049;p95"/>
              <p:cNvSpPr/>
              <p:nvPr/>
            </p:nvSpPr>
            <p:spPr>
              <a:xfrm>
                <a:off x="546651" y="2214157"/>
                <a:ext cx="57245" cy="59721"/>
              </a:xfrm>
              <a:custGeom>
                <a:avLst/>
                <a:gdLst/>
                <a:ahLst/>
                <a:cxnLst/>
                <a:rect l="l" t="t" r="r" b="b"/>
                <a:pathLst>
                  <a:path w="57245" h="59721" extrusionOk="0">
                    <a:moveTo>
                      <a:pt x="11240" y="59722"/>
                    </a:moveTo>
                    <a:cubicBezTo>
                      <a:pt x="5048" y="59722"/>
                      <a:pt x="0" y="54674"/>
                      <a:pt x="0" y="48482"/>
                    </a:cubicBezTo>
                    <a:lnTo>
                      <a:pt x="0" y="11240"/>
                    </a:lnTo>
                    <a:cubicBezTo>
                      <a:pt x="0" y="5048"/>
                      <a:pt x="5048" y="0"/>
                      <a:pt x="11240" y="0"/>
                    </a:cubicBezTo>
                    <a:lnTo>
                      <a:pt x="46006" y="0"/>
                    </a:lnTo>
                    <a:cubicBezTo>
                      <a:pt x="52197" y="0"/>
                      <a:pt x="57245" y="5048"/>
                      <a:pt x="57245" y="11240"/>
                    </a:cubicBezTo>
                    <a:cubicBezTo>
                      <a:pt x="57245" y="17431"/>
                      <a:pt x="52197" y="22479"/>
                      <a:pt x="46006" y="22479"/>
                    </a:cubicBezTo>
                    <a:lnTo>
                      <a:pt x="22479" y="22479"/>
                    </a:lnTo>
                    <a:lnTo>
                      <a:pt x="22479" y="48482"/>
                    </a:lnTo>
                    <a:cubicBezTo>
                      <a:pt x="22479" y="54769"/>
                      <a:pt x="17431" y="59722"/>
                      <a:pt x="11240" y="59722"/>
                    </a:cubicBezTo>
                    <a:close/>
                  </a:path>
                </a:pathLst>
              </a:custGeom>
              <a:solidFill>
                <a:srgbClr val="29B5E8"/>
              </a:solidFill>
              <a:ln>
                <a:noFill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rgbClr val="262626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043" name="Google Shape;3050;p95"/>
              <p:cNvSpPr/>
              <p:nvPr/>
            </p:nvSpPr>
            <p:spPr>
              <a:xfrm>
                <a:off x="561140" y="2110811"/>
                <a:ext cx="217920" cy="174687"/>
              </a:xfrm>
              <a:custGeom>
                <a:avLst/>
                <a:gdLst/>
                <a:ahLst/>
                <a:cxnLst/>
                <a:rect l="l" t="t" r="r" b="b"/>
                <a:pathLst>
                  <a:path w="217920" h="174687" extrusionOk="0">
                    <a:moveTo>
                      <a:pt x="91524" y="174687"/>
                    </a:moveTo>
                    <a:cubicBezTo>
                      <a:pt x="58377" y="174687"/>
                      <a:pt x="27135" y="162019"/>
                      <a:pt x="3418" y="138873"/>
                    </a:cubicBezTo>
                    <a:cubicBezTo>
                      <a:pt x="-1059" y="134587"/>
                      <a:pt x="-1154" y="127443"/>
                      <a:pt x="3227" y="122967"/>
                    </a:cubicBezTo>
                    <a:cubicBezTo>
                      <a:pt x="7514" y="118490"/>
                      <a:pt x="14657" y="118490"/>
                      <a:pt x="19134" y="122681"/>
                    </a:cubicBezTo>
                    <a:cubicBezTo>
                      <a:pt x="38660" y="141731"/>
                      <a:pt x="64378" y="152113"/>
                      <a:pt x="91619" y="152113"/>
                    </a:cubicBezTo>
                    <a:cubicBezTo>
                      <a:pt x="148865" y="152113"/>
                      <a:pt x="195442" y="105536"/>
                      <a:pt x="195442" y="48291"/>
                    </a:cubicBezTo>
                    <a:cubicBezTo>
                      <a:pt x="195442" y="36099"/>
                      <a:pt x="193442" y="23240"/>
                      <a:pt x="190203" y="15525"/>
                    </a:cubicBezTo>
                    <a:cubicBezTo>
                      <a:pt x="187822" y="9810"/>
                      <a:pt x="190584" y="3237"/>
                      <a:pt x="196299" y="856"/>
                    </a:cubicBezTo>
                    <a:cubicBezTo>
                      <a:pt x="202014" y="-1525"/>
                      <a:pt x="208586" y="1237"/>
                      <a:pt x="210968" y="6952"/>
                    </a:cubicBezTo>
                    <a:cubicBezTo>
                      <a:pt x="215349" y="17525"/>
                      <a:pt x="217921" y="32955"/>
                      <a:pt x="217921" y="48291"/>
                    </a:cubicBezTo>
                    <a:cubicBezTo>
                      <a:pt x="217826" y="118014"/>
                      <a:pt x="161152" y="174592"/>
                      <a:pt x="91524" y="174592"/>
                    </a:cubicBezTo>
                    <a:close/>
                  </a:path>
                </a:pathLst>
              </a:custGeom>
              <a:solidFill>
                <a:srgbClr val="29B5E8"/>
              </a:solidFill>
              <a:ln>
                <a:noFill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rgbClr val="262626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044" name="Google Shape;3051;p95"/>
              <p:cNvSpPr/>
              <p:nvPr/>
            </p:nvSpPr>
            <p:spPr>
              <a:xfrm>
                <a:off x="699366" y="2041361"/>
                <a:ext cx="56181" cy="61448"/>
              </a:xfrm>
              <a:custGeom>
                <a:avLst/>
                <a:gdLst/>
                <a:ahLst/>
                <a:cxnLst/>
                <a:rect l="l" t="t" r="r" b="b"/>
                <a:pathLst>
                  <a:path w="56181" h="61448" extrusionOk="0">
                    <a:moveTo>
                      <a:pt x="11210" y="61448"/>
                    </a:moveTo>
                    <a:cubicBezTo>
                      <a:pt x="5780" y="61448"/>
                      <a:pt x="1113" y="57543"/>
                      <a:pt x="161" y="52018"/>
                    </a:cubicBezTo>
                    <a:cubicBezTo>
                      <a:pt x="-887" y="45922"/>
                      <a:pt x="3304" y="40112"/>
                      <a:pt x="9400" y="39160"/>
                    </a:cubicBezTo>
                    <a:lnTo>
                      <a:pt x="33308" y="35159"/>
                    </a:lnTo>
                    <a:lnTo>
                      <a:pt x="32355" y="11728"/>
                    </a:lnTo>
                    <a:cubicBezTo>
                      <a:pt x="32069" y="5536"/>
                      <a:pt x="36927" y="298"/>
                      <a:pt x="43118" y="12"/>
                    </a:cubicBezTo>
                    <a:cubicBezTo>
                      <a:pt x="49310" y="-274"/>
                      <a:pt x="54548" y="4584"/>
                      <a:pt x="54834" y="10775"/>
                    </a:cubicBezTo>
                    <a:lnTo>
                      <a:pt x="56168" y="44017"/>
                    </a:lnTo>
                    <a:cubicBezTo>
                      <a:pt x="56453" y="49637"/>
                      <a:pt x="52358" y="54590"/>
                      <a:pt x="46833" y="55543"/>
                    </a:cubicBezTo>
                    <a:lnTo>
                      <a:pt x="13115" y="61162"/>
                    </a:lnTo>
                    <a:cubicBezTo>
                      <a:pt x="12448" y="61353"/>
                      <a:pt x="11876" y="61448"/>
                      <a:pt x="11210" y="61448"/>
                    </a:cubicBezTo>
                    <a:close/>
                  </a:path>
                </a:pathLst>
              </a:custGeom>
              <a:solidFill>
                <a:srgbClr val="29B5E8"/>
              </a:solidFill>
              <a:ln>
                <a:noFill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rgbClr val="262626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045" name="Google Shape;3052;p95"/>
              <p:cNvSpPr/>
              <p:nvPr/>
            </p:nvSpPr>
            <p:spPr>
              <a:xfrm>
                <a:off x="524648" y="2033467"/>
                <a:ext cx="229379" cy="174307"/>
              </a:xfrm>
              <a:custGeom>
                <a:avLst/>
                <a:gdLst/>
                <a:ahLst/>
                <a:cxnLst/>
                <a:rect l="l" t="t" r="r" b="b"/>
                <a:pathLst>
                  <a:path w="229379" h="174307" extrusionOk="0">
                    <a:moveTo>
                      <a:pt x="17335" y="174307"/>
                    </a:moveTo>
                    <a:cubicBezTo>
                      <a:pt x="13335" y="174307"/>
                      <a:pt x="9430" y="172117"/>
                      <a:pt x="7334" y="168307"/>
                    </a:cubicBezTo>
                    <a:cubicBezTo>
                      <a:pt x="0" y="154305"/>
                      <a:pt x="0" y="127349"/>
                      <a:pt x="0" y="126206"/>
                    </a:cubicBezTo>
                    <a:cubicBezTo>
                      <a:pt x="381" y="56579"/>
                      <a:pt x="57055" y="0"/>
                      <a:pt x="126301" y="0"/>
                    </a:cubicBezTo>
                    <a:cubicBezTo>
                      <a:pt x="157924" y="0"/>
                      <a:pt x="202597" y="15716"/>
                      <a:pt x="226886" y="45720"/>
                    </a:cubicBezTo>
                    <a:cubicBezTo>
                      <a:pt x="230791" y="50482"/>
                      <a:pt x="230029" y="57626"/>
                      <a:pt x="225171" y="61532"/>
                    </a:cubicBezTo>
                    <a:cubicBezTo>
                      <a:pt x="220313" y="65437"/>
                      <a:pt x="213265" y="64675"/>
                      <a:pt x="209360" y="59817"/>
                    </a:cubicBezTo>
                    <a:cubicBezTo>
                      <a:pt x="192119" y="38481"/>
                      <a:pt x="156305" y="22384"/>
                      <a:pt x="126206" y="22384"/>
                    </a:cubicBezTo>
                    <a:cubicBezTo>
                      <a:pt x="69342" y="22384"/>
                      <a:pt x="22669" y="68961"/>
                      <a:pt x="22384" y="126302"/>
                    </a:cubicBezTo>
                    <a:cubicBezTo>
                      <a:pt x="22384" y="135636"/>
                      <a:pt x="23908" y="151829"/>
                      <a:pt x="27146" y="157829"/>
                    </a:cubicBezTo>
                    <a:cubicBezTo>
                      <a:pt x="30004" y="163258"/>
                      <a:pt x="27908" y="170116"/>
                      <a:pt x="22479" y="172974"/>
                    </a:cubicBezTo>
                    <a:cubicBezTo>
                      <a:pt x="20765" y="173831"/>
                      <a:pt x="18955" y="174307"/>
                      <a:pt x="17240" y="174307"/>
                    </a:cubicBezTo>
                    <a:close/>
                  </a:path>
                </a:pathLst>
              </a:custGeom>
              <a:solidFill>
                <a:srgbClr val="29B5E8"/>
              </a:solidFill>
              <a:ln>
                <a:noFill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rgbClr val="262626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9046" name="TextBox 9045"/>
          <p:cNvSpPr txBox="1"/>
          <p:nvPr/>
        </p:nvSpPr>
        <p:spPr>
          <a:xfrm>
            <a:off x="557784" y="1828800"/>
            <a:ext cx="170307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11567F"/>
                </a:solidFill>
                <a:latin typeface="Arial"/>
              </a:rPr>
              <a:t>Dynamic Tables</a:t>
            </a:r>
          </a:p>
        </p:txBody>
      </p:sp>
      <p:sp>
        <p:nvSpPr>
          <p:cNvPr id="9047" name="TextBox 9046"/>
          <p:cNvSpPr txBox="1"/>
          <p:nvPr/>
        </p:nvSpPr>
        <p:spPr>
          <a:xfrm>
            <a:off x="557784" y="2066543"/>
            <a:ext cx="170307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5B5B5B"/>
                </a:solidFill>
                <a:latin typeface="Arial"/>
              </a:rPr>
              <a:t>Keep the unified customer view current</a:t>
            </a:r>
          </a:p>
        </p:txBody>
      </p:sp>
      <p:sp>
        <p:nvSpPr>
          <p:cNvPr id="9048" name="Rounded Rectangle 9047"/>
          <p:cNvSpPr/>
          <p:nvPr/>
        </p:nvSpPr>
        <p:spPr>
          <a:xfrm>
            <a:off x="2526030" y="1417320"/>
            <a:ext cx="1977390" cy="1024128"/>
          </a:xfrm>
          <a:prstGeom prst="roundRect">
            <a:avLst>
              <a:gd name="adj" fmla="val 8000"/>
            </a:avLst>
          </a:prstGeom>
          <a:solidFill>
            <a:srgbClr val="E3ED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pSp>
        <p:nvGrpSpPr>
          <p:cNvPr id="9046" name="Google Shape;4613;p101"/>
          <p:cNvGrpSpPr/>
          <p:nvPr/>
        </p:nvGrpSpPr>
        <p:grpSpPr>
          <a:xfrm>
            <a:off x="2654046" y="1548256"/>
            <a:ext cx="274320" cy="195327"/>
            <a:chOff x="1643600" y="1152475"/>
            <a:chExt cx="4529925" cy="3225500"/>
          </a:xfrm>
        </p:grpSpPr>
        <p:sp>
          <p:nvSpPr>
            <p:cNvPr id="9047" name="Google Shape;4614;p101"/>
            <p:cNvSpPr/>
            <p:nvPr/>
          </p:nvSpPr>
          <p:spPr>
            <a:xfrm>
              <a:off x="3954700" y="1706125"/>
              <a:ext cx="2218825" cy="314625"/>
            </a:xfrm>
            <a:custGeom>
              <a:avLst/>
              <a:gdLst/>
              <a:ahLst/>
              <a:cxnLst/>
              <a:rect l="l" t="t" r="r" b="b"/>
              <a:pathLst>
                <a:path w="88753" h="12585" extrusionOk="0">
                  <a:moveTo>
                    <a:pt x="2181" y="1"/>
                  </a:moveTo>
                  <a:lnTo>
                    <a:pt x="1342" y="169"/>
                  </a:lnTo>
                  <a:lnTo>
                    <a:pt x="168" y="1175"/>
                  </a:lnTo>
                  <a:lnTo>
                    <a:pt x="0" y="2182"/>
                  </a:lnTo>
                  <a:lnTo>
                    <a:pt x="0" y="10571"/>
                  </a:lnTo>
                  <a:lnTo>
                    <a:pt x="168" y="11410"/>
                  </a:lnTo>
                  <a:lnTo>
                    <a:pt x="1342" y="12416"/>
                  </a:lnTo>
                  <a:lnTo>
                    <a:pt x="2181" y="12584"/>
                  </a:lnTo>
                  <a:lnTo>
                    <a:pt x="86572" y="12584"/>
                  </a:lnTo>
                  <a:lnTo>
                    <a:pt x="87411" y="12416"/>
                  </a:lnTo>
                  <a:lnTo>
                    <a:pt x="88585" y="11410"/>
                  </a:lnTo>
                  <a:lnTo>
                    <a:pt x="88753" y="10571"/>
                  </a:lnTo>
                  <a:lnTo>
                    <a:pt x="88753" y="2182"/>
                  </a:lnTo>
                  <a:lnTo>
                    <a:pt x="88585" y="1175"/>
                  </a:lnTo>
                  <a:lnTo>
                    <a:pt x="87411" y="169"/>
                  </a:lnTo>
                  <a:lnTo>
                    <a:pt x="86572" y="1"/>
                  </a:lnTo>
                  <a:close/>
                </a:path>
              </a:pathLst>
            </a:custGeom>
            <a:solidFill>
              <a:srgbClr val="28B5E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rgbClr val="252525"/>
                </a:buClr>
                <a:buSzPts val="1800"/>
                <a:buFont typeface="Arial"/>
                <a:buNone/>
              </a:pPr>
              <a:endParaRPr sz="1800">
                <a:solidFill>
                  <a:srgbClr val="252525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48" name="Google Shape;4615;p101"/>
            <p:cNvSpPr/>
            <p:nvPr/>
          </p:nvSpPr>
          <p:spPr>
            <a:xfrm>
              <a:off x="3954700" y="3539075"/>
              <a:ext cx="2218825" cy="318800"/>
            </a:xfrm>
            <a:custGeom>
              <a:avLst/>
              <a:gdLst/>
              <a:ahLst/>
              <a:cxnLst/>
              <a:rect l="l" t="t" r="r" b="b"/>
              <a:pathLst>
                <a:path w="88753" h="12752" extrusionOk="0">
                  <a:moveTo>
                    <a:pt x="1342" y="0"/>
                  </a:moveTo>
                  <a:lnTo>
                    <a:pt x="168" y="1175"/>
                  </a:lnTo>
                  <a:lnTo>
                    <a:pt x="0" y="2014"/>
                  </a:lnTo>
                  <a:lnTo>
                    <a:pt x="0" y="10570"/>
                  </a:lnTo>
                  <a:lnTo>
                    <a:pt x="168" y="11409"/>
                  </a:lnTo>
                  <a:lnTo>
                    <a:pt x="1342" y="12583"/>
                  </a:lnTo>
                  <a:lnTo>
                    <a:pt x="2181" y="12751"/>
                  </a:lnTo>
                  <a:lnTo>
                    <a:pt x="86572" y="12751"/>
                  </a:lnTo>
                  <a:lnTo>
                    <a:pt x="87411" y="12583"/>
                  </a:lnTo>
                  <a:lnTo>
                    <a:pt x="88585" y="11409"/>
                  </a:lnTo>
                  <a:lnTo>
                    <a:pt x="88753" y="10570"/>
                  </a:lnTo>
                  <a:lnTo>
                    <a:pt x="88753" y="2014"/>
                  </a:lnTo>
                  <a:lnTo>
                    <a:pt x="88585" y="1175"/>
                  </a:lnTo>
                  <a:lnTo>
                    <a:pt x="87411" y="0"/>
                  </a:lnTo>
                  <a:close/>
                </a:path>
              </a:pathLst>
            </a:custGeom>
            <a:solidFill>
              <a:srgbClr val="28B5E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rgbClr val="252525"/>
                </a:buClr>
                <a:buSzPts val="1800"/>
                <a:buFont typeface="Arial"/>
                <a:buNone/>
              </a:pPr>
              <a:endParaRPr sz="1800">
                <a:solidFill>
                  <a:srgbClr val="252525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49" name="Google Shape;4616;p101"/>
            <p:cNvSpPr/>
            <p:nvPr/>
          </p:nvSpPr>
          <p:spPr>
            <a:xfrm>
              <a:off x="1643600" y="3144800"/>
              <a:ext cx="1807800" cy="1233175"/>
            </a:xfrm>
            <a:custGeom>
              <a:avLst/>
              <a:gdLst/>
              <a:ahLst/>
              <a:cxnLst/>
              <a:rect l="l" t="t" r="r" b="b"/>
              <a:pathLst>
                <a:path w="72312" h="49327" extrusionOk="0">
                  <a:moveTo>
                    <a:pt x="62916" y="1"/>
                  </a:moveTo>
                  <a:lnTo>
                    <a:pt x="62245" y="504"/>
                  </a:lnTo>
                  <a:lnTo>
                    <a:pt x="27180" y="32549"/>
                  </a:lnTo>
                  <a:lnTo>
                    <a:pt x="26677" y="32884"/>
                  </a:lnTo>
                  <a:lnTo>
                    <a:pt x="25167" y="33052"/>
                  </a:lnTo>
                  <a:lnTo>
                    <a:pt x="24496" y="32549"/>
                  </a:lnTo>
                  <a:lnTo>
                    <a:pt x="8725" y="20301"/>
                  </a:lnTo>
                  <a:lnTo>
                    <a:pt x="7886" y="19798"/>
                  </a:lnTo>
                  <a:lnTo>
                    <a:pt x="6376" y="19966"/>
                  </a:lnTo>
                  <a:lnTo>
                    <a:pt x="5705" y="20637"/>
                  </a:lnTo>
                  <a:lnTo>
                    <a:pt x="336" y="27348"/>
                  </a:lnTo>
                  <a:lnTo>
                    <a:pt x="1" y="28019"/>
                  </a:lnTo>
                  <a:lnTo>
                    <a:pt x="168" y="29529"/>
                  </a:lnTo>
                  <a:lnTo>
                    <a:pt x="672" y="30200"/>
                  </a:lnTo>
                  <a:lnTo>
                    <a:pt x="21643" y="47648"/>
                  </a:lnTo>
                  <a:lnTo>
                    <a:pt x="22818" y="48487"/>
                  </a:lnTo>
                  <a:lnTo>
                    <a:pt x="25335" y="49326"/>
                  </a:lnTo>
                  <a:lnTo>
                    <a:pt x="27851" y="49326"/>
                  </a:lnTo>
                  <a:lnTo>
                    <a:pt x="30368" y="48320"/>
                  </a:lnTo>
                  <a:lnTo>
                    <a:pt x="31374" y="47481"/>
                  </a:lnTo>
                  <a:lnTo>
                    <a:pt x="71808" y="10235"/>
                  </a:lnTo>
                  <a:lnTo>
                    <a:pt x="72311" y="9564"/>
                  </a:lnTo>
                  <a:lnTo>
                    <a:pt x="72311" y="7886"/>
                  </a:lnTo>
                  <a:lnTo>
                    <a:pt x="71808" y="7215"/>
                  </a:lnTo>
                  <a:lnTo>
                    <a:pt x="65097" y="504"/>
                  </a:lnTo>
                  <a:lnTo>
                    <a:pt x="64426" y="1"/>
                  </a:lnTo>
                  <a:close/>
                </a:path>
              </a:pathLst>
            </a:custGeom>
            <a:solidFill>
              <a:srgbClr val="28B5E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rgbClr val="252525"/>
                </a:buClr>
                <a:buSzPts val="1800"/>
                <a:buFont typeface="Arial"/>
                <a:buNone/>
              </a:pPr>
              <a:endParaRPr sz="1800">
                <a:solidFill>
                  <a:srgbClr val="252525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50" name="Google Shape;4617;p101"/>
            <p:cNvSpPr/>
            <p:nvPr/>
          </p:nvSpPr>
          <p:spPr>
            <a:xfrm>
              <a:off x="1643600" y="1152475"/>
              <a:ext cx="1807800" cy="1233175"/>
            </a:xfrm>
            <a:custGeom>
              <a:avLst/>
              <a:gdLst/>
              <a:ahLst/>
              <a:cxnLst/>
              <a:rect l="l" t="t" r="r" b="b"/>
              <a:pathLst>
                <a:path w="72312" h="49327" extrusionOk="0">
                  <a:moveTo>
                    <a:pt x="62916" y="1"/>
                  </a:moveTo>
                  <a:lnTo>
                    <a:pt x="62245" y="504"/>
                  </a:lnTo>
                  <a:lnTo>
                    <a:pt x="27180" y="32549"/>
                  </a:lnTo>
                  <a:lnTo>
                    <a:pt x="26677" y="32885"/>
                  </a:lnTo>
                  <a:lnTo>
                    <a:pt x="25167" y="33052"/>
                  </a:lnTo>
                  <a:lnTo>
                    <a:pt x="24496" y="32549"/>
                  </a:lnTo>
                  <a:lnTo>
                    <a:pt x="8725" y="20301"/>
                  </a:lnTo>
                  <a:lnTo>
                    <a:pt x="7886" y="19798"/>
                  </a:lnTo>
                  <a:lnTo>
                    <a:pt x="6376" y="19966"/>
                  </a:lnTo>
                  <a:lnTo>
                    <a:pt x="5705" y="20637"/>
                  </a:lnTo>
                  <a:lnTo>
                    <a:pt x="336" y="27348"/>
                  </a:lnTo>
                  <a:lnTo>
                    <a:pt x="1" y="28019"/>
                  </a:lnTo>
                  <a:lnTo>
                    <a:pt x="168" y="29529"/>
                  </a:lnTo>
                  <a:lnTo>
                    <a:pt x="672" y="30200"/>
                  </a:lnTo>
                  <a:lnTo>
                    <a:pt x="21643" y="47649"/>
                  </a:lnTo>
                  <a:lnTo>
                    <a:pt x="22818" y="48488"/>
                  </a:lnTo>
                  <a:lnTo>
                    <a:pt x="25335" y="49326"/>
                  </a:lnTo>
                  <a:lnTo>
                    <a:pt x="27851" y="49326"/>
                  </a:lnTo>
                  <a:lnTo>
                    <a:pt x="30368" y="48320"/>
                  </a:lnTo>
                  <a:lnTo>
                    <a:pt x="31374" y="47481"/>
                  </a:lnTo>
                  <a:lnTo>
                    <a:pt x="71808" y="10235"/>
                  </a:lnTo>
                  <a:lnTo>
                    <a:pt x="72311" y="9564"/>
                  </a:lnTo>
                  <a:lnTo>
                    <a:pt x="72311" y="7886"/>
                  </a:lnTo>
                  <a:lnTo>
                    <a:pt x="71808" y="7215"/>
                  </a:lnTo>
                  <a:lnTo>
                    <a:pt x="65097" y="504"/>
                  </a:lnTo>
                  <a:lnTo>
                    <a:pt x="64426" y="1"/>
                  </a:lnTo>
                  <a:close/>
                </a:path>
              </a:pathLst>
            </a:custGeom>
            <a:solidFill>
              <a:srgbClr val="28B5E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rgbClr val="252525"/>
                </a:buClr>
                <a:buSzPts val="1800"/>
                <a:buFont typeface="Arial"/>
                <a:buNone/>
              </a:pPr>
              <a:endParaRPr sz="1800">
                <a:solidFill>
                  <a:srgbClr val="252525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9051" name="TextBox 9050"/>
          <p:cNvSpPr txBox="1"/>
          <p:nvPr/>
        </p:nvSpPr>
        <p:spPr>
          <a:xfrm>
            <a:off x="2672334" y="1828800"/>
            <a:ext cx="170307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11567F"/>
                </a:solidFill>
                <a:latin typeface="Arial"/>
              </a:rPr>
              <a:t>Streams &amp; Tasks</a:t>
            </a:r>
          </a:p>
        </p:txBody>
      </p:sp>
      <p:sp>
        <p:nvSpPr>
          <p:cNvPr id="9052" name="TextBox 9051"/>
          <p:cNvSpPr txBox="1"/>
          <p:nvPr/>
        </p:nvSpPr>
        <p:spPr>
          <a:xfrm>
            <a:off x="2672334" y="2066543"/>
            <a:ext cx="170307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5B5B5B"/>
                </a:solidFill>
                <a:latin typeface="Arial"/>
              </a:rPr>
              <a:t>Detect change and run the pipeline on schedule</a:t>
            </a:r>
          </a:p>
        </p:txBody>
      </p:sp>
      <p:sp>
        <p:nvSpPr>
          <p:cNvPr id="9053" name="Rounded Rectangle 9052"/>
          <p:cNvSpPr/>
          <p:nvPr/>
        </p:nvSpPr>
        <p:spPr>
          <a:xfrm>
            <a:off x="4640580" y="1417320"/>
            <a:ext cx="1977390" cy="1024128"/>
          </a:xfrm>
          <a:prstGeom prst="roundRect">
            <a:avLst>
              <a:gd name="adj" fmla="val 8000"/>
            </a:avLst>
          </a:prstGeom>
          <a:solidFill>
            <a:srgbClr val="E3ED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51" name="Google Shape;3191;p95"/>
          <p:cNvSpPr/>
          <p:nvPr/>
        </p:nvSpPr>
        <p:spPr>
          <a:xfrm>
            <a:off x="4768596" y="1526924"/>
            <a:ext cx="274320" cy="237992"/>
          </a:xfrm>
          <a:custGeom>
            <a:avLst/>
            <a:gdLst/>
            <a:ahLst/>
            <a:cxnLst/>
            <a:rect l="l" t="t" r="r" b="b"/>
            <a:pathLst>
              <a:path w="530148" h="459942" extrusionOk="0">
                <a:moveTo>
                  <a:pt x="332042" y="28650"/>
                </a:moveTo>
                <a:cubicBezTo>
                  <a:pt x="311468" y="-9069"/>
                  <a:pt x="257556" y="-9640"/>
                  <a:pt x="236030" y="27507"/>
                </a:cubicBezTo>
                <a:lnTo>
                  <a:pt x="207074" y="77609"/>
                </a:lnTo>
                <a:lnTo>
                  <a:pt x="149543" y="100088"/>
                </a:lnTo>
                <a:cubicBezTo>
                  <a:pt x="146018" y="101421"/>
                  <a:pt x="144209" y="105422"/>
                  <a:pt x="145637" y="109041"/>
                </a:cubicBezTo>
                <a:lnTo>
                  <a:pt x="149447" y="118757"/>
                </a:lnTo>
                <a:cubicBezTo>
                  <a:pt x="150781" y="122281"/>
                  <a:pt x="154781" y="124091"/>
                  <a:pt x="158401" y="122662"/>
                </a:cubicBezTo>
                <a:lnTo>
                  <a:pt x="187833" y="111232"/>
                </a:lnTo>
                <a:lnTo>
                  <a:pt x="138398" y="196862"/>
                </a:lnTo>
                <a:lnTo>
                  <a:pt x="118110" y="196862"/>
                </a:lnTo>
                <a:lnTo>
                  <a:pt x="118110" y="182860"/>
                </a:lnTo>
                <a:cubicBezTo>
                  <a:pt x="133922" y="177716"/>
                  <a:pt x="145352" y="162857"/>
                  <a:pt x="145352" y="145427"/>
                </a:cubicBezTo>
                <a:cubicBezTo>
                  <a:pt x="145352" y="123710"/>
                  <a:pt x="127730" y="106088"/>
                  <a:pt x="106013" y="106088"/>
                </a:cubicBezTo>
                <a:cubicBezTo>
                  <a:pt x="89726" y="106088"/>
                  <a:pt x="75819" y="115899"/>
                  <a:pt x="69818" y="129996"/>
                </a:cubicBezTo>
                <a:lnTo>
                  <a:pt x="32576" y="143807"/>
                </a:lnTo>
                <a:cubicBezTo>
                  <a:pt x="29051" y="145141"/>
                  <a:pt x="27146" y="149046"/>
                  <a:pt x="28480" y="152666"/>
                </a:cubicBezTo>
                <a:lnTo>
                  <a:pt x="32099" y="162476"/>
                </a:lnTo>
                <a:cubicBezTo>
                  <a:pt x="33433" y="166001"/>
                  <a:pt x="37338" y="167906"/>
                  <a:pt x="40957" y="166572"/>
                </a:cubicBezTo>
                <a:lnTo>
                  <a:pt x="68199" y="156476"/>
                </a:lnTo>
                <a:cubicBezTo>
                  <a:pt x="71818" y="169049"/>
                  <a:pt x="81534" y="178955"/>
                  <a:pt x="93917" y="182955"/>
                </a:cubicBezTo>
                <a:lnTo>
                  <a:pt x="93917" y="196957"/>
                </a:lnTo>
                <a:lnTo>
                  <a:pt x="30289" y="196957"/>
                </a:lnTo>
                <a:cubicBezTo>
                  <a:pt x="13526" y="196957"/>
                  <a:pt x="0" y="210482"/>
                  <a:pt x="0" y="227246"/>
                </a:cubicBezTo>
                <a:lnTo>
                  <a:pt x="0" y="348404"/>
                </a:lnTo>
                <a:cubicBezTo>
                  <a:pt x="0" y="365168"/>
                  <a:pt x="13526" y="378694"/>
                  <a:pt x="30289" y="378694"/>
                </a:cubicBezTo>
                <a:lnTo>
                  <a:pt x="33528" y="378694"/>
                </a:lnTo>
                <a:cubicBezTo>
                  <a:pt x="13811" y="415175"/>
                  <a:pt x="40100" y="459942"/>
                  <a:pt x="82010" y="459942"/>
                </a:cubicBezTo>
                <a:lnTo>
                  <a:pt x="475012" y="459942"/>
                </a:lnTo>
                <a:cubicBezTo>
                  <a:pt x="516827" y="459942"/>
                  <a:pt x="543401" y="415175"/>
                  <a:pt x="523304" y="378503"/>
                </a:cubicBezTo>
                <a:lnTo>
                  <a:pt x="332042" y="28650"/>
                </a:lnTo>
                <a:close/>
                <a:moveTo>
                  <a:pt x="81058" y="378599"/>
                </a:moveTo>
                <a:lnTo>
                  <a:pt x="69914" y="397839"/>
                </a:lnTo>
                <a:cubicBezTo>
                  <a:pt x="64580" y="406983"/>
                  <a:pt x="71247" y="418508"/>
                  <a:pt x="81820" y="418508"/>
                </a:cubicBezTo>
                <a:lnTo>
                  <a:pt x="474821" y="418508"/>
                </a:lnTo>
                <a:cubicBezTo>
                  <a:pt x="485299" y="418508"/>
                  <a:pt x="491871" y="407269"/>
                  <a:pt x="486918" y="398125"/>
                </a:cubicBezTo>
                <a:lnTo>
                  <a:pt x="368046" y="180669"/>
                </a:lnTo>
                <a:lnTo>
                  <a:pt x="365760" y="182479"/>
                </a:lnTo>
                <a:cubicBezTo>
                  <a:pt x="344519" y="199814"/>
                  <a:pt x="312992" y="196004"/>
                  <a:pt x="296609" y="173906"/>
                </a:cubicBezTo>
                <a:lnTo>
                  <a:pt x="283559" y="156476"/>
                </a:lnTo>
                <a:cubicBezTo>
                  <a:pt x="281654" y="153999"/>
                  <a:pt x="278416" y="153047"/>
                  <a:pt x="275463" y="154190"/>
                </a:cubicBezTo>
                <a:lnTo>
                  <a:pt x="190976" y="188003"/>
                </a:lnTo>
                <a:lnTo>
                  <a:pt x="185833" y="196862"/>
                </a:lnTo>
                <a:lnTo>
                  <a:pt x="211741" y="196862"/>
                </a:lnTo>
                <a:cubicBezTo>
                  <a:pt x="228505" y="196862"/>
                  <a:pt x="242030" y="210387"/>
                  <a:pt x="242030" y="227151"/>
                </a:cubicBezTo>
                <a:lnTo>
                  <a:pt x="242030" y="348309"/>
                </a:lnTo>
                <a:cubicBezTo>
                  <a:pt x="242030" y="365073"/>
                  <a:pt x="228505" y="378599"/>
                  <a:pt x="211741" y="378599"/>
                </a:cubicBezTo>
                <a:lnTo>
                  <a:pt x="80962" y="378599"/>
                </a:lnTo>
                <a:close/>
                <a:moveTo>
                  <a:pt x="271748" y="48176"/>
                </a:moveTo>
                <a:cubicBezTo>
                  <a:pt x="277082" y="38842"/>
                  <a:pt x="290608" y="39032"/>
                  <a:pt x="295751" y="48462"/>
                </a:cubicBezTo>
                <a:lnTo>
                  <a:pt x="347853" y="143712"/>
                </a:lnTo>
                <a:lnTo>
                  <a:pt x="339662" y="150475"/>
                </a:lnTo>
                <a:cubicBezTo>
                  <a:pt x="336614" y="152951"/>
                  <a:pt x="332137" y="152380"/>
                  <a:pt x="329756" y="149237"/>
                </a:cubicBezTo>
                <a:lnTo>
                  <a:pt x="316706" y="131806"/>
                </a:lnTo>
                <a:cubicBezTo>
                  <a:pt x="303657" y="114280"/>
                  <a:pt x="280416" y="107708"/>
                  <a:pt x="260128" y="115804"/>
                </a:cubicBezTo>
                <a:lnTo>
                  <a:pt x="224409" y="130091"/>
                </a:lnTo>
                <a:lnTo>
                  <a:pt x="271748" y="48081"/>
                </a:lnTo>
                <a:close/>
                <a:moveTo>
                  <a:pt x="105823" y="160476"/>
                </a:moveTo>
                <a:cubicBezTo>
                  <a:pt x="114205" y="160476"/>
                  <a:pt x="120967" y="153713"/>
                  <a:pt x="120967" y="145331"/>
                </a:cubicBezTo>
                <a:cubicBezTo>
                  <a:pt x="120967" y="136949"/>
                  <a:pt x="114205" y="130187"/>
                  <a:pt x="105823" y="130187"/>
                </a:cubicBezTo>
                <a:cubicBezTo>
                  <a:pt x="97441" y="130187"/>
                  <a:pt x="90678" y="136949"/>
                  <a:pt x="90678" y="145331"/>
                </a:cubicBezTo>
                <a:cubicBezTo>
                  <a:pt x="90678" y="153713"/>
                  <a:pt x="97441" y="160476"/>
                  <a:pt x="105823" y="160476"/>
                </a:cubicBezTo>
                <a:close/>
                <a:moveTo>
                  <a:pt x="142399" y="246392"/>
                </a:moveTo>
                <a:cubicBezTo>
                  <a:pt x="142399" y="250202"/>
                  <a:pt x="139351" y="253250"/>
                  <a:pt x="135541" y="253250"/>
                </a:cubicBezTo>
                <a:lnTo>
                  <a:pt x="46101" y="253250"/>
                </a:lnTo>
                <a:cubicBezTo>
                  <a:pt x="42291" y="253250"/>
                  <a:pt x="39243" y="250202"/>
                  <a:pt x="39243" y="246392"/>
                </a:cubicBezTo>
                <a:lnTo>
                  <a:pt x="39243" y="239534"/>
                </a:lnTo>
                <a:cubicBezTo>
                  <a:pt x="39243" y="235724"/>
                  <a:pt x="42291" y="232676"/>
                  <a:pt x="46101" y="232676"/>
                </a:cubicBezTo>
                <a:lnTo>
                  <a:pt x="135541" y="232676"/>
                </a:lnTo>
                <a:cubicBezTo>
                  <a:pt x="139351" y="232676"/>
                  <a:pt x="142399" y="235724"/>
                  <a:pt x="142399" y="239534"/>
                </a:cubicBezTo>
                <a:lnTo>
                  <a:pt x="142399" y="246392"/>
                </a:lnTo>
                <a:close/>
                <a:moveTo>
                  <a:pt x="204407" y="287730"/>
                </a:moveTo>
                <a:cubicBezTo>
                  <a:pt x="204407" y="291540"/>
                  <a:pt x="201359" y="294588"/>
                  <a:pt x="197549" y="294588"/>
                </a:cubicBezTo>
                <a:lnTo>
                  <a:pt x="66770" y="294588"/>
                </a:lnTo>
                <a:cubicBezTo>
                  <a:pt x="62960" y="294588"/>
                  <a:pt x="59912" y="291540"/>
                  <a:pt x="59912" y="287730"/>
                </a:cubicBezTo>
                <a:lnTo>
                  <a:pt x="59912" y="280872"/>
                </a:lnTo>
                <a:cubicBezTo>
                  <a:pt x="59912" y="277062"/>
                  <a:pt x="62960" y="274014"/>
                  <a:pt x="66770" y="274014"/>
                </a:cubicBezTo>
                <a:lnTo>
                  <a:pt x="197549" y="274014"/>
                </a:lnTo>
                <a:cubicBezTo>
                  <a:pt x="201359" y="274014"/>
                  <a:pt x="204407" y="277062"/>
                  <a:pt x="204407" y="280872"/>
                </a:cubicBezTo>
                <a:lnTo>
                  <a:pt x="204407" y="287730"/>
                </a:lnTo>
                <a:close/>
                <a:moveTo>
                  <a:pt x="197453" y="335927"/>
                </a:moveTo>
                <a:cubicBezTo>
                  <a:pt x="201263" y="335927"/>
                  <a:pt x="204311" y="332879"/>
                  <a:pt x="204311" y="329069"/>
                </a:cubicBezTo>
                <a:lnTo>
                  <a:pt x="204311" y="322211"/>
                </a:lnTo>
                <a:cubicBezTo>
                  <a:pt x="204311" y="318401"/>
                  <a:pt x="201263" y="315353"/>
                  <a:pt x="197453" y="315353"/>
                </a:cubicBezTo>
                <a:lnTo>
                  <a:pt x="66675" y="315353"/>
                </a:lnTo>
                <a:cubicBezTo>
                  <a:pt x="62865" y="315353"/>
                  <a:pt x="59817" y="318401"/>
                  <a:pt x="59817" y="322211"/>
                </a:cubicBezTo>
                <a:lnTo>
                  <a:pt x="59817" y="329069"/>
                </a:lnTo>
                <a:cubicBezTo>
                  <a:pt x="59817" y="332879"/>
                  <a:pt x="62865" y="335927"/>
                  <a:pt x="66675" y="335927"/>
                </a:cubicBezTo>
                <a:lnTo>
                  <a:pt x="197453" y="335927"/>
                </a:lnTo>
                <a:close/>
              </a:path>
            </a:pathLst>
          </a:custGeom>
          <a:solidFill>
            <a:srgbClr val="29B5E8"/>
          </a:solidFill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rgbClr val="26262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54" name="TextBox 9053"/>
          <p:cNvSpPr txBox="1"/>
          <p:nvPr/>
        </p:nvSpPr>
        <p:spPr>
          <a:xfrm>
            <a:off x="4786884" y="1828800"/>
            <a:ext cx="170307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11567F"/>
                </a:solidFill>
                <a:latin typeface="Arial"/>
              </a:rPr>
              <a:t>Snowpark Python</a:t>
            </a:r>
          </a:p>
        </p:txBody>
      </p:sp>
      <p:sp>
        <p:nvSpPr>
          <p:cNvPr id="9055" name="TextBox 9054"/>
          <p:cNvSpPr txBox="1"/>
          <p:nvPr/>
        </p:nvSpPr>
        <p:spPr>
          <a:xfrm>
            <a:off x="4786884" y="2066543"/>
            <a:ext cx="170307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5B5B5B"/>
                </a:solidFill>
                <a:latin typeface="Arial"/>
              </a:rPr>
              <a:t>Portfolio-wide scoring and signal discovery</a:t>
            </a:r>
          </a:p>
        </p:txBody>
      </p:sp>
      <p:sp>
        <p:nvSpPr>
          <p:cNvPr id="9056" name="Rounded Rectangle 9055"/>
          <p:cNvSpPr/>
          <p:nvPr/>
        </p:nvSpPr>
        <p:spPr>
          <a:xfrm>
            <a:off x="6755130" y="1417320"/>
            <a:ext cx="1977390" cy="1024128"/>
          </a:xfrm>
          <a:prstGeom prst="roundRect">
            <a:avLst>
              <a:gd name="adj" fmla="val 8000"/>
            </a:avLst>
          </a:prstGeom>
          <a:solidFill>
            <a:srgbClr val="FFF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pSp>
        <p:nvGrpSpPr>
          <p:cNvPr id="9052" name="Google Shape;4286;p99"/>
          <p:cNvGrpSpPr/>
          <p:nvPr/>
        </p:nvGrpSpPr>
        <p:grpSpPr>
          <a:xfrm>
            <a:off x="6883146" y="1539816"/>
            <a:ext cx="274320" cy="212207"/>
            <a:chOff x="1974786" y="319913"/>
            <a:chExt cx="519112" cy="401574"/>
          </a:xfrm>
        </p:grpSpPr>
        <p:sp>
          <p:nvSpPr>
            <p:cNvPr id="9053" name="Google Shape;4287;p99"/>
            <p:cNvSpPr/>
            <p:nvPr/>
          </p:nvSpPr>
          <p:spPr>
            <a:xfrm>
              <a:off x="1974786" y="319913"/>
              <a:ext cx="161067" cy="401574"/>
            </a:xfrm>
            <a:custGeom>
              <a:avLst/>
              <a:gdLst/>
              <a:ahLst/>
              <a:cxnLst/>
              <a:rect l="l" t="t" r="r" b="b"/>
              <a:pathLst>
                <a:path w="161067" h="401574" extrusionOk="0">
                  <a:moveTo>
                    <a:pt x="142018" y="363474"/>
                  </a:moveTo>
                  <a:lnTo>
                    <a:pt x="128207" y="363474"/>
                  </a:lnTo>
                  <a:cubicBezTo>
                    <a:pt x="107823" y="363474"/>
                    <a:pt x="91345" y="346901"/>
                    <a:pt x="91345" y="326612"/>
                  </a:cubicBezTo>
                  <a:lnTo>
                    <a:pt x="91345" y="269462"/>
                  </a:lnTo>
                  <a:cubicBezTo>
                    <a:pt x="91345" y="242316"/>
                    <a:pt x="79248" y="217456"/>
                    <a:pt x="59531" y="200787"/>
                  </a:cubicBezTo>
                  <a:cubicBezTo>
                    <a:pt x="79248" y="184118"/>
                    <a:pt x="91345" y="159258"/>
                    <a:pt x="91345" y="132112"/>
                  </a:cubicBezTo>
                  <a:lnTo>
                    <a:pt x="91345" y="74962"/>
                  </a:lnTo>
                  <a:cubicBezTo>
                    <a:pt x="91345" y="54578"/>
                    <a:pt x="107918" y="38100"/>
                    <a:pt x="128207" y="38100"/>
                  </a:cubicBezTo>
                  <a:lnTo>
                    <a:pt x="142018" y="38100"/>
                  </a:lnTo>
                  <a:cubicBezTo>
                    <a:pt x="152495" y="38100"/>
                    <a:pt x="161068" y="29528"/>
                    <a:pt x="161068" y="19050"/>
                  </a:cubicBezTo>
                  <a:cubicBezTo>
                    <a:pt x="161068" y="8572"/>
                    <a:pt x="152495" y="0"/>
                    <a:pt x="142018" y="0"/>
                  </a:cubicBezTo>
                  <a:lnTo>
                    <a:pt x="128207" y="0"/>
                  </a:lnTo>
                  <a:cubicBezTo>
                    <a:pt x="86868" y="0"/>
                    <a:pt x="53245" y="33623"/>
                    <a:pt x="53245" y="74962"/>
                  </a:cubicBezTo>
                  <a:lnTo>
                    <a:pt x="53245" y="132112"/>
                  </a:lnTo>
                  <a:cubicBezTo>
                    <a:pt x="53245" y="155829"/>
                    <a:pt x="37243" y="176403"/>
                    <a:pt x="14288" y="182309"/>
                  </a:cubicBezTo>
                  <a:cubicBezTo>
                    <a:pt x="5906" y="184499"/>
                    <a:pt x="0" y="192024"/>
                    <a:pt x="0" y="200787"/>
                  </a:cubicBezTo>
                  <a:cubicBezTo>
                    <a:pt x="0" y="209550"/>
                    <a:pt x="5906" y="217075"/>
                    <a:pt x="14288" y="219265"/>
                  </a:cubicBezTo>
                  <a:cubicBezTo>
                    <a:pt x="37243" y="225171"/>
                    <a:pt x="53245" y="245840"/>
                    <a:pt x="53245" y="269462"/>
                  </a:cubicBezTo>
                  <a:lnTo>
                    <a:pt x="53245" y="326612"/>
                  </a:lnTo>
                  <a:cubicBezTo>
                    <a:pt x="53245" y="367951"/>
                    <a:pt x="86868" y="401574"/>
                    <a:pt x="128207" y="401574"/>
                  </a:cubicBezTo>
                  <a:lnTo>
                    <a:pt x="142018" y="401574"/>
                  </a:lnTo>
                  <a:cubicBezTo>
                    <a:pt x="152495" y="401574"/>
                    <a:pt x="161068" y="393002"/>
                    <a:pt x="161068" y="382524"/>
                  </a:cubicBezTo>
                  <a:cubicBezTo>
                    <a:pt x="161068" y="372047"/>
                    <a:pt x="152495" y="363474"/>
                    <a:pt x="142018" y="363474"/>
                  </a:cubicBezTo>
                  <a:close/>
                </a:path>
              </a:pathLst>
            </a:custGeom>
            <a:solidFill>
              <a:srgbClr val="29B5E8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54" name="Google Shape;4288;p99"/>
            <p:cNvSpPr/>
            <p:nvPr/>
          </p:nvSpPr>
          <p:spPr>
            <a:xfrm>
              <a:off x="2332831" y="319913"/>
              <a:ext cx="161067" cy="401574"/>
            </a:xfrm>
            <a:custGeom>
              <a:avLst/>
              <a:gdLst/>
              <a:ahLst/>
              <a:cxnLst/>
              <a:rect l="l" t="t" r="r" b="b"/>
              <a:pathLst>
                <a:path w="161067" h="401574" extrusionOk="0">
                  <a:moveTo>
                    <a:pt x="146780" y="182309"/>
                  </a:moveTo>
                  <a:cubicBezTo>
                    <a:pt x="123825" y="176403"/>
                    <a:pt x="107823" y="155734"/>
                    <a:pt x="107823" y="132112"/>
                  </a:cubicBezTo>
                  <a:lnTo>
                    <a:pt x="107823" y="74962"/>
                  </a:lnTo>
                  <a:cubicBezTo>
                    <a:pt x="107823" y="33623"/>
                    <a:pt x="74200" y="0"/>
                    <a:pt x="32861" y="0"/>
                  </a:cubicBezTo>
                  <a:lnTo>
                    <a:pt x="19050" y="0"/>
                  </a:lnTo>
                  <a:cubicBezTo>
                    <a:pt x="8573" y="0"/>
                    <a:pt x="0" y="8572"/>
                    <a:pt x="0" y="19050"/>
                  </a:cubicBezTo>
                  <a:cubicBezTo>
                    <a:pt x="0" y="29528"/>
                    <a:pt x="8573" y="38100"/>
                    <a:pt x="19050" y="38100"/>
                  </a:cubicBezTo>
                  <a:lnTo>
                    <a:pt x="32861" y="38100"/>
                  </a:lnTo>
                  <a:cubicBezTo>
                    <a:pt x="53245" y="38100"/>
                    <a:pt x="69723" y="54673"/>
                    <a:pt x="69723" y="74962"/>
                  </a:cubicBezTo>
                  <a:lnTo>
                    <a:pt x="69723" y="132112"/>
                  </a:lnTo>
                  <a:cubicBezTo>
                    <a:pt x="69723" y="159258"/>
                    <a:pt x="81820" y="184118"/>
                    <a:pt x="101537" y="200787"/>
                  </a:cubicBezTo>
                  <a:cubicBezTo>
                    <a:pt x="81820" y="217456"/>
                    <a:pt x="69723" y="242316"/>
                    <a:pt x="69723" y="269462"/>
                  </a:cubicBezTo>
                  <a:lnTo>
                    <a:pt x="69723" y="326612"/>
                  </a:lnTo>
                  <a:cubicBezTo>
                    <a:pt x="69723" y="346996"/>
                    <a:pt x="53150" y="363474"/>
                    <a:pt x="32861" y="363474"/>
                  </a:cubicBezTo>
                  <a:lnTo>
                    <a:pt x="19050" y="363474"/>
                  </a:lnTo>
                  <a:cubicBezTo>
                    <a:pt x="8573" y="363474"/>
                    <a:pt x="0" y="372047"/>
                    <a:pt x="0" y="382524"/>
                  </a:cubicBezTo>
                  <a:cubicBezTo>
                    <a:pt x="0" y="393002"/>
                    <a:pt x="8573" y="401574"/>
                    <a:pt x="19050" y="401574"/>
                  </a:cubicBezTo>
                  <a:lnTo>
                    <a:pt x="32861" y="401574"/>
                  </a:lnTo>
                  <a:cubicBezTo>
                    <a:pt x="74200" y="401574"/>
                    <a:pt x="107823" y="367951"/>
                    <a:pt x="107823" y="326612"/>
                  </a:cubicBezTo>
                  <a:lnTo>
                    <a:pt x="107823" y="269462"/>
                  </a:lnTo>
                  <a:cubicBezTo>
                    <a:pt x="107823" y="245745"/>
                    <a:pt x="123825" y="225171"/>
                    <a:pt x="146780" y="219265"/>
                  </a:cubicBezTo>
                  <a:cubicBezTo>
                    <a:pt x="155162" y="217075"/>
                    <a:pt x="161068" y="209550"/>
                    <a:pt x="161068" y="200787"/>
                  </a:cubicBezTo>
                  <a:cubicBezTo>
                    <a:pt x="161068" y="192024"/>
                    <a:pt x="155162" y="184499"/>
                    <a:pt x="146780" y="182309"/>
                  </a:cubicBezTo>
                  <a:close/>
                </a:path>
              </a:pathLst>
            </a:custGeom>
            <a:solidFill>
              <a:srgbClr val="29B5E8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55" name="Google Shape;4289;p99"/>
            <p:cNvSpPr/>
            <p:nvPr/>
          </p:nvSpPr>
          <p:spPr>
            <a:xfrm>
              <a:off x="2105945" y="488981"/>
              <a:ext cx="64389" cy="64389"/>
            </a:xfrm>
            <a:custGeom>
              <a:avLst/>
              <a:gdLst/>
              <a:ahLst/>
              <a:cxnLst/>
              <a:rect l="l" t="t" r="r" b="b"/>
              <a:pathLst>
                <a:path w="64389" h="64389" extrusionOk="0">
                  <a:moveTo>
                    <a:pt x="32194" y="0"/>
                  </a:moveTo>
                  <a:cubicBezTo>
                    <a:pt x="14383" y="0"/>
                    <a:pt x="0" y="14383"/>
                    <a:pt x="0" y="32194"/>
                  </a:cubicBezTo>
                  <a:cubicBezTo>
                    <a:pt x="0" y="50006"/>
                    <a:pt x="14383" y="64389"/>
                    <a:pt x="32194" y="64389"/>
                  </a:cubicBezTo>
                  <a:cubicBezTo>
                    <a:pt x="50006" y="64389"/>
                    <a:pt x="64389" y="50006"/>
                    <a:pt x="64389" y="32194"/>
                  </a:cubicBezTo>
                  <a:cubicBezTo>
                    <a:pt x="64389" y="14383"/>
                    <a:pt x="50006" y="0"/>
                    <a:pt x="32194" y="0"/>
                  </a:cubicBezTo>
                  <a:close/>
                </a:path>
              </a:pathLst>
            </a:custGeom>
            <a:solidFill>
              <a:srgbClr val="29B5E8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56" name="Google Shape;4290;p99"/>
            <p:cNvSpPr/>
            <p:nvPr/>
          </p:nvSpPr>
          <p:spPr>
            <a:xfrm>
              <a:off x="2202719" y="488981"/>
              <a:ext cx="64388" cy="64389"/>
            </a:xfrm>
            <a:custGeom>
              <a:avLst/>
              <a:gdLst/>
              <a:ahLst/>
              <a:cxnLst/>
              <a:rect l="l" t="t" r="r" b="b"/>
              <a:pathLst>
                <a:path w="64388" h="64389" extrusionOk="0">
                  <a:moveTo>
                    <a:pt x="32194" y="0"/>
                  </a:moveTo>
                  <a:cubicBezTo>
                    <a:pt x="14383" y="0"/>
                    <a:pt x="0" y="14383"/>
                    <a:pt x="0" y="32194"/>
                  </a:cubicBezTo>
                  <a:cubicBezTo>
                    <a:pt x="0" y="50006"/>
                    <a:pt x="14383" y="64389"/>
                    <a:pt x="32194" y="64389"/>
                  </a:cubicBezTo>
                  <a:cubicBezTo>
                    <a:pt x="50006" y="64389"/>
                    <a:pt x="64389" y="50006"/>
                    <a:pt x="64389" y="32194"/>
                  </a:cubicBezTo>
                  <a:cubicBezTo>
                    <a:pt x="64389" y="14383"/>
                    <a:pt x="50006" y="0"/>
                    <a:pt x="32194" y="0"/>
                  </a:cubicBezTo>
                  <a:close/>
                </a:path>
              </a:pathLst>
            </a:custGeom>
            <a:solidFill>
              <a:srgbClr val="29B5E8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57" name="Google Shape;4291;p99"/>
            <p:cNvSpPr/>
            <p:nvPr/>
          </p:nvSpPr>
          <p:spPr>
            <a:xfrm>
              <a:off x="2299588" y="488981"/>
              <a:ext cx="64389" cy="64389"/>
            </a:xfrm>
            <a:custGeom>
              <a:avLst/>
              <a:gdLst/>
              <a:ahLst/>
              <a:cxnLst/>
              <a:rect l="l" t="t" r="r" b="b"/>
              <a:pathLst>
                <a:path w="64389" h="64389" extrusionOk="0">
                  <a:moveTo>
                    <a:pt x="64389" y="32194"/>
                  </a:moveTo>
                  <a:cubicBezTo>
                    <a:pt x="64389" y="14383"/>
                    <a:pt x="50006" y="0"/>
                    <a:pt x="32195" y="0"/>
                  </a:cubicBezTo>
                  <a:cubicBezTo>
                    <a:pt x="14383" y="0"/>
                    <a:pt x="0" y="14383"/>
                    <a:pt x="0" y="32194"/>
                  </a:cubicBezTo>
                  <a:cubicBezTo>
                    <a:pt x="0" y="50006"/>
                    <a:pt x="14383" y="64389"/>
                    <a:pt x="32195" y="64389"/>
                  </a:cubicBezTo>
                  <a:cubicBezTo>
                    <a:pt x="50006" y="64389"/>
                    <a:pt x="64389" y="50006"/>
                    <a:pt x="64389" y="32194"/>
                  </a:cubicBezTo>
                  <a:close/>
                </a:path>
              </a:pathLst>
            </a:custGeom>
            <a:solidFill>
              <a:srgbClr val="29B5E8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9058" name="TextBox 9057"/>
          <p:cNvSpPr txBox="1"/>
          <p:nvPr/>
        </p:nvSpPr>
        <p:spPr>
          <a:xfrm>
            <a:off x="6901434" y="1828800"/>
            <a:ext cx="170307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11567F"/>
                </a:solidFill>
                <a:latin typeface="Arial"/>
              </a:rPr>
              <a:t>Semantic View</a:t>
            </a:r>
          </a:p>
        </p:txBody>
      </p:sp>
      <p:sp>
        <p:nvSpPr>
          <p:cNvPr id="9059" name="TextBox 9058"/>
          <p:cNvSpPr txBox="1"/>
          <p:nvPr/>
        </p:nvSpPr>
        <p:spPr>
          <a:xfrm>
            <a:off x="6901434" y="2066543"/>
            <a:ext cx="170307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5B5B5B"/>
                </a:solidFill>
                <a:latin typeface="Arial"/>
              </a:rPr>
              <a:t>Shared, governed business definitions</a:t>
            </a:r>
          </a:p>
        </p:txBody>
      </p:sp>
      <p:sp>
        <p:nvSpPr>
          <p:cNvPr id="9060" name="Rounded Rectangle 9059"/>
          <p:cNvSpPr/>
          <p:nvPr/>
        </p:nvSpPr>
        <p:spPr>
          <a:xfrm>
            <a:off x="411480" y="2578608"/>
            <a:ext cx="1977390" cy="1024128"/>
          </a:xfrm>
          <a:prstGeom prst="roundRect">
            <a:avLst>
              <a:gd name="adj" fmla="val 8000"/>
            </a:avLst>
          </a:prstGeom>
          <a:solidFill>
            <a:srgbClr val="E3F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58" name="Google Shape;4492;p100"/>
          <p:cNvSpPr/>
          <p:nvPr/>
        </p:nvSpPr>
        <p:spPr>
          <a:xfrm>
            <a:off x="539496" y="2696145"/>
            <a:ext cx="274320" cy="222125"/>
          </a:xfrm>
          <a:custGeom>
            <a:avLst/>
            <a:gdLst/>
            <a:ahLst/>
            <a:cxnLst/>
            <a:rect l="l" t="t" r="r" b="b"/>
            <a:pathLst>
              <a:path w="540162" h="437387" extrusionOk="0">
                <a:moveTo>
                  <a:pt x="484823" y="268034"/>
                </a:moveTo>
                <a:cubicBezTo>
                  <a:pt x="476060" y="268034"/>
                  <a:pt x="467773" y="270129"/>
                  <a:pt x="460439" y="273749"/>
                </a:cubicBezTo>
                <a:lnTo>
                  <a:pt x="421291" y="224885"/>
                </a:lnTo>
                <a:lnTo>
                  <a:pt x="458343" y="182404"/>
                </a:lnTo>
                <a:cubicBezTo>
                  <a:pt x="466249" y="186690"/>
                  <a:pt x="475298" y="189167"/>
                  <a:pt x="484823" y="189167"/>
                </a:cubicBezTo>
                <a:cubicBezTo>
                  <a:pt x="515303" y="189167"/>
                  <a:pt x="540163" y="164306"/>
                  <a:pt x="540163" y="133826"/>
                </a:cubicBezTo>
                <a:cubicBezTo>
                  <a:pt x="540163" y="103346"/>
                  <a:pt x="515303" y="78486"/>
                  <a:pt x="484823" y="78486"/>
                </a:cubicBezTo>
                <a:cubicBezTo>
                  <a:pt x="465296" y="78486"/>
                  <a:pt x="448056" y="88678"/>
                  <a:pt x="438245" y="104108"/>
                </a:cubicBezTo>
                <a:lnTo>
                  <a:pt x="324898" y="62675"/>
                </a:lnTo>
                <a:cubicBezTo>
                  <a:pt x="325184" y="60293"/>
                  <a:pt x="325469" y="57817"/>
                  <a:pt x="325469" y="55340"/>
                </a:cubicBezTo>
                <a:cubicBezTo>
                  <a:pt x="325469" y="24860"/>
                  <a:pt x="300609" y="0"/>
                  <a:pt x="270129" y="0"/>
                </a:cubicBezTo>
                <a:cubicBezTo>
                  <a:pt x="239649" y="0"/>
                  <a:pt x="214789" y="24860"/>
                  <a:pt x="214789" y="55340"/>
                </a:cubicBezTo>
                <a:cubicBezTo>
                  <a:pt x="214789" y="58769"/>
                  <a:pt x="215170" y="62103"/>
                  <a:pt x="215741" y="65342"/>
                </a:cubicBezTo>
                <a:lnTo>
                  <a:pt x="102489" y="104870"/>
                </a:lnTo>
                <a:cubicBezTo>
                  <a:pt x="92774" y="89154"/>
                  <a:pt x="75343" y="78581"/>
                  <a:pt x="55436" y="78581"/>
                </a:cubicBezTo>
                <a:cubicBezTo>
                  <a:pt x="24955" y="78581"/>
                  <a:pt x="95" y="103442"/>
                  <a:pt x="95" y="133922"/>
                </a:cubicBezTo>
                <a:cubicBezTo>
                  <a:pt x="95" y="164402"/>
                  <a:pt x="24955" y="189262"/>
                  <a:pt x="55436" y="189262"/>
                </a:cubicBezTo>
                <a:cubicBezTo>
                  <a:pt x="65056" y="189262"/>
                  <a:pt x="74105" y="186785"/>
                  <a:pt x="81915" y="182499"/>
                </a:cubicBezTo>
                <a:lnTo>
                  <a:pt x="118967" y="224981"/>
                </a:lnTo>
                <a:lnTo>
                  <a:pt x="79820" y="273844"/>
                </a:lnTo>
                <a:cubicBezTo>
                  <a:pt x="72485" y="270224"/>
                  <a:pt x="64199" y="268034"/>
                  <a:pt x="55340" y="268034"/>
                </a:cubicBezTo>
                <a:cubicBezTo>
                  <a:pt x="24860" y="268034"/>
                  <a:pt x="0" y="292894"/>
                  <a:pt x="0" y="323374"/>
                </a:cubicBezTo>
                <a:cubicBezTo>
                  <a:pt x="0" y="353854"/>
                  <a:pt x="24860" y="378714"/>
                  <a:pt x="55340" y="378714"/>
                </a:cubicBezTo>
                <a:cubicBezTo>
                  <a:pt x="76676" y="378714"/>
                  <a:pt x="95250" y="366522"/>
                  <a:pt x="104489" y="348710"/>
                </a:cubicBezTo>
                <a:lnTo>
                  <a:pt x="214884" y="377857"/>
                </a:lnTo>
                <a:cubicBezTo>
                  <a:pt x="214789" y="379286"/>
                  <a:pt x="214694" y="380619"/>
                  <a:pt x="214694" y="382048"/>
                </a:cubicBezTo>
                <a:cubicBezTo>
                  <a:pt x="214694" y="412528"/>
                  <a:pt x="239554" y="437388"/>
                  <a:pt x="270034" y="437388"/>
                </a:cubicBezTo>
                <a:cubicBezTo>
                  <a:pt x="300514" y="437388"/>
                  <a:pt x="325374" y="412528"/>
                  <a:pt x="325374" y="382048"/>
                </a:cubicBezTo>
                <a:cubicBezTo>
                  <a:pt x="325374" y="380619"/>
                  <a:pt x="325279" y="379286"/>
                  <a:pt x="325184" y="377857"/>
                </a:cubicBezTo>
                <a:lnTo>
                  <a:pt x="435578" y="348710"/>
                </a:lnTo>
                <a:cubicBezTo>
                  <a:pt x="444818" y="366522"/>
                  <a:pt x="463296" y="378714"/>
                  <a:pt x="484727" y="378714"/>
                </a:cubicBezTo>
                <a:cubicBezTo>
                  <a:pt x="515207" y="378714"/>
                  <a:pt x="540068" y="353854"/>
                  <a:pt x="540068" y="323374"/>
                </a:cubicBezTo>
                <a:cubicBezTo>
                  <a:pt x="540068" y="292894"/>
                  <a:pt x="515207" y="268034"/>
                  <a:pt x="484727" y="268034"/>
                </a:cubicBezTo>
                <a:close/>
                <a:moveTo>
                  <a:pt x="484823" y="102394"/>
                </a:moveTo>
                <a:cubicBezTo>
                  <a:pt x="502158" y="102394"/>
                  <a:pt x="516350" y="116491"/>
                  <a:pt x="516350" y="133922"/>
                </a:cubicBezTo>
                <a:cubicBezTo>
                  <a:pt x="516350" y="151352"/>
                  <a:pt x="502253" y="165449"/>
                  <a:pt x="484823" y="165449"/>
                </a:cubicBezTo>
                <a:cubicBezTo>
                  <a:pt x="467392" y="165449"/>
                  <a:pt x="453295" y="151352"/>
                  <a:pt x="453295" y="133922"/>
                </a:cubicBezTo>
                <a:cubicBezTo>
                  <a:pt x="453295" y="116491"/>
                  <a:pt x="467392" y="102394"/>
                  <a:pt x="484823" y="102394"/>
                </a:cubicBezTo>
                <a:close/>
                <a:moveTo>
                  <a:pt x="440436" y="166688"/>
                </a:moveTo>
                <a:lnTo>
                  <a:pt x="406146" y="206026"/>
                </a:lnTo>
                <a:lnTo>
                  <a:pt x="388906" y="184499"/>
                </a:lnTo>
                <a:cubicBezTo>
                  <a:pt x="409575" y="176498"/>
                  <a:pt x="426053" y="170021"/>
                  <a:pt x="439103" y="164878"/>
                </a:cubicBezTo>
                <a:cubicBezTo>
                  <a:pt x="439484" y="165545"/>
                  <a:pt x="439960" y="166116"/>
                  <a:pt x="440436" y="166688"/>
                </a:cubicBezTo>
                <a:close/>
                <a:moveTo>
                  <a:pt x="270224" y="162401"/>
                </a:moveTo>
                <a:cubicBezTo>
                  <a:pt x="251079" y="162401"/>
                  <a:pt x="234220" y="172212"/>
                  <a:pt x="224314" y="186976"/>
                </a:cubicBezTo>
                <a:lnTo>
                  <a:pt x="190595" y="173831"/>
                </a:lnTo>
                <a:lnTo>
                  <a:pt x="245840" y="104870"/>
                </a:lnTo>
                <a:cubicBezTo>
                  <a:pt x="253175" y="108490"/>
                  <a:pt x="261461" y="110681"/>
                  <a:pt x="270320" y="110681"/>
                </a:cubicBezTo>
                <a:cubicBezTo>
                  <a:pt x="279178" y="110681"/>
                  <a:pt x="287369" y="108585"/>
                  <a:pt x="294799" y="104870"/>
                </a:cubicBezTo>
                <a:lnTo>
                  <a:pt x="350139" y="174022"/>
                </a:lnTo>
                <a:cubicBezTo>
                  <a:pt x="338900" y="178403"/>
                  <a:pt x="327565" y="182785"/>
                  <a:pt x="316421" y="187071"/>
                </a:cubicBezTo>
                <a:cubicBezTo>
                  <a:pt x="306515" y="172212"/>
                  <a:pt x="289560" y="162306"/>
                  <a:pt x="270415" y="162306"/>
                </a:cubicBezTo>
                <a:close/>
                <a:moveTo>
                  <a:pt x="301657" y="217742"/>
                </a:moveTo>
                <a:cubicBezTo>
                  <a:pt x="301657" y="235077"/>
                  <a:pt x="287560" y="249269"/>
                  <a:pt x="270129" y="249269"/>
                </a:cubicBezTo>
                <a:cubicBezTo>
                  <a:pt x="252698" y="249269"/>
                  <a:pt x="238601" y="235172"/>
                  <a:pt x="238601" y="217742"/>
                </a:cubicBezTo>
                <a:cubicBezTo>
                  <a:pt x="238601" y="200311"/>
                  <a:pt x="252698" y="186214"/>
                  <a:pt x="270129" y="186214"/>
                </a:cubicBezTo>
                <a:cubicBezTo>
                  <a:pt x="287560" y="186214"/>
                  <a:pt x="301657" y="200311"/>
                  <a:pt x="301657" y="217742"/>
                </a:cubicBezTo>
                <a:close/>
                <a:moveTo>
                  <a:pt x="215551" y="209169"/>
                </a:moveTo>
                <a:cubicBezTo>
                  <a:pt x="215075" y="211931"/>
                  <a:pt x="214789" y="214789"/>
                  <a:pt x="214789" y="217742"/>
                </a:cubicBezTo>
                <a:cubicBezTo>
                  <a:pt x="214789" y="222314"/>
                  <a:pt x="215360" y="226695"/>
                  <a:pt x="216408" y="230886"/>
                </a:cubicBezTo>
                <a:lnTo>
                  <a:pt x="174022" y="251746"/>
                </a:lnTo>
                <a:lnTo>
                  <a:pt x="150114" y="224314"/>
                </a:lnTo>
                <a:lnTo>
                  <a:pt x="174974" y="193358"/>
                </a:lnTo>
                <a:lnTo>
                  <a:pt x="215646" y="209264"/>
                </a:lnTo>
                <a:close/>
                <a:moveTo>
                  <a:pt x="226981" y="252222"/>
                </a:moveTo>
                <a:cubicBezTo>
                  <a:pt x="237172" y="264890"/>
                  <a:pt x="252698" y="273082"/>
                  <a:pt x="270129" y="273082"/>
                </a:cubicBezTo>
                <a:cubicBezTo>
                  <a:pt x="287560" y="273082"/>
                  <a:pt x="303181" y="264890"/>
                  <a:pt x="313277" y="252222"/>
                </a:cubicBezTo>
                <a:lnTo>
                  <a:pt x="350044" y="270320"/>
                </a:lnTo>
                <a:lnTo>
                  <a:pt x="295466" y="332899"/>
                </a:lnTo>
                <a:cubicBezTo>
                  <a:pt x="287846" y="328994"/>
                  <a:pt x="279273" y="326708"/>
                  <a:pt x="270129" y="326708"/>
                </a:cubicBezTo>
                <a:cubicBezTo>
                  <a:pt x="260985" y="326708"/>
                  <a:pt x="252413" y="328994"/>
                  <a:pt x="244793" y="332899"/>
                </a:cubicBezTo>
                <a:lnTo>
                  <a:pt x="190214" y="270320"/>
                </a:lnTo>
                <a:lnTo>
                  <a:pt x="226981" y="252222"/>
                </a:lnTo>
                <a:close/>
                <a:moveTo>
                  <a:pt x="323850" y="230886"/>
                </a:moveTo>
                <a:cubicBezTo>
                  <a:pt x="324898" y="226695"/>
                  <a:pt x="325469" y="222314"/>
                  <a:pt x="325469" y="217742"/>
                </a:cubicBezTo>
                <a:cubicBezTo>
                  <a:pt x="325469" y="214884"/>
                  <a:pt x="325184" y="212122"/>
                  <a:pt x="324803" y="209360"/>
                </a:cubicBezTo>
                <a:cubicBezTo>
                  <a:pt x="339757" y="203549"/>
                  <a:pt x="353282" y="198311"/>
                  <a:pt x="365570" y="193548"/>
                </a:cubicBezTo>
                <a:lnTo>
                  <a:pt x="390239" y="224314"/>
                </a:lnTo>
                <a:lnTo>
                  <a:pt x="366332" y="251746"/>
                </a:lnTo>
                <a:lnTo>
                  <a:pt x="323945" y="230886"/>
                </a:lnTo>
                <a:close/>
                <a:moveTo>
                  <a:pt x="316802" y="85058"/>
                </a:moveTo>
                <a:lnTo>
                  <a:pt x="430149" y="126492"/>
                </a:lnTo>
                <a:cubicBezTo>
                  <a:pt x="429863" y="128873"/>
                  <a:pt x="429578" y="131350"/>
                  <a:pt x="429578" y="133826"/>
                </a:cubicBezTo>
                <a:cubicBezTo>
                  <a:pt x="429578" y="136874"/>
                  <a:pt x="429863" y="139827"/>
                  <a:pt x="430340" y="142685"/>
                </a:cubicBezTo>
                <a:cubicBezTo>
                  <a:pt x="413671" y="149162"/>
                  <a:pt x="394049" y="156877"/>
                  <a:pt x="373285" y="164878"/>
                </a:cubicBezTo>
                <a:lnTo>
                  <a:pt x="313277" y="89916"/>
                </a:lnTo>
                <a:cubicBezTo>
                  <a:pt x="314516" y="88297"/>
                  <a:pt x="315754" y="86677"/>
                  <a:pt x="316802" y="84963"/>
                </a:cubicBezTo>
                <a:close/>
                <a:moveTo>
                  <a:pt x="270224" y="23813"/>
                </a:moveTo>
                <a:cubicBezTo>
                  <a:pt x="287560" y="23813"/>
                  <a:pt x="301752" y="37910"/>
                  <a:pt x="301752" y="55340"/>
                </a:cubicBezTo>
                <a:cubicBezTo>
                  <a:pt x="301752" y="72771"/>
                  <a:pt x="287655" y="86868"/>
                  <a:pt x="270224" y="86868"/>
                </a:cubicBezTo>
                <a:cubicBezTo>
                  <a:pt x="252794" y="86868"/>
                  <a:pt x="238697" y="72771"/>
                  <a:pt x="238697" y="55340"/>
                </a:cubicBezTo>
                <a:cubicBezTo>
                  <a:pt x="238697" y="37910"/>
                  <a:pt x="252794" y="23813"/>
                  <a:pt x="270224" y="23813"/>
                </a:cubicBezTo>
                <a:close/>
                <a:moveTo>
                  <a:pt x="225171" y="87344"/>
                </a:moveTo>
                <a:cubicBezTo>
                  <a:pt x="225838" y="88297"/>
                  <a:pt x="226505" y="89154"/>
                  <a:pt x="227171" y="90011"/>
                </a:cubicBezTo>
                <a:lnTo>
                  <a:pt x="167354" y="164783"/>
                </a:lnTo>
                <a:lnTo>
                  <a:pt x="110204" y="142494"/>
                </a:lnTo>
                <a:cubicBezTo>
                  <a:pt x="110681" y="139732"/>
                  <a:pt x="110966" y="136874"/>
                  <a:pt x="110966" y="133922"/>
                </a:cubicBezTo>
                <a:cubicBezTo>
                  <a:pt x="110966" y="131731"/>
                  <a:pt x="110776" y="129540"/>
                  <a:pt x="110585" y="127349"/>
                </a:cubicBezTo>
                <a:lnTo>
                  <a:pt x="225362" y="87344"/>
                </a:lnTo>
                <a:close/>
                <a:moveTo>
                  <a:pt x="55531" y="165354"/>
                </a:moveTo>
                <a:cubicBezTo>
                  <a:pt x="38195" y="165354"/>
                  <a:pt x="24003" y="151257"/>
                  <a:pt x="24003" y="133826"/>
                </a:cubicBezTo>
                <a:cubicBezTo>
                  <a:pt x="24003" y="116396"/>
                  <a:pt x="38100" y="102299"/>
                  <a:pt x="55531" y="102299"/>
                </a:cubicBezTo>
                <a:cubicBezTo>
                  <a:pt x="72962" y="102299"/>
                  <a:pt x="87059" y="116396"/>
                  <a:pt x="87059" y="133826"/>
                </a:cubicBezTo>
                <a:cubicBezTo>
                  <a:pt x="87059" y="151257"/>
                  <a:pt x="72962" y="165354"/>
                  <a:pt x="55531" y="165354"/>
                </a:cubicBezTo>
                <a:close/>
                <a:moveTo>
                  <a:pt x="99917" y="166688"/>
                </a:moveTo>
                <a:cubicBezTo>
                  <a:pt x="100394" y="166021"/>
                  <a:pt x="100965" y="165354"/>
                  <a:pt x="101441" y="164592"/>
                </a:cubicBezTo>
                <a:lnTo>
                  <a:pt x="151638" y="184214"/>
                </a:lnTo>
                <a:lnTo>
                  <a:pt x="134112" y="206026"/>
                </a:lnTo>
                <a:lnTo>
                  <a:pt x="99822" y="166688"/>
                </a:lnTo>
                <a:close/>
                <a:moveTo>
                  <a:pt x="55531" y="354902"/>
                </a:moveTo>
                <a:cubicBezTo>
                  <a:pt x="38195" y="354902"/>
                  <a:pt x="24003" y="340805"/>
                  <a:pt x="24003" y="323374"/>
                </a:cubicBezTo>
                <a:cubicBezTo>
                  <a:pt x="24003" y="305943"/>
                  <a:pt x="38100" y="291846"/>
                  <a:pt x="55531" y="291846"/>
                </a:cubicBezTo>
                <a:cubicBezTo>
                  <a:pt x="72962" y="291846"/>
                  <a:pt x="87059" y="305943"/>
                  <a:pt x="87059" y="323374"/>
                </a:cubicBezTo>
                <a:cubicBezTo>
                  <a:pt x="87059" y="340805"/>
                  <a:pt x="72962" y="354902"/>
                  <a:pt x="55531" y="354902"/>
                </a:cubicBezTo>
                <a:close/>
                <a:moveTo>
                  <a:pt x="98584" y="288703"/>
                </a:moveTo>
                <a:lnTo>
                  <a:pt x="135065" y="243173"/>
                </a:lnTo>
                <a:lnTo>
                  <a:pt x="152019" y="262604"/>
                </a:lnTo>
                <a:lnTo>
                  <a:pt x="98774" y="288798"/>
                </a:lnTo>
                <a:cubicBezTo>
                  <a:pt x="98774" y="288798"/>
                  <a:pt x="98774" y="288703"/>
                  <a:pt x="98679" y="288608"/>
                </a:cubicBezTo>
                <a:close/>
                <a:moveTo>
                  <a:pt x="221933" y="355092"/>
                </a:moveTo>
                <a:lnTo>
                  <a:pt x="110681" y="325660"/>
                </a:lnTo>
                <a:cubicBezTo>
                  <a:pt x="110681" y="324898"/>
                  <a:pt x="110776" y="324136"/>
                  <a:pt x="110776" y="323374"/>
                </a:cubicBezTo>
                <a:cubicBezTo>
                  <a:pt x="110776" y="318802"/>
                  <a:pt x="110204" y="314420"/>
                  <a:pt x="109156" y="310229"/>
                </a:cubicBezTo>
                <a:lnTo>
                  <a:pt x="168116" y="281178"/>
                </a:lnTo>
                <a:lnTo>
                  <a:pt x="226505" y="348139"/>
                </a:lnTo>
                <a:cubicBezTo>
                  <a:pt x="224790" y="350330"/>
                  <a:pt x="223266" y="352616"/>
                  <a:pt x="221933" y="354997"/>
                </a:cubicBezTo>
                <a:close/>
                <a:moveTo>
                  <a:pt x="270224" y="413576"/>
                </a:moveTo>
                <a:cubicBezTo>
                  <a:pt x="252889" y="413576"/>
                  <a:pt x="238697" y="399479"/>
                  <a:pt x="238697" y="382048"/>
                </a:cubicBezTo>
                <a:cubicBezTo>
                  <a:pt x="238697" y="364617"/>
                  <a:pt x="252794" y="350520"/>
                  <a:pt x="270224" y="350520"/>
                </a:cubicBezTo>
                <a:cubicBezTo>
                  <a:pt x="287655" y="350520"/>
                  <a:pt x="301752" y="364617"/>
                  <a:pt x="301752" y="382048"/>
                </a:cubicBezTo>
                <a:cubicBezTo>
                  <a:pt x="301752" y="399479"/>
                  <a:pt x="287655" y="413576"/>
                  <a:pt x="270224" y="413576"/>
                </a:cubicBezTo>
                <a:close/>
                <a:moveTo>
                  <a:pt x="318421" y="355092"/>
                </a:moveTo>
                <a:cubicBezTo>
                  <a:pt x="317087" y="352711"/>
                  <a:pt x="315468" y="350425"/>
                  <a:pt x="313849" y="348234"/>
                </a:cubicBezTo>
                <a:lnTo>
                  <a:pt x="372237" y="281273"/>
                </a:lnTo>
                <a:lnTo>
                  <a:pt x="431197" y="310325"/>
                </a:lnTo>
                <a:cubicBezTo>
                  <a:pt x="430149" y="314516"/>
                  <a:pt x="429578" y="318897"/>
                  <a:pt x="429578" y="323469"/>
                </a:cubicBezTo>
                <a:cubicBezTo>
                  <a:pt x="429578" y="324231"/>
                  <a:pt x="429578" y="324993"/>
                  <a:pt x="429673" y="325755"/>
                </a:cubicBezTo>
                <a:lnTo>
                  <a:pt x="318421" y="355187"/>
                </a:lnTo>
                <a:close/>
                <a:moveTo>
                  <a:pt x="441674" y="288893"/>
                </a:moveTo>
                <a:lnTo>
                  <a:pt x="388429" y="262700"/>
                </a:lnTo>
                <a:lnTo>
                  <a:pt x="405384" y="243269"/>
                </a:lnTo>
                <a:lnTo>
                  <a:pt x="441865" y="288798"/>
                </a:lnTo>
                <a:cubicBezTo>
                  <a:pt x="441865" y="288798"/>
                  <a:pt x="441865" y="288893"/>
                  <a:pt x="441770" y="288989"/>
                </a:cubicBezTo>
                <a:close/>
                <a:moveTo>
                  <a:pt x="484823" y="354902"/>
                </a:moveTo>
                <a:cubicBezTo>
                  <a:pt x="467487" y="354902"/>
                  <a:pt x="453295" y="340805"/>
                  <a:pt x="453295" y="323374"/>
                </a:cubicBezTo>
                <a:cubicBezTo>
                  <a:pt x="453295" y="305943"/>
                  <a:pt x="467392" y="291846"/>
                  <a:pt x="484823" y="291846"/>
                </a:cubicBezTo>
                <a:cubicBezTo>
                  <a:pt x="502253" y="291846"/>
                  <a:pt x="516350" y="305943"/>
                  <a:pt x="516350" y="323374"/>
                </a:cubicBezTo>
                <a:cubicBezTo>
                  <a:pt x="516350" y="340805"/>
                  <a:pt x="502253" y="354902"/>
                  <a:pt x="484823" y="354902"/>
                </a:cubicBezTo>
                <a:close/>
              </a:path>
            </a:pathLst>
          </a:custGeom>
          <a:solidFill>
            <a:srgbClr val="29B5E8"/>
          </a:solidFill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rgbClr val="26262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61" name="TextBox 9060"/>
          <p:cNvSpPr txBox="1"/>
          <p:nvPr/>
        </p:nvSpPr>
        <p:spPr>
          <a:xfrm>
            <a:off x="557784" y="2990088"/>
            <a:ext cx="170307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11567F"/>
                </a:solidFill>
                <a:latin typeface="Arial"/>
              </a:rPr>
              <a:t>AI_COMPLETE</a:t>
            </a:r>
          </a:p>
        </p:txBody>
      </p:sp>
      <p:sp>
        <p:nvSpPr>
          <p:cNvPr id="9062" name="TextBox 9061"/>
          <p:cNvSpPr txBox="1"/>
          <p:nvPr/>
        </p:nvSpPr>
        <p:spPr>
          <a:xfrm>
            <a:off x="557784" y="3227832"/>
            <a:ext cx="170307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5B5B5B"/>
                </a:solidFill>
                <a:latin typeface="Arial"/>
              </a:rPr>
              <a:t>Intent from calls, held to a fixed list</a:t>
            </a:r>
          </a:p>
        </p:txBody>
      </p:sp>
      <p:sp>
        <p:nvSpPr>
          <p:cNvPr id="9063" name="Rounded Rectangle 9062"/>
          <p:cNvSpPr/>
          <p:nvPr/>
        </p:nvSpPr>
        <p:spPr>
          <a:xfrm>
            <a:off x="2526030" y="2578608"/>
            <a:ext cx="1977390" cy="1024128"/>
          </a:xfrm>
          <a:prstGeom prst="roundRect">
            <a:avLst>
              <a:gd name="adj" fmla="val 8000"/>
            </a:avLst>
          </a:prstGeom>
          <a:solidFill>
            <a:srgbClr val="E3F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59" name="Google Shape;4100;p99"/>
          <p:cNvSpPr/>
          <p:nvPr/>
        </p:nvSpPr>
        <p:spPr>
          <a:xfrm>
            <a:off x="2654046" y="2693898"/>
            <a:ext cx="274320" cy="226619"/>
          </a:xfrm>
          <a:custGeom>
            <a:avLst/>
            <a:gdLst/>
            <a:ahLst/>
            <a:cxnLst/>
            <a:rect l="l" t="t" r="r" b="b"/>
            <a:pathLst>
              <a:path w="525398" h="434037" extrusionOk="0">
                <a:moveTo>
                  <a:pt x="523685" y="239823"/>
                </a:moveTo>
                <a:cubicBezTo>
                  <a:pt x="522827" y="231250"/>
                  <a:pt x="520256" y="223630"/>
                  <a:pt x="516160" y="217248"/>
                </a:cubicBezTo>
                <a:cubicBezTo>
                  <a:pt x="525399" y="207628"/>
                  <a:pt x="525399" y="192007"/>
                  <a:pt x="525399" y="185435"/>
                </a:cubicBezTo>
                <a:cubicBezTo>
                  <a:pt x="525399" y="134381"/>
                  <a:pt x="483679" y="134381"/>
                  <a:pt x="465868" y="134381"/>
                </a:cubicBezTo>
                <a:lnTo>
                  <a:pt x="359950" y="134381"/>
                </a:lnTo>
                <a:cubicBezTo>
                  <a:pt x="378238" y="55323"/>
                  <a:pt x="357854" y="14937"/>
                  <a:pt x="331375" y="3507"/>
                </a:cubicBezTo>
                <a:cubicBezTo>
                  <a:pt x="311563" y="-5065"/>
                  <a:pt x="289370" y="2460"/>
                  <a:pt x="277559" y="21891"/>
                </a:cubicBezTo>
                <a:cubicBezTo>
                  <a:pt x="276416" y="23796"/>
                  <a:pt x="275844" y="25891"/>
                  <a:pt x="275844" y="28082"/>
                </a:cubicBezTo>
                <a:lnTo>
                  <a:pt x="275844" y="81231"/>
                </a:lnTo>
                <a:cubicBezTo>
                  <a:pt x="275749" y="82184"/>
                  <a:pt x="274225" y="84756"/>
                  <a:pt x="273272" y="86470"/>
                </a:cubicBezTo>
                <a:cubicBezTo>
                  <a:pt x="271939" y="88851"/>
                  <a:pt x="270510" y="91518"/>
                  <a:pt x="269367" y="94471"/>
                </a:cubicBezTo>
                <a:cubicBezTo>
                  <a:pt x="258890" y="124475"/>
                  <a:pt x="236792" y="152478"/>
                  <a:pt x="201835" y="180006"/>
                </a:cubicBezTo>
                <a:lnTo>
                  <a:pt x="200692" y="180958"/>
                </a:lnTo>
                <a:cubicBezTo>
                  <a:pt x="198596" y="182482"/>
                  <a:pt x="196025" y="184482"/>
                  <a:pt x="193929" y="186959"/>
                </a:cubicBezTo>
                <a:cubicBezTo>
                  <a:pt x="188119" y="194007"/>
                  <a:pt x="180594" y="198675"/>
                  <a:pt x="172403" y="200580"/>
                </a:cubicBezTo>
                <a:lnTo>
                  <a:pt x="172403" y="191055"/>
                </a:lnTo>
                <a:cubicBezTo>
                  <a:pt x="172403" y="180577"/>
                  <a:pt x="163830" y="172005"/>
                  <a:pt x="153353" y="172005"/>
                </a:cubicBezTo>
                <a:lnTo>
                  <a:pt x="19050" y="172005"/>
                </a:lnTo>
                <a:cubicBezTo>
                  <a:pt x="8572" y="172005"/>
                  <a:pt x="0" y="180577"/>
                  <a:pt x="0" y="191055"/>
                </a:cubicBezTo>
                <a:lnTo>
                  <a:pt x="0" y="414988"/>
                </a:lnTo>
                <a:cubicBezTo>
                  <a:pt x="0" y="425465"/>
                  <a:pt x="8572" y="434038"/>
                  <a:pt x="19050" y="434038"/>
                </a:cubicBezTo>
                <a:lnTo>
                  <a:pt x="153448" y="434038"/>
                </a:lnTo>
                <a:cubicBezTo>
                  <a:pt x="163925" y="434038"/>
                  <a:pt x="172498" y="425465"/>
                  <a:pt x="172498" y="414988"/>
                </a:cubicBezTo>
                <a:lnTo>
                  <a:pt x="172498" y="404510"/>
                </a:lnTo>
                <a:lnTo>
                  <a:pt x="173546" y="404510"/>
                </a:lnTo>
                <a:cubicBezTo>
                  <a:pt x="182213" y="404510"/>
                  <a:pt x="190595" y="407653"/>
                  <a:pt x="197072" y="413368"/>
                </a:cubicBezTo>
                <a:cubicBezTo>
                  <a:pt x="206312" y="421560"/>
                  <a:pt x="218789" y="426894"/>
                  <a:pt x="228791" y="426894"/>
                </a:cubicBezTo>
                <a:lnTo>
                  <a:pt x="412147" y="426894"/>
                </a:lnTo>
                <a:cubicBezTo>
                  <a:pt x="437102" y="426894"/>
                  <a:pt x="458152" y="417178"/>
                  <a:pt x="471488" y="399557"/>
                </a:cubicBezTo>
                <a:cubicBezTo>
                  <a:pt x="480822" y="387270"/>
                  <a:pt x="485680" y="371649"/>
                  <a:pt x="485203" y="357171"/>
                </a:cubicBezTo>
                <a:cubicBezTo>
                  <a:pt x="487013" y="355837"/>
                  <a:pt x="488442" y="354027"/>
                  <a:pt x="489299" y="351837"/>
                </a:cubicBezTo>
                <a:cubicBezTo>
                  <a:pt x="497300" y="345931"/>
                  <a:pt x="503587" y="337835"/>
                  <a:pt x="507397" y="327739"/>
                </a:cubicBezTo>
                <a:cubicBezTo>
                  <a:pt x="512159" y="315166"/>
                  <a:pt x="512731" y="300688"/>
                  <a:pt x="509588" y="288019"/>
                </a:cubicBezTo>
                <a:cubicBezTo>
                  <a:pt x="511302" y="285924"/>
                  <a:pt x="512445" y="283447"/>
                  <a:pt x="512445" y="280494"/>
                </a:cubicBezTo>
                <a:cubicBezTo>
                  <a:pt x="512445" y="280209"/>
                  <a:pt x="512350" y="280018"/>
                  <a:pt x="512350" y="279828"/>
                </a:cubicBezTo>
                <a:cubicBezTo>
                  <a:pt x="520922" y="268969"/>
                  <a:pt x="525209" y="254586"/>
                  <a:pt x="523780" y="239632"/>
                </a:cubicBezTo>
                <a:close/>
                <a:moveTo>
                  <a:pt x="134398" y="396033"/>
                </a:moveTo>
                <a:lnTo>
                  <a:pt x="38100" y="396033"/>
                </a:lnTo>
                <a:lnTo>
                  <a:pt x="38100" y="210200"/>
                </a:lnTo>
                <a:lnTo>
                  <a:pt x="134398" y="210200"/>
                </a:lnTo>
                <a:lnTo>
                  <a:pt x="134398" y="396033"/>
                </a:lnTo>
                <a:close/>
                <a:moveTo>
                  <a:pt x="412147" y="403176"/>
                </a:moveTo>
                <a:lnTo>
                  <a:pt x="228791" y="403176"/>
                </a:lnTo>
                <a:cubicBezTo>
                  <a:pt x="225743" y="403176"/>
                  <a:pt x="218599" y="400795"/>
                  <a:pt x="212789" y="395652"/>
                </a:cubicBezTo>
                <a:cubicBezTo>
                  <a:pt x="201930" y="386127"/>
                  <a:pt x="188024" y="380793"/>
                  <a:pt x="173450" y="380793"/>
                </a:cubicBezTo>
                <a:lnTo>
                  <a:pt x="172403" y="380793"/>
                </a:lnTo>
                <a:lnTo>
                  <a:pt x="172403" y="224773"/>
                </a:lnTo>
                <a:cubicBezTo>
                  <a:pt x="187833" y="222582"/>
                  <a:pt x="201835" y="214867"/>
                  <a:pt x="212312" y="202199"/>
                </a:cubicBezTo>
                <a:cubicBezTo>
                  <a:pt x="213074" y="201437"/>
                  <a:pt x="214122" y="200675"/>
                  <a:pt x="215075" y="200008"/>
                </a:cubicBezTo>
                <a:lnTo>
                  <a:pt x="216599" y="198865"/>
                </a:lnTo>
                <a:cubicBezTo>
                  <a:pt x="255270" y="168385"/>
                  <a:pt x="279940" y="136857"/>
                  <a:pt x="291941" y="102567"/>
                </a:cubicBezTo>
                <a:cubicBezTo>
                  <a:pt x="292418" y="101139"/>
                  <a:pt x="293275" y="99710"/>
                  <a:pt x="294132" y="98281"/>
                </a:cubicBezTo>
                <a:cubicBezTo>
                  <a:pt x="296609" y="93900"/>
                  <a:pt x="299657" y="88375"/>
                  <a:pt x="299657" y="81612"/>
                </a:cubicBezTo>
                <a:lnTo>
                  <a:pt x="299657" y="31987"/>
                </a:lnTo>
                <a:cubicBezTo>
                  <a:pt x="305372" y="24748"/>
                  <a:pt x="313944" y="22081"/>
                  <a:pt x="321945" y="25510"/>
                </a:cubicBezTo>
                <a:cubicBezTo>
                  <a:pt x="336518" y="31797"/>
                  <a:pt x="355187" y="63705"/>
                  <a:pt x="333185" y="143239"/>
                </a:cubicBezTo>
                <a:cubicBezTo>
                  <a:pt x="332232" y="146859"/>
                  <a:pt x="332899" y="150669"/>
                  <a:pt x="335185" y="153621"/>
                </a:cubicBezTo>
                <a:cubicBezTo>
                  <a:pt x="337471" y="156574"/>
                  <a:pt x="340900" y="158289"/>
                  <a:pt x="344710" y="158289"/>
                </a:cubicBezTo>
                <a:lnTo>
                  <a:pt x="465868" y="158289"/>
                </a:lnTo>
                <a:cubicBezTo>
                  <a:pt x="493871" y="158289"/>
                  <a:pt x="501587" y="164194"/>
                  <a:pt x="501587" y="185530"/>
                </a:cubicBezTo>
                <a:cubicBezTo>
                  <a:pt x="501587" y="201627"/>
                  <a:pt x="499015" y="201627"/>
                  <a:pt x="494252" y="201627"/>
                </a:cubicBezTo>
                <a:lnTo>
                  <a:pt x="410909" y="201627"/>
                </a:lnTo>
                <a:cubicBezTo>
                  <a:pt x="404336" y="201627"/>
                  <a:pt x="399002" y="206961"/>
                  <a:pt x="399002" y="213534"/>
                </a:cubicBezTo>
                <a:cubicBezTo>
                  <a:pt x="399002" y="220106"/>
                  <a:pt x="404336" y="225440"/>
                  <a:pt x="410909" y="225440"/>
                </a:cubicBezTo>
                <a:lnTo>
                  <a:pt x="491014" y="225440"/>
                </a:lnTo>
                <a:cubicBezTo>
                  <a:pt x="495776" y="228297"/>
                  <a:pt x="499205" y="234393"/>
                  <a:pt x="499967" y="242109"/>
                </a:cubicBezTo>
                <a:cubicBezTo>
                  <a:pt x="500729" y="250205"/>
                  <a:pt x="498443" y="261540"/>
                  <a:pt x="490061" y="268779"/>
                </a:cubicBezTo>
                <a:lnTo>
                  <a:pt x="410909" y="268779"/>
                </a:lnTo>
                <a:cubicBezTo>
                  <a:pt x="404336" y="268779"/>
                  <a:pt x="399002" y="274113"/>
                  <a:pt x="399002" y="280685"/>
                </a:cubicBezTo>
                <a:cubicBezTo>
                  <a:pt x="399002" y="287257"/>
                  <a:pt x="404336" y="292591"/>
                  <a:pt x="410909" y="292591"/>
                </a:cubicBezTo>
                <a:lnTo>
                  <a:pt x="486347" y="292591"/>
                </a:lnTo>
                <a:cubicBezTo>
                  <a:pt x="488442" y="300021"/>
                  <a:pt x="488633" y="310117"/>
                  <a:pt x="485108" y="319356"/>
                </a:cubicBezTo>
                <a:cubicBezTo>
                  <a:pt x="482918" y="325071"/>
                  <a:pt x="478346" y="332406"/>
                  <a:pt x="469392" y="335930"/>
                </a:cubicBezTo>
                <a:lnTo>
                  <a:pt x="411004" y="335930"/>
                </a:lnTo>
                <a:cubicBezTo>
                  <a:pt x="404432" y="335930"/>
                  <a:pt x="399098" y="341264"/>
                  <a:pt x="399098" y="347836"/>
                </a:cubicBezTo>
                <a:cubicBezTo>
                  <a:pt x="399098" y="354408"/>
                  <a:pt x="404432" y="359742"/>
                  <a:pt x="411004" y="359742"/>
                </a:cubicBezTo>
                <a:lnTo>
                  <a:pt x="461486" y="359742"/>
                </a:lnTo>
                <a:cubicBezTo>
                  <a:pt x="461391" y="367553"/>
                  <a:pt x="458819" y="376983"/>
                  <a:pt x="452628" y="385269"/>
                </a:cubicBezTo>
                <a:cubicBezTo>
                  <a:pt x="446437" y="393461"/>
                  <a:pt x="434435" y="403176"/>
                  <a:pt x="412242" y="403176"/>
                </a:cubicBezTo>
                <a:close/>
              </a:path>
            </a:pathLst>
          </a:custGeom>
          <a:solidFill>
            <a:srgbClr val="29B5E8"/>
          </a:solidFill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rgbClr val="26262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64" name="TextBox 9063"/>
          <p:cNvSpPr txBox="1"/>
          <p:nvPr/>
        </p:nvSpPr>
        <p:spPr>
          <a:xfrm>
            <a:off x="2672334" y="2990088"/>
            <a:ext cx="170307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11567F"/>
                </a:solidFill>
                <a:latin typeface="Arial"/>
              </a:rPr>
              <a:t>AI_SENTIMENT</a:t>
            </a:r>
          </a:p>
        </p:txBody>
      </p:sp>
      <p:sp>
        <p:nvSpPr>
          <p:cNvPr id="9065" name="TextBox 9064"/>
          <p:cNvSpPr txBox="1"/>
          <p:nvPr/>
        </p:nvSpPr>
        <p:spPr>
          <a:xfrm>
            <a:off x="2672334" y="3227832"/>
            <a:ext cx="170307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5B5B5B"/>
                </a:solidFill>
                <a:latin typeface="Arial"/>
              </a:rPr>
              <a:t>Tone of every conversation</a:t>
            </a:r>
          </a:p>
        </p:txBody>
      </p:sp>
      <p:sp>
        <p:nvSpPr>
          <p:cNvPr id="9066" name="Rounded Rectangle 9065"/>
          <p:cNvSpPr/>
          <p:nvPr/>
        </p:nvSpPr>
        <p:spPr>
          <a:xfrm>
            <a:off x="4640580" y="2578608"/>
            <a:ext cx="1977390" cy="1024128"/>
          </a:xfrm>
          <a:prstGeom prst="roundRect">
            <a:avLst>
              <a:gd name="adj" fmla="val 8000"/>
            </a:avLst>
          </a:prstGeom>
          <a:solidFill>
            <a:srgbClr val="E3F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pSp>
        <p:nvGrpSpPr>
          <p:cNvPr id="9060" name="Google Shape;3027;p95"/>
          <p:cNvGrpSpPr/>
          <p:nvPr/>
        </p:nvGrpSpPr>
        <p:grpSpPr>
          <a:xfrm>
            <a:off x="4780824" y="2670048"/>
            <a:ext cx="249863" cy="274320"/>
            <a:chOff x="7306072" y="1108153"/>
            <a:chExt cx="449579" cy="493584"/>
          </a:xfrm>
        </p:grpSpPr>
        <p:sp>
          <p:nvSpPr>
            <p:cNvPr id="9061" name="Google Shape;3028;p95"/>
            <p:cNvSpPr/>
            <p:nvPr/>
          </p:nvSpPr>
          <p:spPr>
            <a:xfrm>
              <a:off x="7463044" y="1309130"/>
              <a:ext cx="292607" cy="292607"/>
            </a:xfrm>
            <a:custGeom>
              <a:avLst/>
              <a:gdLst/>
              <a:ahLst/>
              <a:cxnLst/>
              <a:rect l="l" t="t" r="r" b="b"/>
              <a:pathLst>
                <a:path w="292607" h="292607" extrusionOk="0">
                  <a:moveTo>
                    <a:pt x="146304" y="0"/>
                  </a:moveTo>
                  <a:cubicBezTo>
                    <a:pt x="65532" y="0"/>
                    <a:pt x="0" y="65532"/>
                    <a:pt x="0" y="146304"/>
                  </a:cubicBezTo>
                  <a:cubicBezTo>
                    <a:pt x="0" y="227076"/>
                    <a:pt x="65532" y="292608"/>
                    <a:pt x="146304" y="292608"/>
                  </a:cubicBezTo>
                  <a:cubicBezTo>
                    <a:pt x="227076" y="292608"/>
                    <a:pt x="292608" y="227076"/>
                    <a:pt x="292608" y="146304"/>
                  </a:cubicBezTo>
                  <a:cubicBezTo>
                    <a:pt x="292608" y="65532"/>
                    <a:pt x="227076" y="0"/>
                    <a:pt x="146304" y="0"/>
                  </a:cubicBezTo>
                  <a:close/>
                  <a:moveTo>
                    <a:pt x="146304" y="268891"/>
                  </a:moveTo>
                  <a:cubicBezTo>
                    <a:pt x="78772" y="268891"/>
                    <a:pt x="23813" y="213932"/>
                    <a:pt x="23813" y="146399"/>
                  </a:cubicBezTo>
                  <a:cubicBezTo>
                    <a:pt x="23813" y="78867"/>
                    <a:pt x="78772" y="23908"/>
                    <a:pt x="146304" y="23908"/>
                  </a:cubicBezTo>
                  <a:cubicBezTo>
                    <a:pt x="213836" y="23908"/>
                    <a:pt x="268796" y="78867"/>
                    <a:pt x="268796" y="146399"/>
                  </a:cubicBezTo>
                  <a:cubicBezTo>
                    <a:pt x="268796" y="213932"/>
                    <a:pt x="213836" y="268891"/>
                    <a:pt x="146304" y="268891"/>
                  </a:cubicBezTo>
                  <a:close/>
                </a:path>
              </a:pathLst>
            </a:custGeom>
            <a:solidFill>
              <a:srgbClr val="29B5E8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62" name="Google Shape;3029;p95"/>
            <p:cNvSpPr/>
            <p:nvPr/>
          </p:nvSpPr>
          <p:spPr>
            <a:xfrm>
              <a:off x="7512574" y="1389616"/>
              <a:ext cx="193738" cy="125158"/>
            </a:xfrm>
            <a:custGeom>
              <a:avLst/>
              <a:gdLst/>
              <a:ahLst/>
              <a:cxnLst/>
              <a:rect l="l" t="t" r="r" b="b"/>
              <a:pathLst>
                <a:path w="193738" h="125158" extrusionOk="0">
                  <a:moveTo>
                    <a:pt x="183547" y="96203"/>
                  </a:moveTo>
                  <a:lnTo>
                    <a:pt x="183547" y="53054"/>
                  </a:lnTo>
                  <a:cubicBezTo>
                    <a:pt x="189452" y="51054"/>
                    <a:pt x="193643" y="45529"/>
                    <a:pt x="193643" y="39053"/>
                  </a:cubicBezTo>
                  <a:cubicBezTo>
                    <a:pt x="193643" y="32576"/>
                    <a:pt x="189357" y="27051"/>
                    <a:pt x="183547" y="25051"/>
                  </a:cubicBezTo>
                  <a:lnTo>
                    <a:pt x="183547" y="10097"/>
                  </a:lnTo>
                  <a:lnTo>
                    <a:pt x="100298" y="10097"/>
                  </a:lnTo>
                  <a:cubicBezTo>
                    <a:pt x="98298" y="4191"/>
                    <a:pt x="92774" y="0"/>
                    <a:pt x="86296" y="0"/>
                  </a:cubicBezTo>
                  <a:cubicBezTo>
                    <a:pt x="79819" y="0"/>
                    <a:pt x="74295" y="4286"/>
                    <a:pt x="72295" y="10097"/>
                  </a:cubicBezTo>
                  <a:lnTo>
                    <a:pt x="28861" y="10097"/>
                  </a:lnTo>
                  <a:cubicBezTo>
                    <a:pt x="26861" y="4191"/>
                    <a:pt x="21336" y="0"/>
                    <a:pt x="14859" y="0"/>
                  </a:cubicBezTo>
                  <a:cubicBezTo>
                    <a:pt x="6668" y="0"/>
                    <a:pt x="0" y="6668"/>
                    <a:pt x="0" y="14859"/>
                  </a:cubicBezTo>
                  <a:cubicBezTo>
                    <a:pt x="0" y="21241"/>
                    <a:pt x="4096" y="26670"/>
                    <a:pt x="9716" y="28766"/>
                  </a:cubicBezTo>
                  <a:lnTo>
                    <a:pt x="9716" y="96012"/>
                  </a:lnTo>
                  <a:cubicBezTo>
                    <a:pt x="4096" y="98107"/>
                    <a:pt x="0" y="103537"/>
                    <a:pt x="0" y="109919"/>
                  </a:cubicBezTo>
                  <a:cubicBezTo>
                    <a:pt x="0" y="118110"/>
                    <a:pt x="6668" y="124778"/>
                    <a:pt x="14859" y="124778"/>
                  </a:cubicBezTo>
                  <a:cubicBezTo>
                    <a:pt x="21241" y="124778"/>
                    <a:pt x="26670" y="120682"/>
                    <a:pt x="28765" y="115062"/>
                  </a:cubicBezTo>
                  <a:lnTo>
                    <a:pt x="164878" y="115062"/>
                  </a:lnTo>
                  <a:cubicBezTo>
                    <a:pt x="166878" y="120872"/>
                    <a:pt x="172403" y="125158"/>
                    <a:pt x="178880" y="125158"/>
                  </a:cubicBezTo>
                  <a:cubicBezTo>
                    <a:pt x="187071" y="125158"/>
                    <a:pt x="193738" y="118491"/>
                    <a:pt x="193738" y="110300"/>
                  </a:cubicBezTo>
                  <a:cubicBezTo>
                    <a:pt x="193738" y="103727"/>
                    <a:pt x="189452" y="98298"/>
                    <a:pt x="183642" y="96298"/>
                  </a:cubicBezTo>
                  <a:close/>
                  <a:moveTo>
                    <a:pt x="86201" y="29718"/>
                  </a:moveTo>
                  <a:cubicBezTo>
                    <a:pt x="89726" y="29718"/>
                    <a:pt x="92964" y="28384"/>
                    <a:pt x="95536" y="26289"/>
                  </a:cubicBezTo>
                  <a:lnTo>
                    <a:pt x="110490" y="35624"/>
                  </a:lnTo>
                  <a:cubicBezTo>
                    <a:pt x="110204" y="36767"/>
                    <a:pt x="110014" y="37814"/>
                    <a:pt x="110014" y="39053"/>
                  </a:cubicBezTo>
                  <a:cubicBezTo>
                    <a:pt x="110014" y="43720"/>
                    <a:pt x="112205" y="47911"/>
                    <a:pt x="115634" y="50578"/>
                  </a:cubicBezTo>
                  <a:lnTo>
                    <a:pt x="111062" y="63246"/>
                  </a:lnTo>
                  <a:cubicBezTo>
                    <a:pt x="111062" y="63246"/>
                    <a:pt x="110871" y="63246"/>
                    <a:pt x="110681" y="63246"/>
                  </a:cubicBezTo>
                  <a:cubicBezTo>
                    <a:pt x="105632" y="63246"/>
                    <a:pt x="101060" y="65818"/>
                    <a:pt x="98393" y="69723"/>
                  </a:cubicBezTo>
                  <a:lnTo>
                    <a:pt x="70009" y="61531"/>
                  </a:lnTo>
                  <a:cubicBezTo>
                    <a:pt x="69818" y="58388"/>
                    <a:pt x="68675" y="55435"/>
                    <a:pt x="66865" y="53054"/>
                  </a:cubicBezTo>
                  <a:lnTo>
                    <a:pt x="82487" y="29147"/>
                  </a:lnTo>
                  <a:cubicBezTo>
                    <a:pt x="83630" y="29432"/>
                    <a:pt x="84868" y="29623"/>
                    <a:pt x="86201" y="29623"/>
                  </a:cubicBezTo>
                  <a:close/>
                  <a:moveTo>
                    <a:pt x="160973" y="43815"/>
                  </a:moveTo>
                  <a:lnTo>
                    <a:pt x="120682" y="67056"/>
                  </a:lnTo>
                  <a:cubicBezTo>
                    <a:pt x="120682" y="67056"/>
                    <a:pt x="120301" y="66770"/>
                    <a:pt x="120110" y="66580"/>
                  </a:cubicBezTo>
                  <a:lnTo>
                    <a:pt x="124682" y="53816"/>
                  </a:lnTo>
                  <a:cubicBezTo>
                    <a:pt x="124682" y="53816"/>
                    <a:pt x="124873" y="53816"/>
                    <a:pt x="124968" y="53816"/>
                  </a:cubicBezTo>
                  <a:cubicBezTo>
                    <a:pt x="131540" y="53816"/>
                    <a:pt x="136969" y="49530"/>
                    <a:pt x="138970" y="43720"/>
                  </a:cubicBezTo>
                  <a:lnTo>
                    <a:pt x="160973" y="43720"/>
                  </a:lnTo>
                  <a:close/>
                  <a:moveTo>
                    <a:pt x="171450" y="97346"/>
                  </a:moveTo>
                  <a:lnTo>
                    <a:pt x="125539" y="79057"/>
                  </a:lnTo>
                  <a:cubicBezTo>
                    <a:pt x="125539" y="79057"/>
                    <a:pt x="125539" y="78486"/>
                    <a:pt x="125539" y="78105"/>
                  </a:cubicBezTo>
                  <a:cubicBezTo>
                    <a:pt x="125539" y="77057"/>
                    <a:pt x="125444" y="76105"/>
                    <a:pt x="125254" y="75152"/>
                  </a:cubicBezTo>
                  <a:lnTo>
                    <a:pt x="168878" y="50102"/>
                  </a:lnTo>
                  <a:cubicBezTo>
                    <a:pt x="170307" y="51340"/>
                    <a:pt x="172022" y="52388"/>
                    <a:pt x="173927" y="52959"/>
                  </a:cubicBezTo>
                  <a:lnTo>
                    <a:pt x="173927" y="96107"/>
                  </a:lnTo>
                  <a:cubicBezTo>
                    <a:pt x="173069" y="96393"/>
                    <a:pt x="172212" y="96774"/>
                    <a:pt x="171450" y="97250"/>
                  </a:cubicBezTo>
                  <a:close/>
                  <a:moveTo>
                    <a:pt x="49816" y="76009"/>
                  </a:moveTo>
                  <a:cubicBezTo>
                    <a:pt x="51530" y="76676"/>
                    <a:pt x="53340" y="77057"/>
                    <a:pt x="55340" y="77057"/>
                  </a:cubicBezTo>
                  <a:cubicBezTo>
                    <a:pt x="60388" y="77057"/>
                    <a:pt x="64865" y="74486"/>
                    <a:pt x="67532" y="70676"/>
                  </a:cubicBezTo>
                  <a:lnTo>
                    <a:pt x="93345" y="78105"/>
                  </a:lnTo>
                  <a:cubicBezTo>
                    <a:pt x="77629" y="82487"/>
                    <a:pt x="53340" y="89249"/>
                    <a:pt x="33433" y="95250"/>
                  </a:cubicBezTo>
                  <a:lnTo>
                    <a:pt x="49816" y="76009"/>
                  </a:lnTo>
                  <a:close/>
                  <a:moveTo>
                    <a:pt x="74581" y="24003"/>
                  </a:moveTo>
                  <a:lnTo>
                    <a:pt x="58960" y="47911"/>
                  </a:lnTo>
                  <a:cubicBezTo>
                    <a:pt x="57721" y="47625"/>
                    <a:pt x="56579" y="47339"/>
                    <a:pt x="55245" y="47339"/>
                  </a:cubicBezTo>
                  <a:cubicBezTo>
                    <a:pt x="53435" y="47339"/>
                    <a:pt x="51626" y="47720"/>
                    <a:pt x="50006" y="48292"/>
                  </a:cubicBezTo>
                  <a:lnTo>
                    <a:pt x="27908" y="21336"/>
                  </a:lnTo>
                  <a:cubicBezTo>
                    <a:pt x="28194" y="20765"/>
                    <a:pt x="28480" y="20193"/>
                    <a:pt x="28670" y="19526"/>
                  </a:cubicBezTo>
                  <a:lnTo>
                    <a:pt x="72104" y="19526"/>
                  </a:lnTo>
                  <a:cubicBezTo>
                    <a:pt x="72676" y="21146"/>
                    <a:pt x="73438" y="22574"/>
                    <a:pt x="74486" y="23908"/>
                  </a:cubicBezTo>
                  <a:close/>
                  <a:moveTo>
                    <a:pt x="21241" y="28194"/>
                  </a:moveTo>
                  <a:lnTo>
                    <a:pt x="42767" y="54388"/>
                  </a:lnTo>
                  <a:cubicBezTo>
                    <a:pt x="41338" y="56674"/>
                    <a:pt x="40481" y="59341"/>
                    <a:pt x="40481" y="62198"/>
                  </a:cubicBezTo>
                  <a:cubicBezTo>
                    <a:pt x="40481" y="65056"/>
                    <a:pt x="41338" y="67532"/>
                    <a:pt x="42672" y="69818"/>
                  </a:cubicBezTo>
                  <a:lnTo>
                    <a:pt x="20288" y="96107"/>
                  </a:lnTo>
                  <a:cubicBezTo>
                    <a:pt x="20288" y="96107"/>
                    <a:pt x="19621" y="95917"/>
                    <a:pt x="19240" y="95822"/>
                  </a:cubicBezTo>
                  <a:lnTo>
                    <a:pt x="19240" y="29051"/>
                  </a:lnTo>
                  <a:cubicBezTo>
                    <a:pt x="20003" y="28861"/>
                    <a:pt x="20669" y="28575"/>
                    <a:pt x="21336" y="28194"/>
                  </a:cubicBezTo>
                  <a:close/>
                  <a:moveTo>
                    <a:pt x="98584" y="86582"/>
                  </a:moveTo>
                  <a:cubicBezTo>
                    <a:pt x="101251" y="90488"/>
                    <a:pt x="105728" y="93059"/>
                    <a:pt x="110776" y="93059"/>
                  </a:cubicBezTo>
                  <a:cubicBezTo>
                    <a:pt x="115253" y="93059"/>
                    <a:pt x="119253" y="91059"/>
                    <a:pt x="121920" y="87916"/>
                  </a:cubicBezTo>
                  <a:lnTo>
                    <a:pt x="164878" y="105061"/>
                  </a:lnTo>
                  <a:cubicBezTo>
                    <a:pt x="164878" y="105061"/>
                    <a:pt x="164783" y="105442"/>
                    <a:pt x="164687" y="105537"/>
                  </a:cubicBezTo>
                  <a:lnTo>
                    <a:pt x="32385" y="105537"/>
                  </a:lnTo>
                  <a:cubicBezTo>
                    <a:pt x="53912" y="99060"/>
                    <a:pt x="82106" y="91154"/>
                    <a:pt x="98488" y="86582"/>
                  </a:cubicBezTo>
                  <a:close/>
                  <a:moveTo>
                    <a:pt x="178784" y="44387"/>
                  </a:moveTo>
                  <a:cubicBezTo>
                    <a:pt x="175832" y="44387"/>
                    <a:pt x="173450" y="42005"/>
                    <a:pt x="173450" y="39053"/>
                  </a:cubicBezTo>
                  <a:cubicBezTo>
                    <a:pt x="173450" y="36100"/>
                    <a:pt x="175832" y="33719"/>
                    <a:pt x="178784" y="33719"/>
                  </a:cubicBezTo>
                  <a:cubicBezTo>
                    <a:pt x="181737" y="33719"/>
                    <a:pt x="184118" y="36100"/>
                    <a:pt x="184118" y="39053"/>
                  </a:cubicBezTo>
                  <a:cubicBezTo>
                    <a:pt x="184118" y="42005"/>
                    <a:pt x="181737" y="44387"/>
                    <a:pt x="178784" y="44387"/>
                  </a:cubicBezTo>
                  <a:close/>
                  <a:moveTo>
                    <a:pt x="174022" y="25051"/>
                  </a:moveTo>
                  <a:cubicBezTo>
                    <a:pt x="169640" y="26575"/>
                    <a:pt x="166211" y="29908"/>
                    <a:pt x="164783" y="34290"/>
                  </a:cubicBezTo>
                  <a:lnTo>
                    <a:pt x="139065" y="34290"/>
                  </a:lnTo>
                  <a:cubicBezTo>
                    <a:pt x="137065" y="28384"/>
                    <a:pt x="131540" y="24194"/>
                    <a:pt x="125063" y="24194"/>
                  </a:cubicBezTo>
                  <a:cubicBezTo>
                    <a:pt x="121539" y="24194"/>
                    <a:pt x="118301" y="25527"/>
                    <a:pt x="115729" y="27623"/>
                  </a:cubicBezTo>
                  <a:lnTo>
                    <a:pt x="102965" y="19622"/>
                  </a:lnTo>
                  <a:lnTo>
                    <a:pt x="174117" y="19622"/>
                  </a:lnTo>
                  <a:lnTo>
                    <a:pt x="174117" y="25051"/>
                  </a:lnTo>
                  <a:close/>
                  <a:moveTo>
                    <a:pt x="86201" y="9525"/>
                  </a:moveTo>
                  <a:cubicBezTo>
                    <a:pt x="89154" y="9525"/>
                    <a:pt x="91535" y="11906"/>
                    <a:pt x="91535" y="14859"/>
                  </a:cubicBezTo>
                  <a:cubicBezTo>
                    <a:pt x="91535" y="17812"/>
                    <a:pt x="89154" y="20193"/>
                    <a:pt x="86201" y="20193"/>
                  </a:cubicBezTo>
                  <a:cubicBezTo>
                    <a:pt x="83249" y="20193"/>
                    <a:pt x="80867" y="17812"/>
                    <a:pt x="80867" y="14859"/>
                  </a:cubicBezTo>
                  <a:cubicBezTo>
                    <a:pt x="80867" y="11906"/>
                    <a:pt x="83249" y="9525"/>
                    <a:pt x="86201" y="9525"/>
                  </a:cubicBezTo>
                  <a:close/>
                  <a:moveTo>
                    <a:pt x="14764" y="9525"/>
                  </a:moveTo>
                  <a:cubicBezTo>
                    <a:pt x="17717" y="9525"/>
                    <a:pt x="20098" y="11906"/>
                    <a:pt x="20098" y="14859"/>
                  </a:cubicBezTo>
                  <a:cubicBezTo>
                    <a:pt x="20098" y="17812"/>
                    <a:pt x="17717" y="20193"/>
                    <a:pt x="14764" y="20193"/>
                  </a:cubicBezTo>
                  <a:cubicBezTo>
                    <a:pt x="11811" y="20193"/>
                    <a:pt x="9430" y="17812"/>
                    <a:pt x="9430" y="14859"/>
                  </a:cubicBezTo>
                  <a:cubicBezTo>
                    <a:pt x="9430" y="11906"/>
                    <a:pt x="11811" y="9525"/>
                    <a:pt x="14764" y="9525"/>
                  </a:cubicBezTo>
                  <a:close/>
                  <a:moveTo>
                    <a:pt x="14764" y="115253"/>
                  </a:moveTo>
                  <a:cubicBezTo>
                    <a:pt x="11811" y="115253"/>
                    <a:pt x="9430" y="112871"/>
                    <a:pt x="9430" y="109919"/>
                  </a:cubicBezTo>
                  <a:cubicBezTo>
                    <a:pt x="9430" y="106966"/>
                    <a:pt x="11811" y="104584"/>
                    <a:pt x="14764" y="104584"/>
                  </a:cubicBezTo>
                  <a:cubicBezTo>
                    <a:pt x="17717" y="104584"/>
                    <a:pt x="20098" y="106966"/>
                    <a:pt x="20098" y="109919"/>
                  </a:cubicBezTo>
                  <a:cubicBezTo>
                    <a:pt x="20098" y="112871"/>
                    <a:pt x="17717" y="115253"/>
                    <a:pt x="14764" y="115253"/>
                  </a:cubicBezTo>
                  <a:close/>
                </a:path>
              </a:pathLst>
            </a:custGeom>
            <a:solidFill>
              <a:srgbClr val="29B5E8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63" name="Google Shape;3030;p95"/>
            <p:cNvSpPr/>
            <p:nvPr/>
          </p:nvSpPr>
          <p:spPr>
            <a:xfrm>
              <a:off x="7362651" y="1300463"/>
              <a:ext cx="142303" cy="23812"/>
            </a:xfrm>
            <a:custGeom>
              <a:avLst/>
              <a:gdLst/>
              <a:ahLst/>
              <a:cxnLst/>
              <a:rect l="l" t="t" r="r" b="b"/>
              <a:pathLst>
                <a:path w="142303" h="23812" extrusionOk="0">
                  <a:moveTo>
                    <a:pt x="142304" y="11906"/>
                  </a:moveTo>
                  <a:cubicBezTo>
                    <a:pt x="142304" y="5334"/>
                    <a:pt x="136969" y="0"/>
                    <a:pt x="130397" y="0"/>
                  </a:cubicBezTo>
                  <a:lnTo>
                    <a:pt x="11906" y="0"/>
                  </a:lnTo>
                  <a:cubicBezTo>
                    <a:pt x="5334" y="0"/>
                    <a:pt x="0" y="5334"/>
                    <a:pt x="0" y="11906"/>
                  </a:cubicBezTo>
                  <a:cubicBezTo>
                    <a:pt x="0" y="18478"/>
                    <a:pt x="5334" y="23813"/>
                    <a:pt x="11906" y="23813"/>
                  </a:cubicBezTo>
                  <a:lnTo>
                    <a:pt x="130397" y="23813"/>
                  </a:lnTo>
                  <a:cubicBezTo>
                    <a:pt x="136969" y="23813"/>
                    <a:pt x="142304" y="18478"/>
                    <a:pt x="142304" y="11906"/>
                  </a:cubicBezTo>
                  <a:close/>
                </a:path>
              </a:pathLst>
            </a:custGeom>
            <a:solidFill>
              <a:srgbClr val="29B5E8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64" name="Google Shape;3031;p95"/>
            <p:cNvSpPr/>
            <p:nvPr/>
          </p:nvSpPr>
          <p:spPr>
            <a:xfrm>
              <a:off x="7362651" y="1355612"/>
              <a:ext cx="95154" cy="23812"/>
            </a:xfrm>
            <a:custGeom>
              <a:avLst/>
              <a:gdLst/>
              <a:ahLst/>
              <a:cxnLst/>
              <a:rect l="l" t="t" r="r" b="b"/>
              <a:pathLst>
                <a:path w="95154" h="23812" extrusionOk="0">
                  <a:moveTo>
                    <a:pt x="95155" y="11906"/>
                  </a:moveTo>
                  <a:cubicBezTo>
                    <a:pt x="95155" y="5334"/>
                    <a:pt x="89821" y="0"/>
                    <a:pt x="83249" y="0"/>
                  </a:cubicBezTo>
                  <a:lnTo>
                    <a:pt x="11906" y="0"/>
                  </a:lnTo>
                  <a:cubicBezTo>
                    <a:pt x="5334" y="0"/>
                    <a:pt x="0" y="5334"/>
                    <a:pt x="0" y="11906"/>
                  </a:cubicBezTo>
                  <a:cubicBezTo>
                    <a:pt x="0" y="18478"/>
                    <a:pt x="5334" y="23813"/>
                    <a:pt x="11906" y="23813"/>
                  </a:cubicBezTo>
                  <a:lnTo>
                    <a:pt x="83249" y="23813"/>
                  </a:lnTo>
                  <a:cubicBezTo>
                    <a:pt x="89821" y="23813"/>
                    <a:pt x="95155" y="18478"/>
                    <a:pt x="95155" y="11906"/>
                  </a:cubicBezTo>
                  <a:close/>
                </a:path>
              </a:pathLst>
            </a:custGeom>
            <a:solidFill>
              <a:srgbClr val="29B5E8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65" name="Google Shape;3032;p95"/>
            <p:cNvSpPr/>
            <p:nvPr/>
          </p:nvSpPr>
          <p:spPr>
            <a:xfrm>
              <a:off x="7362746" y="1410667"/>
              <a:ext cx="76485" cy="23812"/>
            </a:xfrm>
            <a:custGeom>
              <a:avLst/>
              <a:gdLst/>
              <a:ahLst/>
              <a:cxnLst/>
              <a:rect l="l" t="t" r="r" b="b"/>
              <a:pathLst>
                <a:path w="76485" h="23812" extrusionOk="0">
                  <a:moveTo>
                    <a:pt x="64579" y="0"/>
                  </a:moveTo>
                  <a:lnTo>
                    <a:pt x="11906" y="0"/>
                  </a:lnTo>
                  <a:cubicBezTo>
                    <a:pt x="5334" y="0"/>
                    <a:pt x="0" y="5334"/>
                    <a:pt x="0" y="11906"/>
                  </a:cubicBezTo>
                  <a:cubicBezTo>
                    <a:pt x="0" y="18479"/>
                    <a:pt x="5334" y="23813"/>
                    <a:pt x="11906" y="23813"/>
                  </a:cubicBezTo>
                  <a:lnTo>
                    <a:pt x="64579" y="23813"/>
                  </a:lnTo>
                  <a:cubicBezTo>
                    <a:pt x="71152" y="23813"/>
                    <a:pt x="76486" y="18479"/>
                    <a:pt x="76486" y="11906"/>
                  </a:cubicBezTo>
                  <a:cubicBezTo>
                    <a:pt x="76486" y="5334"/>
                    <a:pt x="71152" y="0"/>
                    <a:pt x="64579" y="0"/>
                  </a:cubicBezTo>
                  <a:close/>
                </a:path>
              </a:pathLst>
            </a:custGeom>
            <a:solidFill>
              <a:srgbClr val="29B5E8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66" name="Google Shape;3033;p95"/>
            <p:cNvSpPr/>
            <p:nvPr/>
          </p:nvSpPr>
          <p:spPr>
            <a:xfrm>
              <a:off x="7362651" y="1465816"/>
              <a:ext cx="75818" cy="23812"/>
            </a:xfrm>
            <a:custGeom>
              <a:avLst/>
              <a:gdLst/>
              <a:ahLst/>
              <a:cxnLst/>
              <a:rect l="l" t="t" r="r" b="b"/>
              <a:pathLst>
                <a:path w="75818" h="23812" extrusionOk="0">
                  <a:moveTo>
                    <a:pt x="63913" y="0"/>
                  </a:moveTo>
                  <a:lnTo>
                    <a:pt x="11906" y="0"/>
                  </a:lnTo>
                  <a:cubicBezTo>
                    <a:pt x="5334" y="0"/>
                    <a:pt x="0" y="5334"/>
                    <a:pt x="0" y="11906"/>
                  </a:cubicBezTo>
                  <a:cubicBezTo>
                    <a:pt x="0" y="18479"/>
                    <a:pt x="5334" y="23813"/>
                    <a:pt x="11906" y="23813"/>
                  </a:cubicBezTo>
                  <a:lnTo>
                    <a:pt x="63913" y="23813"/>
                  </a:lnTo>
                  <a:cubicBezTo>
                    <a:pt x="70485" y="23813"/>
                    <a:pt x="75819" y="18479"/>
                    <a:pt x="75819" y="11906"/>
                  </a:cubicBezTo>
                  <a:cubicBezTo>
                    <a:pt x="75819" y="5334"/>
                    <a:pt x="70485" y="0"/>
                    <a:pt x="63913" y="0"/>
                  </a:cubicBezTo>
                  <a:close/>
                </a:path>
              </a:pathLst>
            </a:custGeom>
            <a:solidFill>
              <a:srgbClr val="29B5E8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67" name="Google Shape;3034;p95"/>
            <p:cNvSpPr/>
            <p:nvPr/>
          </p:nvSpPr>
          <p:spPr>
            <a:xfrm>
              <a:off x="7306072" y="1108153"/>
              <a:ext cx="343947" cy="460533"/>
            </a:xfrm>
            <a:custGeom>
              <a:avLst/>
              <a:gdLst/>
              <a:ahLst/>
              <a:cxnLst/>
              <a:rect l="l" t="t" r="r" b="b"/>
              <a:pathLst>
                <a:path w="343947" h="460533" extrusionOk="0">
                  <a:moveTo>
                    <a:pt x="144685" y="422339"/>
                  </a:moveTo>
                  <a:lnTo>
                    <a:pt x="38100" y="422339"/>
                  </a:lnTo>
                  <a:lnTo>
                    <a:pt x="38100" y="143351"/>
                  </a:lnTo>
                  <a:lnTo>
                    <a:pt x="109728" y="143351"/>
                  </a:lnTo>
                  <a:cubicBezTo>
                    <a:pt x="120206" y="143351"/>
                    <a:pt x="128778" y="134779"/>
                    <a:pt x="128778" y="124301"/>
                  </a:cubicBezTo>
                  <a:lnTo>
                    <a:pt x="128778" y="38100"/>
                  </a:lnTo>
                  <a:lnTo>
                    <a:pt x="305848" y="38100"/>
                  </a:lnTo>
                  <a:lnTo>
                    <a:pt x="305848" y="164211"/>
                  </a:lnTo>
                  <a:cubicBezTo>
                    <a:pt x="305848" y="174689"/>
                    <a:pt x="314420" y="183261"/>
                    <a:pt x="324898" y="183261"/>
                  </a:cubicBezTo>
                  <a:cubicBezTo>
                    <a:pt x="335375" y="183261"/>
                    <a:pt x="343948" y="174689"/>
                    <a:pt x="343948" y="164211"/>
                  </a:cubicBezTo>
                  <a:lnTo>
                    <a:pt x="343948" y="19050"/>
                  </a:lnTo>
                  <a:cubicBezTo>
                    <a:pt x="343948" y="8572"/>
                    <a:pt x="335375" y="0"/>
                    <a:pt x="324898" y="0"/>
                  </a:cubicBezTo>
                  <a:lnTo>
                    <a:pt x="111728" y="0"/>
                  </a:lnTo>
                  <a:cubicBezTo>
                    <a:pt x="106394" y="0"/>
                    <a:pt x="101251" y="2286"/>
                    <a:pt x="97631" y="6191"/>
                  </a:cubicBezTo>
                  <a:lnTo>
                    <a:pt x="4953" y="107823"/>
                  </a:lnTo>
                  <a:cubicBezTo>
                    <a:pt x="1715" y="111347"/>
                    <a:pt x="0" y="115919"/>
                    <a:pt x="0" y="120682"/>
                  </a:cubicBezTo>
                  <a:lnTo>
                    <a:pt x="0" y="441484"/>
                  </a:lnTo>
                  <a:cubicBezTo>
                    <a:pt x="0" y="451961"/>
                    <a:pt x="8573" y="460534"/>
                    <a:pt x="19050" y="460534"/>
                  </a:cubicBezTo>
                  <a:lnTo>
                    <a:pt x="144685" y="460534"/>
                  </a:lnTo>
                  <a:cubicBezTo>
                    <a:pt x="155162" y="460534"/>
                    <a:pt x="163735" y="451961"/>
                    <a:pt x="163735" y="441484"/>
                  </a:cubicBezTo>
                  <a:cubicBezTo>
                    <a:pt x="163735" y="431006"/>
                    <a:pt x="155162" y="422434"/>
                    <a:pt x="144685" y="422434"/>
                  </a:cubicBezTo>
                  <a:close/>
                  <a:moveTo>
                    <a:pt x="58865" y="105251"/>
                  </a:moveTo>
                  <a:lnTo>
                    <a:pt x="90678" y="70390"/>
                  </a:lnTo>
                  <a:lnTo>
                    <a:pt x="90678" y="105251"/>
                  </a:lnTo>
                  <a:lnTo>
                    <a:pt x="58865" y="105251"/>
                  </a:lnTo>
                  <a:close/>
                </a:path>
              </a:pathLst>
            </a:custGeom>
            <a:solidFill>
              <a:srgbClr val="29B5E8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9068" name="TextBox 9067"/>
          <p:cNvSpPr txBox="1"/>
          <p:nvPr/>
        </p:nvSpPr>
        <p:spPr>
          <a:xfrm>
            <a:off x="4786884" y="2990088"/>
            <a:ext cx="170307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11567F"/>
                </a:solidFill>
                <a:latin typeface="Arial"/>
              </a:rPr>
              <a:t>AI_SUMMARIZE</a:t>
            </a:r>
          </a:p>
        </p:txBody>
      </p:sp>
      <p:sp>
        <p:nvSpPr>
          <p:cNvPr id="9069" name="TextBox 9068"/>
          <p:cNvSpPr txBox="1"/>
          <p:nvPr/>
        </p:nvSpPr>
        <p:spPr>
          <a:xfrm>
            <a:off x="4786884" y="3227832"/>
            <a:ext cx="170307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5B5B5B"/>
                </a:solidFill>
                <a:latin typeface="Arial"/>
              </a:rPr>
              <a:t>A customer's history in one paragraph</a:t>
            </a:r>
          </a:p>
        </p:txBody>
      </p:sp>
      <p:sp>
        <p:nvSpPr>
          <p:cNvPr id="9070" name="Rounded Rectangle 9069"/>
          <p:cNvSpPr/>
          <p:nvPr/>
        </p:nvSpPr>
        <p:spPr>
          <a:xfrm>
            <a:off x="6755130" y="2578608"/>
            <a:ext cx="1977390" cy="1024128"/>
          </a:xfrm>
          <a:prstGeom prst="roundRect">
            <a:avLst>
              <a:gd name="adj" fmla="val 8000"/>
            </a:avLst>
          </a:prstGeom>
          <a:solidFill>
            <a:srgbClr val="E3F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pSp>
        <p:nvGrpSpPr>
          <p:cNvPr id="9068" name="Google Shape;3010;p95"/>
          <p:cNvGrpSpPr/>
          <p:nvPr/>
        </p:nvGrpSpPr>
        <p:grpSpPr>
          <a:xfrm>
            <a:off x="6883146" y="2676537"/>
            <a:ext cx="274320" cy="261341"/>
            <a:chOff x="8167601" y="3949025"/>
            <a:chExt cx="531592" cy="506443"/>
          </a:xfrm>
        </p:grpSpPr>
        <p:sp>
          <p:nvSpPr>
            <p:cNvPr id="9069" name="Google Shape;3011;p95"/>
            <p:cNvSpPr/>
            <p:nvPr/>
          </p:nvSpPr>
          <p:spPr>
            <a:xfrm>
              <a:off x="8368007" y="4095138"/>
              <a:ext cx="331186" cy="360330"/>
            </a:xfrm>
            <a:custGeom>
              <a:avLst/>
              <a:gdLst/>
              <a:ahLst/>
              <a:cxnLst/>
              <a:rect l="l" t="t" r="r" b="b"/>
              <a:pathLst>
                <a:path w="331186" h="360330" extrusionOk="0">
                  <a:moveTo>
                    <a:pt x="323850" y="308134"/>
                  </a:moveTo>
                  <a:lnTo>
                    <a:pt x="261938" y="235744"/>
                  </a:lnTo>
                  <a:cubicBezTo>
                    <a:pt x="281083" y="210979"/>
                    <a:pt x="292608" y="180023"/>
                    <a:pt x="292608" y="146304"/>
                  </a:cubicBezTo>
                  <a:cubicBezTo>
                    <a:pt x="292608" y="65532"/>
                    <a:pt x="227076" y="0"/>
                    <a:pt x="146304" y="0"/>
                  </a:cubicBezTo>
                  <a:cubicBezTo>
                    <a:pt x="65532" y="0"/>
                    <a:pt x="0" y="65532"/>
                    <a:pt x="0" y="146304"/>
                  </a:cubicBezTo>
                  <a:cubicBezTo>
                    <a:pt x="0" y="227076"/>
                    <a:pt x="65532" y="292608"/>
                    <a:pt x="146304" y="292608"/>
                  </a:cubicBezTo>
                  <a:cubicBezTo>
                    <a:pt x="170307" y="292608"/>
                    <a:pt x="192881" y="286703"/>
                    <a:pt x="212884" y="276511"/>
                  </a:cubicBezTo>
                  <a:lnTo>
                    <a:pt x="275558" y="349758"/>
                  </a:lnTo>
                  <a:cubicBezTo>
                    <a:pt x="280892" y="355949"/>
                    <a:pt x="288322" y="359759"/>
                    <a:pt x="296513" y="360331"/>
                  </a:cubicBezTo>
                  <a:cubicBezTo>
                    <a:pt x="297275" y="360331"/>
                    <a:pt x="298037" y="360331"/>
                    <a:pt x="298799" y="360331"/>
                  </a:cubicBezTo>
                  <a:cubicBezTo>
                    <a:pt x="306134" y="360331"/>
                    <a:pt x="313182" y="357759"/>
                    <a:pt x="318707" y="352901"/>
                  </a:cubicBezTo>
                  <a:lnTo>
                    <a:pt x="320516" y="351377"/>
                  </a:lnTo>
                  <a:cubicBezTo>
                    <a:pt x="333375" y="340328"/>
                    <a:pt x="334804" y="320897"/>
                    <a:pt x="323755" y="308039"/>
                  </a:cubicBezTo>
                  <a:close/>
                  <a:moveTo>
                    <a:pt x="23813" y="146304"/>
                  </a:moveTo>
                  <a:cubicBezTo>
                    <a:pt x="23813" y="78772"/>
                    <a:pt x="78772" y="23813"/>
                    <a:pt x="146304" y="23813"/>
                  </a:cubicBezTo>
                  <a:cubicBezTo>
                    <a:pt x="213836" y="23813"/>
                    <a:pt x="268796" y="78772"/>
                    <a:pt x="268796" y="146304"/>
                  </a:cubicBezTo>
                  <a:cubicBezTo>
                    <a:pt x="268796" y="213836"/>
                    <a:pt x="213836" y="268796"/>
                    <a:pt x="146304" y="268796"/>
                  </a:cubicBezTo>
                  <a:cubicBezTo>
                    <a:pt x="78772" y="268796"/>
                    <a:pt x="23813" y="213836"/>
                    <a:pt x="23813" y="146304"/>
                  </a:cubicBezTo>
                  <a:close/>
                </a:path>
              </a:pathLst>
            </a:custGeom>
            <a:solidFill>
              <a:srgbClr val="29B5E8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70" name="Google Shape;3012;p95"/>
            <p:cNvSpPr/>
            <p:nvPr/>
          </p:nvSpPr>
          <p:spPr>
            <a:xfrm>
              <a:off x="8227608" y="4138667"/>
              <a:ext cx="138207" cy="23812"/>
            </a:xfrm>
            <a:custGeom>
              <a:avLst/>
              <a:gdLst/>
              <a:ahLst/>
              <a:cxnLst/>
              <a:rect l="l" t="t" r="r" b="b"/>
              <a:pathLst>
                <a:path w="138207" h="23812" extrusionOk="0">
                  <a:moveTo>
                    <a:pt x="138208" y="11906"/>
                  </a:moveTo>
                  <a:cubicBezTo>
                    <a:pt x="138208" y="5334"/>
                    <a:pt x="132874" y="0"/>
                    <a:pt x="126301" y="0"/>
                  </a:cubicBezTo>
                  <a:lnTo>
                    <a:pt x="11906" y="0"/>
                  </a:lnTo>
                  <a:cubicBezTo>
                    <a:pt x="5334" y="0"/>
                    <a:pt x="0" y="5334"/>
                    <a:pt x="0" y="11906"/>
                  </a:cubicBezTo>
                  <a:cubicBezTo>
                    <a:pt x="0" y="18479"/>
                    <a:pt x="5334" y="23813"/>
                    <a:pt x="11906" y="23813"/>
                  </a:cubicBezTo>
                  <a:lnTo>
                    <a:pt x="126301" y="23813"/>
                  </a:lnTo>
                  <a:cubicBezTo>
                    <a:pt x="132874" y="23813"/>
                    <a:pt x="138208" y="18479"/>
                    <a:pt x="138208" y="11906"/>
                  </a:cubicBezTo>
                  <a:close/>
                </a:path>
              </a:pathLst>
            </a:custGeom>
            <a:solidFill>
              <a:srgbClr val="29B5E8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71" name="Google Shape;3013;p95"/>
            <p:cNvSpPr/>
            <p:nvPr/>
          </p:nvSpPr>
          <p:spPr>
            <a:xfrm>
              <a:off x="8227608" y="4191817"/>
              <a:ext cx="118110" cy="23812"/>
            </a:xfrm>
            <a:custGeom>
              <a:avLst/>
              <a:gdLst/>
              <a:ahLst/>
              <a:cxnLst/>
              <a:rect l="l" t="t" r="r" b="b"/>
              <a:pathLst>
                <a:path w="118110" h="23812" extrusionOk="0">
                  <a:moveTo>
                    <a:pt x="106204" y="0"/>
                  </a:moveTo>
                  <a:lnTo>
                    <a:pt x="11906" y="0"/>
                  </a:lnTo>
                  <a:cubicBezTo>
                    <a:pt x="5334" y="0"/>
                    <a:pt x="0" y="5334"/>
                    <a:pt x="0" y="11906"/>
                  </a:cubicBezTo>
                  <a:cubicBezTo>
                    <a:pt x="0" y="18479"/>
                    <a:pt x="5334" y="23813"/>
                    <a:pt x="11906" y="23813"/>
                  </a:cubicBezTo>
                  <a:lnTo>
                    <a:pt x="106204" y="23813"/>
                  </a:lnTo>
                  <a:cubicBezTo>
                    <a:pt x="112776" y="23813"/>
                    <a:pt x="118110" y="18479"/>
                    <a:pt x="118110" y="11906"/>
                  </a:cubicBezTo>
                  <a:cubicBezTo>
                    <a:pt x="118110" y="5334"/>
                    <a:pt x="112776" y="0"/>
                    <a:pt x="106204" y="0"/>
                  </a:cubicBezTo>
                  <a:close/>
                </a:path>
              </a:pathLst>
            </a:custGeom>
            <a:solidFill>
              <a:srgbClr val="29B5E8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72" name="Google Shape;3014;p95"/>
            <p:cNvSpPr/>
            <p:nvPr/>
          </p:nvSpPr>
          <p:spPr>
            <a:xfrm>
              <a:off x="8417632" y="4175625"/>
              <a:ext cx="193738" cy="125158"/>
            </a:xfrm>
            <a:custGeom>
              <a:avLst/>
              <a:gdLst/>
              <a:ahLst/>
              <a:cxnLst/>
              <a:rect l="l" t="t" r="r" b="b"/>
              <a:pathLst>
                <a:path w="193738" h="125158" extrusionOk="0">
                  <a:moveTo>
                    <a:pt x="193643" y="110204"/>
                  </a:moveTo>
                  <a:cubicBezTo>
                    <a:pt x="193643" y="103632"/>
                    <a:pt x="189357" y="98203"/>
                    <a:pt x="183547" y="96202"/>
                  </a:cubicBezTo>
                  <a:lnTo>
                    <a:pt x="183547" y="53054"/>
                  </a:lnTo>
                  <a:cubicBezTo>
                    <a:pt x="189452" y="51054"/>
                    <a:pt x="193643" y="45529"/>
                    <a:pt x="193643" y="39052"/>
                  </a:cubicBezTo>
                  <a:cubicBezTo>
                    <a:pt x="193643" y="32575"/>
                    <a:pt x="189357" y="27051"/>
                    <a:pt x="183547" y="25051"/>
                  </a:cubicBezTo>
                  <a:lnTo>
                    <a:pt x="183547" y="10096"/>
                  </a:lnTo>
                  <a:lnTo>
                    <a:pt x="100298" y="10096"/>
                  </a:lnTo>
                  <a:cubicBezTo>
                    <a:pt x="98298" y="4191"/>
                    <a:pt x="92774" y="0"/>
                    <a:pt x="86297" y="0"/>
                  </a:cubicBezTo>
                  <a:cubicBezTo>
                    <a:pt x="79820" y="0"/>
                    <a:pt x="74295" y="4286"/>
                    <a:pt x="72295" y="10096"/>
                  </a:cubicBezTo>
                  <a:lnTo>
                    <a:pt x="28861" y="10096"/>
                  </a:lnTo>
                  <a:cubicBezTo>
                    <a:pt x="26860" y="4191"/>
                    <a:pt x="21336" y="0"/>
                    <a:pt x="14859" y="0"/>
                  </a:cubicBezTo>
                  <a:cubicBezTo>
                    <a:pt x="6668" y="0"/>
                    <a:pt x="0" y="6667"/>
                    <a:pt x="0" y="14859"/>
                  </a:cubicBezTo>
                  <a:cubicBezTo>
                    <a:pt x="0" y="21241"/>
                    <a:pt x="4096" y="26670"/>
                    <a:pt x="9716" y="28766"/>
                  </a:cubicBezTo>
                  <a:lnTo>
                    <a:pt x="9716" y="96012"/>
                  </a:lnTo>
                  <a:cubicBezTo>
                    <a:pt x="4096" y="98107"/>
                    <a:pt x="0" y="103537"/>
                    <a:pt x="0" y="109919"/>
                  </a:cubicBezTo>
                  <a:cubicBezTo>
                    <a:pt x="0" y="118110"/>
                    <a:pt x="6668" y="124777"/>
                    <a:pt x="14859" y="124777"/>
                  </a:cubicBezTo>
                  <a:cubicBezTo>
                    <a:pt x="21241" y="124777"/>
                    <a:pt x="26670" y="120682"/>
                    <a:pt x="28766" y="115062"/>
                  </a:cubicBezTo>
                  <a:lnTo>
                    <a:pt x="164878" y="115062"/>
                  </a:lnTo>
                  <a:cubicBezTo>
                    <a:pt x="166878" y="120872"/>
                    <a:pt x="172402" y="125158"/>
                    <a:pt x="178879" y="125158"/>
                  </a:cubicBezTo>
                  <a:cubicBezTo>
                    <a:pt x="187071" y="125158"/>
                    <a:pt x="193739" y="118491"/>
                    <a:pt x="193739" y="110299"/>
                  </a:cubicBezTo>
                  <a:close/>
                  <a:moveTo>
                    <a:pt x="86201" y="29623"/>
                  </a:moveTo>
                  <a:cubicBezTo>
                    <a:pt x="89725" y="29623"/>
                    <a:pt x="92964" y="28289"/>
                    <a:pt x="95536" y="26194"/>
                  </a:cubicBezTo>
                  <a:lnTo>
                    <a:pt x="110490" y="35528"/>
                  </a:lnTo>
                  <a:cubicBezTo>
                    <a:pt x="110204" y="36671"/>
                    <a:pt x="110014" y="37719"/>
                    <a:pt x="110014" y="38957"/>
                  </a:cubicBezTo>
                  <a:cubicBezTo>
                    <a:pt x="110014" y="43624"/>
                    <a:pt x="112204" y="47816"/>
                    <a:pt x="115633" y="50482"/>
                  </a:cubicBezTo>
                  <a:lnTo>
                    <a:pt x="111062" y="63151"/>
                  </a:lnTo>
                  <a:cubicBezTo>
                    <a:pt x="111062" y="63151"/>
                    <a:pt x="110871" y="63151"/>
                    <a:pt x="110680" y="63151"/>
                  </a:cubicBezTo>
                  <a:cubicBezTo>
                    <a:pt x="105632" y="63151"/>
                    <a:pt x="101060" y="65722"/>
                    <a:pt x="98393" y="69628"/>
                  </a:cubicBezTo>
                  <a:lnTo>
                    <a:pt x="70009" y="61436"/>
                  </a:lnTo>
                  <a:cubicBezTo>
                    <a:pt x="69818" y="58293"/>
                    <a:pt x="68675" y="55340"/>
                    <a:pt x="66866" y="52959"/>
                  </a:cubicBezTo>
                  <a:lnTo>
                    <a:pt x="82487" y="29051"/>
                  </a:lnTo>
                  <a:cubicBezTo>
                    <a:pt x="83629" y="29337"/>
                    <a:pt x="84868" y="29527"/>
                    <a:pt x="86201" y="29527"/>
                  </a:cubicBezTo>
                  <a:close/>
                  <a:moveTo>
                    <a:pt x="160973" y="43815"/>
                  </a:moveTo>
                  <a:lnTo>
                    <a:pt x="120587" y="67056"/>
                  </a:lnTo>
                  <a:cubicBezTo>
                    <a:pt x="120587" y="67056"/>
                    <a:pt x="120205" y="66770"/>
                    <a:pt x="120015" y="66580"/>
                  </a:cubicBezTo>
                  <a:lnTo>
                    <a:pt x="124587" y="53912"/>
                  </a:lnTo>
                  <a:cubicBezTo>
                    <a:pt x="124587" y="53912"/>
                    <a:pt x="124777" y="53912"/>
                    <a:pt x="124873" y="53912"/>
                  </a:cubicBezTo>
                  <a:cubicBezTo>
                    <a:pt x="131445" y="53912"/>
                    <a:pt x="136874" y="49625"/>
                    <a:pt x="138874" y="43815"/>
                  </a:cubicBezTo>
                  <a:lnTo>
                    <a:pt x="160877" y="43815"/>
                  </a:lnTo>
                  <a:close/>
                  <a:moveTo>
                    <a:pt x="171450" y="97345"/>
                  </a:moveTo>
                  <a:lnTo>
                    <a:pt x="125540" y="79057"/>
                  </a:lnTo>
                  <a:cubicBezTo>
                    <a:pt x="125540" y="79057"/>
                    <a:pt x="125540" y="78486"/>
                    <a:pt x="125540" y="78105"/>
                  </a:cubicBezTo>
                  <a:cubicBezTo>
                    <a:pt x="125540" y="77057"/>
                    <a:pt x="125444" y="76105"/>
                    <a:pt x="125254" y="75152"/>
                  </a:cubicBezTo>
                  <a:lnTo>
                    <a:pt x="168878" y="50101"/>
                  </a:lnTo>
                  <a:cubicBezTo>
                    <a:pt x="170307" y="51340"/>
                    <a:pt x="172022" y="52388"/>
                    <a:pt x="173926" y="52959"/>
                  </a:cubicBezTo>
                  <a:lnTo>
                    <a:pt x="173926" y="96107"/>
                  </a:lnTo>
                  <a:cubicBezTo>
                    <a:pt x="173069" y="96393"/>
                    <a:pt x="172212" y="96774"/>
                    <a:pt x="171450" y="97250"/>
                  </a:cubicBezTo>
                  <a:close/>
                  <a:moveTo>
                    <a:pt x="49721" y="75914"/>
                  </a:moveTo>
                  <a:cubicBezTo>
                    <a:pt x="51435" y="76581"/>
                    <a:pt x="53245" y="76962"/>
                    <a:pt x="55245" y="76962"/>
                  </a:cubicBezTo>
                  <a:cubicBezTo>
                    <a:pt x="60293" y="76962"/>
                    <a:pt x="64770" y="74390"/>
                    <a:pt x="67437" y="70580"/>
                  </a:cubicBezTo>
                  <a:lnTo>
                    <a:pt x="93250" y="78010"/>
                  </a:lnTo>
                  <a:cubicBezTo>
                    <a:pt x="77533" y="82391"/>
                    <a:pt x="53245" y="89154"/>
                    <a:pt x="33338" y="95155"/>
                  </a:cubicBezTo>
                  <a:lnTo>
                    <a:pt x="49721" y="75914"/>
                  </a:lnTo>
                  <a:close/>
                  <a:moveTo>
                    <a:pt x="74581" y="23908"/>
                  </a:moveTo>
                  <a:lnTo>
                    <a:pt x="58960" y="47816"/>
                  </a:lnTo>
                  <a:cubicBezTo>
                    <a:pt x="57722" y="47530"/>
                    <a:pt x="56578" y="47244"/>
                    <a:pt x="55245" y="47244"/>
                  </a:cubicBezTo>
                  <a:cubicBezTo>
                    <a:pt x="53435" y="47244"/>
                    <a:pt x="51625" y="47625"/>
                    <a:pt x="50006" y="48196"/>
                  </a:cubicBezTo>
                  <a:lnTo>
                    <a:pt x="27908" y="21241"/>
                  </a:lnTo>
                  <a:cubicBezTo>
                    <a:pt x="28194" y="20669"/>
                    <a:pt x="28480" y="20098"/>
                    <a:pt x="28670" y="19431"/>
                  </a:cubicBezTo>
                  <a:lnTo>
                    <a:pt x="72104" y="19431"/>
                  </a:lnTo>
                  <a:cubicBezTo>
                    <a:pt x="72676" y="21050"/>
                    <a:pt x="73438" y="22479"/>
                    <a:pt x="74486" y="23813"/>
                  </a:cubicBezTo>
                  <a:close/>
                  <a:moveTo>
                    <a:pt x="21241" y="28099"/>
                  </a:moveTo>
                  <a:lnTo>
                    <a:pt x="42767" y="54293"/>
                  </a:lnTo>
                  <a:cubicBezTo>
                    <a:pt x="41339" y="56578"/>
                    <a:pt x="40481" y="59245"/>
                    <a:pt x="40481" y="62103"/>
                  </a:cubicBezTo>
                  <a:cubicBezTo>
                    <a:pt x="40481" y="64960"/>
                    <a:pt x="41339" y="67437"/>
                    <a:pt x="42672" y="69723"/>
                  </a:cubicBezTo>
                  <a:lnTo>
                    <a:pt x="20288" y="96012"/>
                  </a:lnTo>
                  <a:cubicBezTo>
                    <a:pt x="20288" y="96012"/>
                    <a:pt x="19622" y="95821"/>
                    <a:pt x="19241" y="95726"/>
                  </a:cubicBezTo>
                  <a:lnTo>
                    <a:pt x="19241" y="28956"/>
                  </a:lnTo>
                  <a:cubicBezTo>
                    <a:pt x="20002" y="28766"/>
                    <a:pt x="20669" y="28480"/>
                    <a:pt x="21336" y="28099"/>
                  </a:cubicBezTo>
                  <a:close/>
                  <a:moveTo>
                    <a:pt x="98489" y="86487"/>
                  </a:moveTo>
                  <a:cubicBezTo>
                    <a:pt x="101155" y="90392"/>
                    <a:pt x="105632" y="92964"/>
                    <a:pt x="110680" y="92964"/>
                  </a:cubicBezTo>
                  <a:cubicBezTo>
                    <a:pt x="115157" y="92964"/>
                    <a:pt x="119158" y="90964"/>
                    <a:pt x="121825" y="87820"/>
                  </a:cubicBezTo>
                  <a:lnTo>
                    <a:pt x="164783" y="104966"/>
                  </a:lnTo>
                  <a:cubicBezTo>
                    <a:pt x="164783" y="104966"/>
                    <a:pt x="164687" y="105346"/>
                    <a:pt x="164592" y="105442"/>
                  </a:cubicBezTo>
                  <a:lnTo>
                    <a:pt x="32290" y="105442"/>
                  </a:lnTo>
                  <a:cubicBezTo>
                    <a:pt x="53816" y="98965"/>
                    <a:pt x="82010" y="91059"/>
                    <a:pt x="98393" y="86487"/>
                  </a:cubicBezTo>
                  <a:close/>
                  <a:moveTo>
                    <a:pt x="178784" y="44387"/>
                  </a:moveTo>
                  <a:cubicBezTo>
                    <a:pt x="175831" y="44387"/>
                    <a:pt x="173450" y="42005"/>
                    <a:pt x="173450" y="39052"/>
                  </a:cubicBezTo>
                  <a:cubicBezTo>
                    <a:pt x="173450" y="36100"/>
                    <a:pt x="175831" y="33719"/>
                    <a:pt x="178784" y="33719"/>
                  </a:cubicBezTo>
                  <a:cubicBezTo>
                    <a:pt x="181737" y="33719"/>
                    <a:pt x="184118" y="36100"/>
                    <a:pt x="184118" y="39052"/>
                  </a:cubicBezTo>
                  <a:cubicBezTo>
                    <a:pt x="184118" y="42005"/>
                    <a:pt x="181737" y="44387"/>
                    <a:pt x="178784" y="44387"/>
                  </a:cubicBezTo>
                  <a:close/>
                  <a:moveTo>
                    <a:pt x="174022" y="24955"/>
                  </a:moveTo>
                  <a:cubicBezTo>
                    <a:pt x="169640" y="26479"/>
                    <a:pt x="166211" y="29813"/>
                    <a:pt x="164783" y="34195"/>
                  </a:cubicBezTo>
                  <a:lnTo>
                    <a:pt x="139065" y="34195"/>
                  </a:lnTo>
                  <a:cubicBezTo>
                    <a:pt x="137065" y="28289"/>
                    <a:pt x="131540" y="24098"/>
                    <a:pt x="125063" y="24098"/>
                  </a:cubicBezTo>
                  <a:cubicBezTo>
                    <a:pt x="121539" y="24098"/>
                    <a:pt x="118300" y="25432"/>
                    <a:pt x="115729" y="27527"/>
                  </a:cubicBezTo>
                  <a:lnTo>
                    <a:pt x="102965" y="19526"/>
                  </a:lnTo>
                  <a:lnTo>
                    <a:pt x="174117" y="19526"/>
                  </a:lnTo>
                  <a:lnTo>
                    <a:pt x="174117" y="24955"/>
                  </a:lnTo>
                  <a:close/>
                  <a:moveTo>
                    <a:pt x="86201" y="9430"/>
                  </a:moveTo>
                  <a:cubicBezTo>
                    <a:pt x="89154" y="9430"/>
                    <a:pt x="91535" y="11811"/>
                    <a:pt x="91535" y="14764"/>
                  </a:cubicBezTo>
                  <a:cubicBezTo>
                    <a:pt x="91535" y="17716"/>
                    <a:pt x="89154" y="20098"/>
                    <a:pt x="86201" y="20098"/>
                  </a:cubicBezTo>
                  <a:cubicBezTo>
                    <a:pt x="83249" y="20098"/>
                    <a:pt x="80867" y="17716"/>
                    <a:pt x="80867" y="14764"/>
                  </a:cubicBezTo>
                  <a:cubicBezTo>
                    <a:pt x="80867" y="11811"/>
                    <a:pt x="83249" y="9430"/>
                    <a:pt x="86201" y="9430"/>
                  </a:cubicBezTo>
                  <a:close/>
                  <a:moveTo>
                    <a:pt x="14764" y="9430"/>
                  </a:moveTo>
                  <a:cubicBezTo>
                    <a:pt x="17717" y="9430"/>
                    <a:pt x="20098" y="11811"/>
                    <a:pt x="20098" y="14764"/>
                  </a:cubicBezTo>
                  <a:cubicBezTo>
                    <a:pt x="20098" y="17716"/>
                    <a:pt x="17717" y="20098"/>
                    <a:pt x="14764" y="20098"/>
                  </a:cubicBezTo>
                  <a:cubicBezTo>
                    <a:pt x="11811" y="20098"/>
                    <a:pt x="9430" y="17716"/>
                    <a:pt x="9430" y="14764"/>
                  </a:cubicBezTo>
                  <a:cubicBezTo>
                    <a:pt x="9430" y="11811"/>
                    <a:pt x="11811" y="9430"/>
                    <a:pt x="14764" y="9430"/>
                  </a:cubicBezTo>
                  <a:close/>
                  <a:moveTo>
                    <a:pt x="14764" y="115157"/>
                  </a:moveTo>
                  <a:cubicBezTo>
                    <a:pt x="11811" y="115157"/>
                    <a:pt x="9430" y="112776"/>
                    <a:pt x="9430" y="109823"/>
                  </a:cubicBezTo>
                  <a:cubicBezTo>
                    <a:pt x="9430" y="106870"/>
                    <a:pt x="11811" y="104489"/>
                    <a:pt x="14764" y="104489"/>
                  </a:cubicBezTo>
                  <a:cubicBezTo>
                    <a:pt x="17717" y="104489"/>
                    <a:pt x="20098" y="106870"/>
                    <a:pt x="20098" y="109823"/>
                  </a:cubicBezTo>
                  <a:cubicBezTo>
                    <a:pt x="20098" y="112776"/>
                    <a:pt x="17717" y="115157"/>
                    <a:pt x="14764" y="115157"/>
                  </a:cubicBezTo>
                  <a:close/>
                </a:path>
              </a:pathLst>
            </a:custGeom>
            <a:solidFill>
              <a:srgbClr val="29B5E8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73" name="Google Shape;3015;p95"/>
            <p:cNvSpPr/>
            <p:nvPr/>
          </p:nvSpPr>
          <p:spPr>
            <a:xfrm>
              <a:off x="8227608" y="4243347"/>
              <a:ext cx="115157" cy="23812"/>
            </a:xfrm>
            <a:custGeom>
              <a:avLst/>
              <a:gdLst/>
              <a:ahLst/>
              <a:cxnLst/>
              <a:rect l="l" t="t" r="r" b="b"/>
              <a:pathLst>
                <a:path w="115157" h="23812" extrusionOk="0">
                  <a:moveTo>
                    <a:pt x="103251" y="0"/>
                  </a:moveTo>
                  <a:lnTo>
                    <a:pt x="11906" y="0"/>
                  </a:lnTo>
                  <a:cubicBezTo>
                    <a:pt x="5334" y="0"/>
                    <a:pt x="0" y="5334"/>
                    <a:pt x="0" y="11906"/>
                  </a:cubicBezTo>
                  <a:cubicBezTo>
                    <a:pt x="0" y="18478"/>
                    <a:pt x="5334" y="23813"/>
                    <a:pt x="11906" y="23813"/>
                  </a:cubicBezTo>
                  <a:lnTo>
                    <a:pt x="103251" y="23813"/>
                  </a:lnTo>
                  <a:cubicBezTo>
                    <a:pt x="109823" y="23813"/>
                    <a:pt x="115157" y="18478"/>
                    <a:pt x="115157" y="11906"/>
                  </a:cubicBezTo>
                  <a:cubicBezTo>
                    <a:pt x="115157" y="5334"/>
                    <a:pt x="109823" y="0"/>
                    <a:pt x="103251" y="0"/>
                  </a:cubicBezTo>
                  <a:close/>
                </a:path>
              </a:pathLst>
            </a:custGeom>
            <a:solidFill>
              <a:srgbClr val="29B5E8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74" name="Google Shape;3016;p95"/>
            <p:cNvSpPr/>
            <p:nvPr/>
          </p:nvSpPr>
          <p:spPr>
            <a:xfrm>
              <a:off x="8227989" y="4002460"/>
              <a:ext cx="23100" cy="23100"/>
            </a:xfrm>
            <a:prstGeom prst="ellipse">
              <a:avLst/>
            </a:prstGeom>
            <a:solidFill>
              <a:srgbClr val="29B5E8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75" name="Google Shape;3017;p95"/>
            <p:cNvSpPr/>
            <p:nvPr/>
          </p:nvSpPr>
          <p:spPr>
            <a:xfrm>
              <a:off x="8274186" y="4002460"/>
              <a:ext cx="23100" cy="23100"/>
            </a:xfrm>
            <a:prstGeom prst="ellipse">
              <a:avLst/>
            </a:prstGeom>
            <a:solidFill>
              <a:srgbClr val="29B5E8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76" name="Google Shape;3018;p95"/>
            <p:cNvSpPr/>
            <p:nvPr/>
          </p:nvSpPr>
          <p:spPr>
            <a:xfrm>
              <a:off x="8320382" y="4002460"/>
              <a:ext cx="23100" cy="23100"/>
            </a:xfrm>
            <a:prstGeom prst="ellipse">
              <a:avLst/>
            </a:prstGeom>
            <a:solidFill>
              <a:srgbClr val="29B5E8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77" name="Google Shape;3019;p95"/>
            <p:cNvSpPr/>
            <p:nvPr/>
          </p:nvSpPr>
          <p:spPr>
            <a:xfrm>
              <a:off x="8167601" y="3949025"/>
              <a:ext cx="502443" cy="420719"/>
            </a:xfrm>
            <a:custGeom>
              <a:avLst/>
              <a:gdLst/>
              <a:ahLst/>
              <a:cxnLst/>
              <a:rect l="l" t="t" r="r" b="b"/>
              <a:pathLst>
                <a:path w="502443" h="420719" extrusionOk="0">
                  <a:moveTo>
                    <a:pt x="198501" y="382619"/>
                  </a:moveTo>
                  <a:lnTo>
                    <a:pt x="38100" y="382619"/>
                  </a:lnTo>
                  <a:lnTo>
                    <a:pt x="38100" y="116681"/>
                  </a:lnTo>
                  <a:lnTo>
                    <a:pt x="464344" y="116681"/>
                  </a:lnTo>
                  <a:lnTo>
                    <a:pt x="464344" y="168116"/>
                  </a:lnTo>
                  <a:cubicBezTo>
                    <a:pt x="464344" y="178594"/>
                    <a:pt x="472916" y="187166"/>
                    <a:pt x="483394" y="187166"/>
                  </a:cubicBezTo>
                  <a:cubicBezTo>
                    <a:pt x="493871" y="187166"/>
                    <a:pt x="502444" y="178594"/>
                    <a:pt x="502444" y="168116"/>
                  </a:cubicBezTo>
                  <a:lnTo>
                    <a:pt x="502444" y="19050"/>
                  </a:lnTo>
                  <a:cubicBezTo>
                    <a:pt x="502444" y="8573"/>
                    <a:pt x="493871" y="0"/>
                    <a:pt x="483394" y="0"/>
                  </a:cubicBezTo>
                  <a:lnTo>
                    <a:pt x="19050" y="0"/>
                  </a:lnTo>
                  <a:cubicBezTo>
                    <a:pt x="8572" y="0"/>
                    <a:pt x="0" y="8573"/>
                    <a:pt x="0" y="19050"/>
                  </a:cubicBezTo>
                  <a:lnTo>
                    <a:pt x="0" y="401669"/>
                  </a:lnTo>
                  <a:cubicBezTo>
                    <a:pt x="0" y="412147"/>
                    <a:pt x="8572" y="420719"/>
                    <a:pt x="19050" y="420719"/>
                  </a:cubicBezTo>
                  <a:lnTo>
                    <a:pt x="198501" y="420719"/>
                  </a:lnTo>
                  <a:cubicBezTo>
                    <a:pt x="208979" y="420719"/>
                    <a:pt x="217551" y="412147"/>
                    <a:pt x="217551" y="401669"/>
                  </a:cubicBezTo>
                  <a:cubicBezTo>
                    <a:pt x="217551" y="391192"/>
                    <a:pt x="208979" y="382619"/>
                    <a:pt x="198501" y="382619"/>
                  </a:cubicBezTo>
                  <a:close/>
                  <a:moveTo>
                    <a:pt x="464249" y="38100"/>
                  </a:moveTo>
                  <a:lnTo>
                    <a:pt x="464249" y="92869"/>
                  </a:lnTo>
                  <a:lnTo>
                    <a:pt x="38100" y="92869"/>
                  </a:lnTo>
                  <a:lnTo>
                    <a:pt x="38100" y="38100"/>
                  </a:lnTo>
                  <a:lnTo>
                    <a:pt x="464344" y="38100"/>
                  </a:lnTo>
                  <a:close/>
                </a:path>
              </a:pathLst>
            </a:custGeom>
            <a:solidFill>
              <a:srgbClr val="29B5E8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9078" name="TextBox 9077"/>
          <p:cNvSpPr txBox="1"/>
          <p:nvPr/>
        </p:nvSpPr>
        <p:spPr>
          <a:xfrm>
            <a:off x="6901434" y="2990088"/>
            <a:ext cx="170307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11567F"/>
                </a:solidFill>
                <a:latin typeface="Arial"/>
              </a:rPr>
              <a:t>Cortex Search</a:t>
            </a:r>
          </a:p>
        </p:txBody>
      </p:sp>
      <p:sp>
        <p:nvSpPr>
          <p:cNvPr id="9079" name="TextBox 9078"/>
          <p:cNvSpPr txBox="1"/>
          <p:nvPr/>
        </p:nvSpPr>
        <p:spPr>
          <a:xfrm>
            <a:off x="6901434" y="3227832"/>
            <a:ext cx="170307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5B5B5B"/>
                </a:solidFill>
                <a:latin typeface="Arial"/>
              </a:rPr>
              <a:t>Search calls, emails and product documents</a:t>
            </a:r>
          </a:p>
        </p:txBody>
      </p:sp>
      <p:sp>
        <p:nvSpPr>
          <p:cNvPr id="9080" name="Rounded Rectangle 9079"/>
          <p:cNvSpPr/>
          <p:nvPr/>
        </p:nvSpPr>
        <p:spPr>
          <a:xfrm>
            <a:off x="411480" y="3739896"/>
            <a:ext cx="1977390" cy="1024128"/>
          </a:xfrm>
          <a:prstGeom prst="roundRect">
            <a:avLst>
              <a:gd name="adj" fmla="val 8000"/>
            </a:avLst>
          </a:prstGeom>
          <a:solidFill>
            <a:srgbClr val="E3F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pSp>
        <p:nvGrpSpPr>
          <p:cNvPr id="9078" name="Google Shape;3212;p95"/>
          <p:cNvGrpSpPr/>
          <p:nvPr/>
        </p:nvGrpSpPr>
        <p:grpSpPr>
          <a:xfrm>
            <a:off x="539866" y="3831335"/>
            <a:ext cx="273580" cy="274320"/>
            <a:chOff x="5907879" y="3517709"/>
            <a:chExt cx="528828" cy="530257"/>
          </a:xfrm>
        </p:grpSpPr>
        <p:grpSp>
          <p:nvGrpSpPr>
            <p:cNvPr id="9079" name="Google Shape;3213;p95"/>
            <p:cNvGrpSpPr/>
            <p:nvPr/>
          </p:nvGrpSpPr>
          <p:grpSpPr>
            <a:xfrm>
              <a:off x="5950360" y="3517709"/>
              <a:ext cx="465701" cy="274224"/>
              <a:chOff x="5950360" y="3517709"/>
              <a:chExt cx="465701" cy="274224"/>
            </a:xfrm>
          </p:grpSpPr>
          <p:sp>
            <p:nvSpPr>
              <p:cNvPr id="9080" name="Google Shape;3214;p95"/>
              <p:cNvSpPr/>
              <p:nvPr/>
            </p:nvSpPr>
            <p:spPr>
              <a:xfrm>
                <a:off x="6111523" y="3517709"/>
                <a:ext cx="270033" cy="274224"/>
              </a:xfrm>
              <a:custGeom>
                <a:avLst/>
                <a:gdLst/>
                <a:ahLst/>
                <a:cxnLst/>
                <a:rect l="l" t="t" r="r" b="b"/>
                <a:pathLst>
                  <a:path w="270033" h="274224" extrusionOk="0">
                    <a:moveTo>
                      <a:pt x="135065" y="274225"/>
                    </a:moveTo>
                    <a:cubicBezTo>
                      <a:pt x="130112" y="274225"/>
                      <a:pt x="125635" y="271082"/>
                      <a:pt x="123920" y="266414"/>
                    </a:cubicBezTo>
                    <a:cubicBezTo>
                      <a:pt x="103918" y="211741"/>
                      <a:pt x="61532" y="168783"/>
                      <a:pt x="7715" y="148400"/>
                    </a:cubicBezTo>
                    <a:cubicBezTo>
                      <a:pt x="3048" y="146685"/>
                      <a:pt x="0" y="142208"/>
                      <a:pt x="0" y="137255"/>
                    </a:cubicBezTo>
                    <a:cubicBezTo>
                      <a:pt x="0" y="132302"/>
                      <a:pt x="3048" y="127826"/>
                      <a:pt x="7715" y="126111"/>
                    </a:cubicBezTo>
                    <a:cubicBezTo>
                      <a:pt x="61436" y="105823"/>
                      <a:pt x="103823" y="62675"/>
                      <a:pt x="123920" y="7811"/>
                    </a:cubicBezTo>
                    <a:cubicBezTo>
                      <a:pt x="125635" y="3143"/>
                      <a:pt x="130112" y="0"/>
                      <a:pt x="135065" y="0"/>
                    </a:cubicBezTo>
                    <a:lnTo>
                      <a:pt x="135065" y="0"/>
                    </a:lnTo>
                    <a:cubicBezTo>
                      <a:pt x="140018" y="0"/>
                      <a:pt x="144494" y="3143"/>
                      <a:pt x="146209" y="7811"/>
                    </a:cubicBezTo>
                    <a:cubicBezTo>
                      <a:pt x="166307" y="62675"/>
                      <a:pt x="208598" y="105728"/>
                      <a:pt x="262319" y="126111"/>
                    </a:cubicBezTo>
                    <a:cubicBezTo>
                      <a:pt x="266986" y="127826"/>
                      <a:pt x="270034" y="132302"/>
                      <a:pt x="270034" y="137255"/>
                    </a:cubicBezTo>
                    <a:cubicBezTo>
                      <a:pt x="270034" y="142208"/>
                      <a:pt x="266986" y="146685"/>
                      <a:pt x="262319" y="148400"/>
                    </a:cubicBezTo>
                    <a:cubicBezTo>
                      <a:pt x="208502" y="168783"/>
                      <a:pt x="166116" y="211741"/>
                      <a:pt x="146209" y="266414"/>
                    </a:cubicBezTo>
                    <a:cubicBezTo>
                      <a:pt x="144494" y="271082"/>
                      <a:pt x="140018" y="274225"/>
                      <a:pt x="135065" y="274225"/>
                    </a:cubicBezTo>
                    <a:close/>
                    <a:moveTo>
                      <a:pt x="40862" y="137255"/>
                    </a:moveTo>
                    <a:cubicBezTo>
                      <a:pt x="81153" y="158496"/>
                      <a:pt x="114110" y="191834"/>
                      <a:pt x="135065" y="232696"/>
                    </a:cubicBezTo>
                    <a:cubicBezTo>
                      <a:pt x="156019" y="191834"/>
                      <a:pt x="188881" y="158496"/>
                      <a:pt x="229267" y="137255"/>
                    </a:cubicBezTo>
                    <a:cubicBezTo>
                      <a:pt x="188976" y="116015"/>
                      <a:pt x="156115" y="82582"/>
                      <a:pt x="135065" y="41624"/>
                    </a:cubicBezTo>
                    <a:cubicBezTo>
                      <a:pt x="114014" y="82582"/>
                      <a:pt x="81153" y="116015"/>
                      <a:pt x="40862" y="137255"/>
                    </a:cubicBezTo>
                    <a:close/>
                  </a:path>
                </a:pathLst>
              </a:custGeom>
              <a:solidFill>
                <a:srgbClr val="29B5E8"/>
              </a:solidFill>
              <a:ln>
                <a:noFill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rgbClr val="262626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081" name="Google Shape;3215;p95"/>
              <p:cNvSpPr/>
              <p:nvPr/>
            </p:nvSpPr>
            <p:spPr>
              <a:xfrm>
                <a:off x="5950360" y="3533520"/>
                <a:ext cx="147447" cy="147447"/>
              </a:xfrm>
              <a:custGeom>
                <a:avLst/>
                <a:gdLst/>
                <a:ahLst/>
                <a:cxnLst/>
                <a:rect l="l" t="t" r="r" b="b"/>
                <a:pathLst>
                  <a:path w="147447" h="147447" extrusionOk="0">
                    <a:moveTo>
                      <a:pt x="1715" y="75819"/>
                    </a:moveTo>
                    <a:cubicBezTo>
                      <a:pt x="36576" y="83439"/>
                      <a:pt x="64008" y="110871"/>
                      <a:pt x="71628" y="145733"/>
                    </a:cubicBezTo>
                    <a:cubicBezTo>
                      <a:pt x="72104" y="148019"/>
                      <a:pt x="75343" y="148019"/>
                      <a:pt x="75819" y="145733"/>
                    </a:cubicBezTo>
                    <a:cubicBezTo>
                      <a:pt x="83439" y="110871"/>
                      <a:pt x="110871" y="83439"/>
                      <a:pt x="145733" y="75819"/>
                    </a:cubicBezTo>
                    <a:cubicBezTo>
                      <a:pt x="148019" y="75343"/>
                      <a:pt x="148019" y="72104"/>
                      <a:pt x="145733" y="71628"/>
                    </a:cubicBezTo>
                    <a:cubicBezTo>
                      <a:pt x="110871" y="64008"/>
                      <a:pt x="83439" y="36576"/>
                      <a:pt x="75819" y="1715"/>
                    </a:cubicBezTo>
                    <a:cubicBezTo>
                      <a:pt x="75343" y="-572"/>
                      <a:pt x="72104" y="-572"/>
                      <a:pt x="71628" y="1715"/>
                    </a:cubicBezTo>
                    <a:cubicBezTo>
                      <a:pt x="64008" y="36576"/>
                      <a:pt x="36576" y="64008"/>
                      <a:pt x="1715" y="71628"/>
                    </a:cubicBezTo>
                    <a:cubicBezTo>
                      <a:pt x="-572" y="72104"/>
                      <a:pt x="-572" y="75343"/>
                      <a:pt x="1715" y="75819"/>
                    </a:cubicBezTo>
                    <a:close/>
                  </a:path>
                </a:pathLst>
              </a:custGeom>
              <a:solidFill>
                <a:srgbClr val="29B5E8"/>
              </a:solidFill>
              <a:ln>
                <a:noFill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rgbClr val="262626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082" name="Google Shape;3216;p95"/>
              <p:cNvSpPr/>
              <p:nvPr/>
            </p:nvSpPr>
            <p:spPr>
              <a:xfrm>
                <a:off x="6349148" y="3538640"/>
                <a:ext cx="66913" cy="66913"/>
              </a:xfrm>
              <a:custGeom>
                <a:avLst/>
                <a:gdLst/>
                <a:ahLst/>
                <a:cxnLst/>
                <a:rect l="l" t="t" r="r" b="b"/>
                <a:pathLst>
                  <a:path w="66913" h="66913" extrusionOk="0">
                    <a:moveTo>
                      <a:pt x="32504" y="66127"/>
                    </a:moveTo>
                    <a:cubicBezTo>
                      <a:pt x="32695" y="67175"/>
                      <a:pt x="34123" y="67175"/>
                      <a:pt x="34409" y="66127"/>
                    </a:cubicBezTo>
                    <a:cubicBezTo>
                      <a:pt x="37838" y="50316"/>
                      <a:pt x="50316" y="37838"/>
                      <a:pt x="66127" y="34409"/>
                    </a:cubicBezTo>
                    <a:cubicBezTo>
                      <a:pt x="67175" y="34219"/>
                      <a:pt x="67175" y="32695"/>
                      <a:pt x="66127" y="32504"/>
                    </a:cubicBezTo>
                    <a:cubicBezTo>
                      <a:pt x="50316" y="29075"/>
                      <a:pt x="37838" y="16597"/>
                      <a:pt x="34409" y="786"/>
                    </a:cubicBezTo>
                    <a:cubicBezTo>
                      <a:pt x="34219" y="-262"/>
                      <a:pt x="32695" y="-262"/>
                      <a:pt x="32504" y="786"/>
                    </a:cubicBezTo>
                    <a:cubicBezTo>
                      <a:pt x="29075" y="16597"/>
                      <a:pt x="16597" y="29075"/>
                      <a:pt x="786" y="32504"/>
                    </a:cubicBezTo>
                    <a:cubicBezTo>
                      <a:pt x="-262" y="32695"/>
                      <a:pt x="-262" y="34219"/>
                      <a:pt x="786" y="34409"/>
                    </a:cubicBezTo>
                    <a:cubicBezTo>
                      <a:pt x="16597" y="37838"/>
                      <a:pt x="29075" y="50316"/>
                      <a:pt x="32504" y="66127"/>
                    </a:cubicBezTo>
                    <a:close/>
                  </a:path>
                </a:pathLst>
              </a:custGeom>
              <a:solidFill>
                <a:srgbClr val="29B5E8"/>
              </a:solidFill>
              <a:ln>
                <a:noFill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rgbClr val="262626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9083" name="Google Shape;3217;p95"/>
            <p:cNvSpPr/>
            <p:nvPr/>
          </p:nvSpPr>
          <p:spPr>
            <a:xfrm>
              <a:off x="5907879" y="3741570"/>
              <a:ext cx="528828" cy="306396"/>
            </a:xfrm>
            <a:custGeom>
              <a:avLst/>
              <a:gdLst/>
              <a:ahLst/>
              <a:cxnLst/>
              <a:rect l="l" t="t" r="r" b="b"/>
              <a:pathLst>
                <a:path w="528828" h="306396" extrusionOk="0">
                  <a:moveTo>
                    <a:pt x="509683" y="306396"/>
                  </a:moveTo>
                  <a:lnTo>
                    <a:pt x="139922" y="306396"/>
                  </a:lnTo>
                  <a:cubicBezTo>
                    <a:pt x="102489" y="306396"/>
                    <a:pt x="67342" y="291823"/>
                    <a:pt x="40958" y="265439"/>
                  </a:cubicBezTo>
                  <a:cubicBezTo>
                    <a:pt x="14573" y="239054"/>
                    <a:pt x="0" y="203907"/>
                    <a:pt x="0" y="166474"/>
                  </a:cubicBezTo>
                  <a:lnTo>
                    <a:pt x="0" y="144471"/>
                  </a:lnTo>
                  <a:cubicBezTo>
                    <a:pt x="0" y="106371"/>
                    <a:pt x="14859" y="70652"/>
                    <a:pt x="41720" y="43697"/>
                  </a:cubicBezTo>
                  <a:cubicBezTo>
                    <a:pt x="89249" y="-3928"/>
                    <a:pt x="158020" y="-1261"/>
                    <a:pt x="218694" y="1025"/>
                  </a:cubicBezTo>
                  <a:cubicBezTo>
                    <a:pt x="231172" y="1501"/>
                    <a:pt x="242983" y="1977"/>
                    <a:pt x="254222" y="1977"/>
                  </a:cubicBezTo>
                  <a:cubicBezTo>
                    <a:pt x="264700" y="1977"/>
                    <a:pt x="273272" y="10550"/>
                    <a:pt x="273272" y="21027"/>
                  </a:cubicBezTo>
                  <a:cubicBezTo>
                    <a:pt x="273272" y="31505"/>
                    <a:pt x="264700" y="40077"/>
                    <a:pt x="254222" y="40077"/>
                  </a:cubicBezTo>
                  <a:cubicBezTo>
                    <a:pt x="242221" y="40077"/>
                    <a:pt x="230124" y="39601"/>
                    <a:pt x="217265" y="39125"/>
                  </a:cubicBezTo>
                  <a:cubicBezTo>
                    <a:pt x="161830" y="37029"/>
                    <a:pt x="104489" y="34838"/>
                    <a:pt x="68675" y="70652"/>
                  </a:cubicBezTo>
                  <a:cubicBezTo>
                    <a:pt x="48959" y="90369"/>
                    <a:pt x="38100" y="116658"/>
                    <a:pt x="38100" y="144471"/>
                  </a:cubicBezTo>
                  <a:lnTo>
                    <a:pt x="38100" y="166474"/>
                  </a:lnTo>
                  <a:cubicBezTo>
                    <a:pt x="38100" y="193715"/>
                    <a:pt x="48673" y="219242"/>
                    <a:pt x="67913" y="238483"/>
                  </a:cubicBezTo>
                  <a:cubicBezTo>
                    <a:pt x="87154" y="257723"/>
                    <a:pt x="112681" y="268296"/>
                    <a:pt x="139922" y="268296"/>
                  </a:cubicBezTo>
                  <a:lnTo>
                    <a:pt x="490633" y="268296"/>
                  </a:lnTo>
                  <a:lnTo>
                    <a:pt x="490633" y="136470"/>
                  </a:lnTo>
                  <a:cubicBezTo>
                    <a:pt x="490633" y="110657"/>
                    <a:pt x="480632" y="86464"/>
                    <a:pt x="462344" y="68271"/>
                  </a:cubicBezTo>
                  <a:cubicBezTo>
                    <a:pt x="450342" y="56270"/>
                    <a:pt x="435293" y="47602"/>
                    <a:pt x="419005" y="43220"/>
                  </a:cubicBezTo>
                  <a:cubicBezTo>
                    <a:pt x="408813" y="40553"/>
                    <a:pt x="402812" y="30076"/>
                    <a:pt x="405479" y="19884"/>
                  </a:cubicBezTo>
                  <a:cubicBezTo>
                    <a:pt x="408146" y="9692"/>
                    <a:pt x="418624" y="3692"/>
                    <a:pt x="428816" y="6359"/>
                  </a:cubicBezTo>
                  <a:cubicBezTo>
                    <a:pt x="451675" y="12455"/>
                    <a:pt x="472535" y="24456"/>
                    <a:pt x="489395" y="41220"/>
                  </a:cubicBezTo>
                  <a:cubicBezTo>
                    <a:pt x="514826" y="66652"/>
                    <a:pt x="528828" y="100466"/>
                    <a:pt x="528828" y="136375"/>
                  </a:cubicBezTo>
                  <a:lnTo>
                    <a:pt x="528828" y="287251"/>
                  </a:lnTo>
                  <a:cubicBezTo>
                    <a:pt x="528828" y="297728"/>
                    <a:pt x="520256" y="306301"/>
                    <a:pt x="509778" y="306301"/>
                  </a:cubicBezTo>
                  <a:close/>
                </a:path>
              </a:pathLst>
            </a:custGeom>
            <a:solidFill>
              <a:srgbClr val="29B5E8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9084" name="Google Shape;3218;p95"/>
            <p:cNvGrpSpPr/>
            <p:nvPr/>
          </p:nvGrpSpPr>
          <p:grpSpPr>
            <a:xfrm>
              <a:off x="6010558" y="3835463"/>
              <a:ext cx="319468" cy="120586"/>
              <a:chOff x="6010558" y="3835463"/>
              <a:chExt cx="319468" cy="120586"/>
            </a:xfrm>
          </p:grpSpPr>
          <p:sp>
            <p:nvSpPr>
              <p:cNvPr id="9085" name="Google Shape;3219;p95"/>
              <p:cNvSpPr/>
              <p:nvPr/>
            </p:nvSpPr>
            <p:spPr>
              <a:xfrm>
                <a:off x="6010558" y="3835463"/>
                <a:ext cx="182308" cy="14287"/>
              </a:xfrm>
              <a:custGeom>
                <a:avLst/>
                <a:gdLst/>
                <a:ahLst/>
                <a:cxnLst/>
                <a:rect l="l" t="t" r="r" b="b"/>
                <a:pathLst>
                  <a:path w="182308" h="14287" extrusionOk="0">
                    <a:moveTo>
                      <a:pt x="175165" y="14288"/>
                    </a:moveTo>
                    <a:lnTo>
                      <a:pt x="7144" y="14288"/>
                    </a:lnTo>
                    <a:cubicBezTo>
                      <a:pt x="3239" y="14288"/>
                      <a:pt x="0" y="11049"/>
                      <a:pt x="0" y="7144"/>
                    </a:cubicBezTo>
                    <a:cubicBezTo>
                      <a:pt x="0" y="3239"/>
                      <a:pt x="3239" y="0"/>
                      <a:pt x="7144" y="0"/>
                    </a:cubicBezTo>
                    <a:lnTo>
                      <a:pt x="175165" y="0"/>
                    </a:lnTo>
                    <a:cubicBezTo>
                      <a:pt x="179070" y="0"/>
                      <a:pt x="182308" y="3239"/>
                      <a:pt x="182308" y="7144"/>
                    </a:cubicBezTo>
                    <a:cubicBezTo>
                      <a:pt x="182308" y="11049"/>
                      <a:pt x="179070" y="14288"/>
                      <a:pt x="175165" y="14288"/>
                    </a:cubicBezTo>
                    <a:close/>
                  </a:path>
                </a:pathLst>
              </a:custGeom>
              <a:solidFill>
                <a:srgbClr val="29B5E8"/>
              </a:solidFill>
              <a:ln>
                <a:noFill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rgbClr val="262626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086" name="Google Shape;3220;p95"/>
              <p:cNvSpPr/>
              <p:nvPr/>
            </p:nvSpPr>
            <p:spPr>
              <a:xfrm>
                <a:off x="6010558" y="3941762"/>
                <a:ext cx="256317" cy="14287"/>
              </a:xfrm>
              <a:custGeom>
                <a:avLst/>
                <a:gdLst/>
                <a:ahLst/>
                <a:cxnLst/>
                <a:rect l="l" t="t" r="r" b="b"/>
                <a:pathLst>
                  <a:path w="256317" h="14287" extrusionOk="0">
                    <a:moveTo>
                      <a:pt x="249174" y="14288"/>
                    </a:moveTo>
                    <a:lnTo>
                      <a:pt x="7144" y="14288"/>
                    </a:lnTo>
                    <a:cubicBezTo>
                      <a:pt x="3239" y="14288"/>
                      <a:pt x="0" y="11049"/>
                      <a:pt x="0" y="7144"/>
                    </a:cubicBezTo>
                    <a:cubicBezTo>
                      <a:pt x="0" y="3239"/>
                      <a:pt x="3239" y="0"/>
                      <a:pt x="7144" y="0"/>
                    </a:cubicBezTo>
                    <a:lnTo>
                      <a:pt x="249174" y="0"/>
                    </a:lnTo>
                    <a:cubicBezTo>
                      <a:pt x="253079" y="0"/>
                      <a:pt x="256318" y="3239"/>
                      <a:pt x="256318" y="7144"/>
                    </a:cubicBezTo>
                    <a:cubicBezTo>
                      <a:pt x="256318" y="11049"/>
                      <a:pt x="253079" y="14288"/>
                      <a:pt x="249174" y="14288"/>
                    </a:cubicBezTo>
                    <a:close/>
                  </a:path>
                </a:pathLst>
              </a:custGeom>
              <a:solidFill>
                <a:srgbClr val="29B5E8"/>
              </a:solidFill>
              <a:ln>
                <a:noFill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rgbClr val="262626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087" name="Google Shape;3221;p95"/>
              <p:cNvSpPr/>
              <p:nvPr/>
            </p:nvSpPr>
            <p:spPr>
              <a:xfrm>
                <a:off x="6010558" y="3888612"/>
                <a:ext cx="319468" cy="14287"/>
              </a:xfrm>
              <a:custGeom>
                <a:avLst/>
                <a:gdLst/>
                <a:ahLst/>
                <a:cxnLst/>
                <a:rect l="l" t="t" r="r" b="b"/>
                <a:pathLst>
                  <a:path w="319468" h="14287" extrusionOk="0">
                    <a:moveTo>
                      <a:pt x="312325" y="14288"/>
                    </a:moveTo>
                    <a:lnTo>
                      <a:pt x="7144" y="14288"/>
                    </a:lnTo>
                    <a:cubicBezTo>
                      <a:pt x="3239" y="14288"/>
                      <a:pt x="0" y="11049"/>
                      <a:pt x="0" y="7144"/>
                    </a:cubicBezTo>
                    <a:cubicBezTo>
                      <a:pt x="0" y="3239"/>
                      <a:pt x="3239" y="0"/>
                      <a:pt x="7144" y="0"/>
                    </a:cubicBezTo>
                    <a:lnTo>
                      <a:pt x="312325" y="0"/>
                    </a:lnTo>
                    <a:cubicBezTo>
                      <a:pt x="316230" y="0"/>
                      <a:pt x="319469" y="3239"/>
                      <a:pt x="319469" y="7144"/>
                    </a:cubicBezTo>
                    <a:cubicBezTo>
                      <a:pt x="319469" y="11049"/>
                      <a:pt x="316230" y="14288"/>
                      <a:pt x="312325" y="14288"/>
                    </a:cubicBezTo>
                    <a:close/>
                  </a:path>
                </a:pathLst>
              </a:custGeom>
              <a:solidFill>
                <a:srgbClr val="29B5E8"/>
              </a:solidFill>
              <a:ln>
                <a:noFill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rgbClr val="262626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9088" name="TextBox 9087"/>
          <p:cNvSpPr txBox="1"/>
          <p:nvPr/>
        </p:nvSpPr>
        <p:spPr>
          <a:xfrm>
            <a:off x="557784" y="4151376"/>
            <a:ext cx="170307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11567F"/>
                </a:solidFill>
                <a:latin typeface="Arial"/>
              </a:rPr>
              <a:t>Cortex Agent</a:t>
            </a:r>
          </a:p>
        </p:txBody>
      </p:sp>
      <p:sp>
        <p:nvSpPr>
          <p:cNvPr id="9089" name="TextBox 9088"/>
          <p:cNvSpPr txBox="1"/>
          <p:nvPr/>
        </p:nvSpPr>
        <p:spPr>
          <a:xfrm>
            <a:off x="557784" y="4389120"/>
            <a:ext cx="170307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5B5B5B"/>
                </a:solidFill>
                <a:latin typeface="Arial"/>
              </a:rPr>
              <a:t>Natural-language access to every tool</a:t>
            </a:r>
          </a:p>
        </p:txBody>
      </p:sp>
      <p:sp>
        <p:nvSpPr>
          <p:cNvPr id="9090" name="Rounded Rectangle 9089"/>
          <p:cNvSpPr/>
          <p:nvPr/>
        </p:nvSpPr>
        <p:spPr>
          <a:xfrm>
            <a:off x="2526030" y="3739896"/>
            <a:ext cx="1977390" cy="1024128"/>
          </a:xfrm>
          <a:prstGeom prst="roundRect">
            <a:avLst>
              <a:gd name="adj" fmla="val 8000"/>
            </a:avLst>
          </a:prstGeom>
          <a:solidFill>
            <a:srgbClr val="FFF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pSp>
        <p:nvGrpSpPr>
          <p:cNvPr id="9088" name="Google Shape;3164;p95"/>
          <p:cNvGrpSpPr/>
          <p:nvPr/>
        </p:nvGrpSpPr>
        <p:grpSpPr>
          <a:xfrm>
            <a:off x="2654046" y="3831556"/>
            <a:ext cx="274320" cy="273878"/>
            <a:chOff x="9588900" y="4305732"/>
            <a:chExt cx="533495" cy="532637"/>
          </a:xfrm>
        </p:grpSpPr>
        <p:sp>
          <p:nvSpPr>
            <p:cNvPr id="9089" name="Google Shape;3165;p95"/>
            <p:cNvSpPr/>
            <p:nvPr/>
          </p:nvSpPr>
          <p:spPr>
            <a:xfrm>
              <a:off x="9588900" y="4305732"/>
              <a:ext cx="533495" cy="532637"/>
            </a:xfrm>
            <a:custGeom>
              <a:avLst/>
              <a:gdLst/>
              <a:ahLst/>
              <a:cxnLst/>
              <a:rect l="l" t="t" r="r" b="b"/>
              <a:pathLst>
                <a:path w="533495" h="532637" extrusionOk="0">
                  <a:moveTo>
                    <a:pt x="294704" y="532543"/>
                  </a:moveTo>
                  <a:lnTo>
                    <a:pt x="238697" y="532543"/>
                  </a:lnTo>
                  <a:cubicBezTo>
                    <a:pt x="227076" y="532543"/>
                    <a:pt x="212693" y="526447"/>
                    <a:pt x="204406" y="518065"/>
                  </a:cubicBezTo>
                  <a:lnTo>
                    <a:pt x="14097" y="328232"/>
                  </a:lnTo>
                  <a:cubicBezTo>
                    <a:pt x="5905" y="320040"/>
                    <a:pt x="0" y="305753"/>
                    <a:pt x="0" y="294227"/>
                  </a:cubicBezTo>
                  <a:lnTo>
                    <a:pt x="0" y="238220"/>
                  </a:lnTo>
                  <a:cubicBezTo>
                    <a:pt x="0" y="226600"/>
                    <a:pt x="5810" y="212312"/>
                    <a:pt x="13907" y="204121"/>
                  </a:cubicBezTo>
                  <a:lnTo>
                    <a:pt x="204597" y="14192"/>
                  </a:lnTo>
                  <a:cubicBezTo>
                    <a:pt x="212503" y="6001"/>
                    <a:pt x="226886" y="0"/>
                    <a:pt x="238697" y="0"/>
                  </a:cubicBezTo>
                  <a:lnTo>
                    <a:pt x="294704" y="0"/>
                  </a:lnTo>
                  <a:cubicBezTo>
                    <a:pt x="306515" y="0"/>
                    <a:pt x="320993" y="6096"/>
                    <a:pt x="329089" y="14383"/>
                  </a:cubicBezTo>
                  <a:lnTo>
                    <a:pt x="519398" y="204025"/>
                  </a:lnTo>
                  <a:cubicBezTo>
                    <a:pt x="519398" y="204025"/>
                    <a:pt x="519494" y="204121"/>
                    <a:pt x="519589" y="204216"/>
                  </a:cubicBezTo>
                  <a:cubicBezTo>
                    <a:pt x="527685" y="212503"/>
                    <a:pt x="533495" y="226790"/>
                    <a:pt x="533495" y="238316"/>
                  </a:cubicBezTo>
                  <a:lnTo>
                    <a:pt x="533495" y="294323"/>
                  </a:lnTo>
                  <a:cubicBezTo>
                    <a:pt x="533495" y="305753"/>
                    <a:pt x="527590" y="320040"/>
                    <a:pt x="519494" y="328232"/>
                  </a:cubicBezTo>
                  <a:lnTo>
                    <a:pt x="328898" y="518255"/>
                  </a:lnTo>
                  <a:cubicBezTo>
                    <a:pt x="320802" y="526542"/>
                    <a:pt x="306324" y="532638"/>
                    <a:pt x="294799" y="532638"/>
                  </a:cubicBezTo>
                  <a:lnTo>
                    <a:pt x="294799" y="532638"/>
                  </a:lnTo>
                  <a:close/>
                  <a:moveTo>
                    <a:pt x="238697" y="28956"/>
                  </a:moveTo>
                  <a:cubicBezTo>
                    <a:pt x="234791" y="28956"/>
                    <a:pt x="227743" y="31814"/>
                    <a:pt x="225076" y="34481"/>
                  </a:cubicBezTo>
                  <a:lnTo>
                    <a:pt x="34481" y="224504"/>
                  </a:lnTo>
                  <a:cubicBezTo>
                    <a:pt x="31814" y="227171"/>
                    <a:pt x="28956" y="234315"/>
                    <a:pt x="28956" y="238220"/>
                  </a:cubicBezTo>
                  <a:lnTo>
                    <a:pt x="28956" y="294227"/>
                  </a:lnTo>
                  <a:cubicBezTo>
                    <a:pt x="28956" y="298037"/>
                    <a:pt x="31909" y="305086"/>
                    <a:pt x="34481" y="307753"/>
                  </a:cubicBezTo>
                  <a:lnTo>
                    <a:pt x="224981" y="497681"/>
                  </a:lnTo>
                  <a:cubicBezTo>
                    <a:pt x="227838" y="500634"/>
                    <a:pt x="234887" y="503587"/>
                    <a:pt x="238697" y="503587"/>
                  </a:cubicBezTo>
                  <a:lnTo>
                    <a:pt x="294704" y="503587"/>
                  </a:lnTo>
                  <a:cubicBezTo>
                    <a:pt x="298609" y="503587"/>
                    <a:pt x="305562" y="500634"/>
                    <a:pt x="308324" y="497777"/>
                  </a:cubicBezTo>
                  <a:lnTo>
                    <a:pt x="498920" y="307753"/>
                  </a:lnTo>
                  <a:cubicBezTo>
                    <a:pt x="501491" y="305086"/>
                    <a:pt x="504444" y="298037"/>
                    <a:pt x="504444" y="294323"/>
                  </a:cubicBezTo>
                  <a:lnTo>
                    <a:pt x="504444" y="238316"/>
                  </a:lnTo>
                  <a:cubicBezTo>
                    <a:pt x="504444" y="234410"/>
                    <a:pt x="501587" y="227362"/>
                    <a:pt x="498824" y="224504"/>
                  </a:cubicBezTo>
                  <a:lnTo>
                    <a:pt x="308515" y="34671"/>
                  </a:lnTo>
                  <a:cubicBezTo>
                    <a:pt x="305657" y="31718"/>
                    <a:pt x="298704" y="28861"/>
                    <a:pt x="294799" y="28861"/>
                  </a:cubicBezTo>
                  <a:lnTo>
                    <a:pt x="238792" y="28861"/>
                  </a:lnTo>
                  <a:close/>
                </a:path>
              </a:pathLst>
            </a:custGeom>
            <a:solidFill>
              <a:srgbClr val="29B5E8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9090" name="Google Shape;3166;p95"/>
            <p:cNvGrpSpPr/>
            <p:nvPr/>
          </p:nvGrpSpPr>
          <p:grpSpPr>
            <a:xfrm>
              <a:off x="9707603" y="4491446"/>
              <a:ext cx="296040" cy="161103"/>
              <a:chOff x="9707603" y="4491446"/>
              <a:chExt cx="296040" cy="161103"/>
            </a:xfrm>
          </p:grpSpPr>
          <p:sp>
            <p:nvSpPr>
              <p:cNvPr id="9091" name="Google Shape;3167;p95"/>
              <p:cNvSpPr/>
              <p:nvPr/>
            </p:nvSpPr>
            <p:spPr>
              <a:xfrm>
                <a:off x="9707603" y="4517283"/>
                <a:ext cx="247533" cy="135266"/>
              </a:xfrm>
              <a:custGeom>
                <a:avLst/>
                <a:gdLst/>
                <a:ahLst/>
                <a:cxnLst/>
                <a:rect l="l" t="t" r="r" b="b"/>
                <a:pathLst>
                  <a:path w="247533" h="135266" extrusionOk="0">
                    <a:moveTo>
                      <a:pt x="148568" y="74390"/>
                    </a:moveTo>
                    <a:lnTo>
                      <a:pt x="96467" y="47339"/>
                    </a:lnTo>
                    <a:lnTo>
                      <a:pt x="5979" y="380"/>
                    </a:lnTo>
                    <a:cubicBezTo>
                      <a:pt x="5979" y="380"/>
                      <a:pt x="5693" y="380"/>
                      <a:pt x="5693" y="380"/>
                    </a:cubicBezTo>
                    <a:cubicBezTo>
                      <a:pt x="2360" y="-1144"/>
                      <a:pt x="-974" y="2190"/>
                      <a:pt x="264" y="5429"/>
                    </a:cubicBezTo>
                    <a:lnTo>
                      <a:pt x="47127" y="122205"/>
                    </a:lnTo>
                    <a:lnTo>
                      <a:pt x="47127" y="122205"/>
                    </a:lnTo>
                    <a:cubicBezTo>
                      <a:pt x="47127" y="122205"/>
                      <a:pt x="47222" y="122491"/>
                      <a:pt x="47318" y="122586"/>
                    </a:cubicBezTo>
                    <a:cubicBezTo>
                      <a:pt x="49223" y="126968"/>
                      <a:pt x="53414" y="129635"/>
                      <a:pt x="57890" y="130682"/>
                    </a:cubicBezTo>
                    <a:cubicBezTo>
                      <a:pt x="58271" y="130682"/>
                      <a:pt x="58557" y="130873"/>
                      <a:pt x="58938" y="130873"/>
                    </a:cubicBezTo>
                    <a:cubicBezTo>
                      <a:pt x="59414" y="130968"/>
                      <a:pt x="59986" y="131063"/>
                      <a:pt x="60557" y="131159"/>
                    </a:cubicBezTo>
                    <a:lnTo>
                      <a:pt x="61700" y="131159"/>
                    </a:lnTo>
                    <a:cubicBezTo>
                      <a:pt x="119898" y="137064"/>
                      <a:pt x="178572" y="136588"/>
                      <a:pt x="236675" y="129825"/>
                    </a:cubicBezTo>
                    <a:lnTo>
                      <a:pt x="236675" y="129825"/>
                    </a:lnTo>
                    <a:cubicBezTo>
                      <a:pt x="237341" y="129825"/>
                      <a:pt x="238103" y="129825"/>
                      <a:pt x="238770" y="129730"/>
                    </a:cubicBezTo>
                    <a:cubicBezTo>
                      <a:pt x="238961" y="129730"/>
                      <a:pt x="239246" y="129730"/>
                      <a:pt x="239437" y="129730"/>
                    </a:cubicBezTo>
                    <a:lnTo>
                      <a:pt x="239532" y="129730"/>
                    </a:lnTo>
                    <a:cubicBezTo>
                      <a:pt x="239532" y="129730"/>
                      <a:pt x="239818" y="129730"/>
                      <a:pt x="240008" y="129730"/>
                    </a:cubicBezTo>
                    <a:cubicBezTo>
                      <a:pt x="240199" y="129730"/>
                      <a:pt x="240485" y="129730"/>
                      <a:pt x="240580" y="129635"/>
                    </a:cubicBezTo>
                    <a:cubicBezTo>
                      <a:pt x="241056" y="129539"/>
                      <a:pt x="241151" y="129444"/>
                      <a:pt x="241723" y="129254"/>
                    </a:cubicBezTo>
                    <a:cubicBezTo>
                      <a:pt x="242294" y="129063"/>
                      <a:pt x="243152" y="128682"/>
                      <a:pt x="243818" y="128396"/>
                    </a:cubicBezTo>
                    <a:cubicBezTo>
                      <a:pt x="244390" y="128111"/>
                      <a:pt x="244771" y="127825"/>
                      <a:pt x="245247" y="127539"/>
                    </a:cubicBezTo>
                    <a:cubicBezTo>
                      <a:pt x="245819" y="127158"/>
                      <a:pt x="246390" y="126777"/>
                      <a:pt x="246962" y="126396"/>
                    </a:cubicBezTo>
                    <a:cubicBezTo>
                      <a:pt x="247247" y="126206"/>
                      <a:pt x="247438" y="126110"/>
                      <a:pt x="247533" y="125920"/>
                    </a:cubicBezTo>
                    <a:lnTo>
                      <a:pt x="247438" y="125920"/>
                    </a:lnTo>
                    <a:lnTo>
                      <a:pt x="148759" y="74675"/>
                    </a:lnTo>
                    <a:lnTo>
                      <a:pt x="148759" y="74675"/>
                    </a:lnTo>
                    <a:close/>
                  </a:path>
                </a:pathLst>
              </a:custGeom>
              <a:solidFill>
                <a:srgbClr val="29B5E8"/>
              </a:solidFill>
              <a:ln>
                <a:noFill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rgbClr val="262626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092" name="Google Shape;3168;p95"/>
              <p:cNvSpPr/>
              <p:nvPr/>
            </p:nvSpPr>
            <p:spPr>
              <a:xfrm>
                <a:off x="9907892" y="4515182"/>
                <a:ext cx="95751" cy="123067"/>
              </a:xfrm>
              <a:custGeom>
                <a:avLst/>
                <a:gdLst/>
                <a:ahLst/>
                <a:cxnLst/>
                <a:rect l="l" t="t" r="r" b="b"/>
                <a:pathLst>
                  <a:path w="95751" h="123067" extrusionOk="0">
                    <a:moveTo>
                      <a:pt x="89916" y="386"/>
                    </a:moveTo>
                    <a:lnTo>
                      <a:pt x="89821" y="386"/>
                    </a:lnTo>
                    <a:lnTo>
                      <a:pt x="0" y="48773"/>
                    </a:lnTo>
                    <a:lnTo>
                      <a:pt x="50673" y="123068"/>
                    </a:lnTo>
                    <a:lnTo>
                      <a:pt x="95536" y="5434"/>
                    </a:lnTo>
                    <a:lnTo>
                      <a:pt x="95536" y="5244"/>
                    </a:lnTo>
                    <a:cubicBezTo>
                      <a:pt x="96679" y="1815"/>
                      <a:pt x="93059" y="-1329"/>
                      <a:pt x="89821" y="576"/>
                    </a:cubicBezTo>
                  </a:path>
                </a:pathLst>
              </a:custGeom>
              <a:solidFill>
                <a:srgbClr val="7FD3F1"/>
              </a:solidFill>
              <a:ln>
                <a:noFill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rgbClr val="262626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093" name="Google Shape;3169;p95"/>
              <p:cNvSpPr/>
              <p:nvPr/>
            </p:nvSpPr>
            <p:spPr>
              <a:xfrm>
                <a:off x="9804165" y="4491446"/>
                <a:ext cx="154495" cy="151471"/>
              </a:xfrm>
              <a:custGeom>
                <a:avLst/>
                <a:gdLst/>
                <a:ahLst/>
                <a:cxnLst/>
                <a:rect l="l" t="t" r="r" b="b"/>
                <a:pathLst>
                  <a:path w="154495" h="151471" extrusionOk="0">
                    <a:moveTo>
                      <a:pt x="56102" y="2500"/>
                    </a:moveTo>
                    <a:cubicBezTo>
                      <a:pt x="53816" y="-833"/>
                      <a:pt x="48768" y="-833"/>
                      <a:pt x="46577" y="2500"/>
                    </a:cubicBezTo>
                    <a:lnTo>
                      <a:pt x="0" y="73176"/>
                    </a:lnTo>
                    <a:lnTo>
                      <a:pt x="52102" y="100227"/>
                    </a:lnTo>
                    <a:lnTo>
                      <a:pt x="150876" y="151471"/>
                    </a:lnTo>
                    <a:cubicBezTo>
                      <a:pt x="151448" y="150900"/>
                      <a:pt x="151924" y="150328"/>
                      <a:pt x="152495" y="149662"/>
                    </a:cubicBezTo>
                    <a:cubicBezTo>
                      <a:pt x="153257" y="148709"/>
                      <a:pt x="153924" y="147757"/>
                      <a:pt x="154496" y="146614"/>
                    </a:cubicBezTo>
                    <a:lnTo>
                      <a:pt x="103823" y="72319"/>
                    </a:lnTo>
                    <a:lnTo>
                      <a:pt x="56102" y="2405"/>
                    </a:lnTo>
                    <a:lnTo>
                      <a:pt x="56102" y="2405"/>
                    </a:lnTo>
                    <a:close/>
                  </a:path>
                </a:pathLst>
              </a:custGeom>
              <a:solidFill>
                <a:srgbClr val="52C3EC"/>
              </a:solidFill>
              <a:ln>
                <a:noFill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rgbClr val="262626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9094" name="TextBox 9093"/>
          <p:cNvSpPr txBox="1"/>
          <p:nvPr/>
        </p:nvSpPr>
        <p:spPr>
          <a:xfrm>
            <a:off x="2672334" y="4151376"/>
            <a:ext cx="170307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11567F"/>
                </a:solidFill>
                <a:latin typeface="Arial"/>
              </a:rPr>
              <a:t>Streamlit in Snowflake</a:t>
            </a:r>
          </a:p>
        </p:txBody>
      </p:sp>
      <p:sp>
        <p:nvSpPr>
          <p:cNvPr id="9095" name="TextBox 9094"/>
          <p:cNvSpPr txBox="1"/>
          <p:nvPr/>
        </p:nvSpPr>
        <p:spPr>
          <a:xfrm>
            <a:off x="2672334" y="4389120"/>
            <a:ext cx="170307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5B5B5B"/>
                </a:solidFill>
                <a:latin typeface="Arial"/>
              </a:rPr>
              <a:t>The app runs right next to the data</a:t>
            </a:r>
          </a:p>
        </p:txBody>
      </p:sp>
      <p:sp>
        <p:nvSpPr>
          <p:cNvPr id="9096" name="Rounded Rectangle 9095"/>
          <p:cNvSpPr/>
          <p:nvPr/>
        </p:nvSpPr>
        <p:spPr>
          <a:xfrm>
            <a:off x="4640580" y="3739896"/>
            <a:ext cx="1977390" cy="1024128"/>
          </a:xfrm>
          <a:prstGeom prst="roundRect">
            <a:avLst>
              <a:gd name="adj" fmla="val 8000"/>
            </a:avLst>
          </a:prstGeom>
          <a:solidFill>
            <a:srgbClr val="EEEA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pSp>
        <p:nvGrpSpPr>
          <p:cNvPr id="9094" name="Google Shape;4292;p99"/>
          <p:cNvGrpSpPr/>
          <p:nvPr/>
        </p:nvGrpSpPr>
        <p:grpSpPr>
          <a:xfrm>
            <a:off x="4786350" y="3831335"/>
            <a:ext cx="238811" cy="274320"/>
            <a:chOff x="3628580" y="2755899"/>
            <a:chExt cx="464439" cy="533495"/>
          </a:xfrm>
        </p:grpSpPr>
        <p:sp>
          <p:nvSpPr>
            <p:cNvPr id="9095" name="Google Shape;4293;p99"/>
            <p:cNvSpPr/>
            <p:nvPr/>
          </p:nvSpPr>
          <p:spPr>
            <a:xfrm>
              <a:off x="3628580" y="2755899"/>
              <a:ext cx="464439" cy="533495"/>
            </a:xfrm>
            <a:custGeom>
              <a:avLst/>
              <a:gdLst/>
              <a:ahLst/>
              <a:cxnLst/>
              <a:rect l="l" t="t" r="r" b="b"/>
              <a:pathLst>
                <a:path w="464439" h="533495" extrusionOk="0">
                  <a:moveTo>
                    <a:pt x="268415" y="0"/>
                  </a:moveTo>
                  <a:lnTo>
                    <a:pt x="195834" y="0"/>
                  </a:lnTo>
                  <a:cubicBezTo>
                    <a:pt x="127063" y="95"/>
                    <a:pt x="71342" y="55817"/>
                    <a:pt x="71342" y="124587"/>
                  </a:cubicBezTo>
                  <a:lnTo>
                    <a:pt x="71342" y="215837"/>
                  </a:lnTo>
                  <a:lnTo>
                    <a:pt x="69628" y="215837"/>
                  </a:lnTo>
                  <a:cubicBezTo>
                    <a:pt x="31147" y="215932"/>
                    <a:pt x="0" y="247174"/>
                    <a:pt x="0" y="285750"/>
                  </a:cubicBezTo>
                  <a:lnTo>
                    <a:pt x="0" y="463582"/>
                  </a:lnTo>
                  <a:cubicBezTo>
                    <a:pt x="0" y="502063"/>
                    <a:pt x="31147" y="533305"/>
                    <a:pt x="69628" y="533495"/>
                  </a:cubicBezTo>
                  <a:lnTo>
                    <a:pt x="395669" y="533495"/>
                  </a:lnTo>
                  <a:cubicBezTo>
                    <a:pt x="433864" y="532924"/>
                    <a:pt x="464439" y="501777"/>
                    <a:pt x="464439" y="463582"/>
                  </a:cubicBezTo>
                  <a:lnTo>
                    <a:pt x="464439" y="285655"/>
                  </a:lnTo>
                  <a:cubicBezTo>
                    <a:pt x="464439" y="247460"/>
                    <a:pt x="433769" y="216408"/>
                    <a:pt x="395669" y="215741"/>
                  </a:cubicBezTo>
                  <a:lnTo>
                    <a:pt x="393954" y="215741"/>
                  </a:lnTo>
                  <a:lnTo>
                    <a:pt x="393954" y="124587"/>
                  </a:lnTo>
                  <a:cubicBezTo>
                    <a:pt x="393764" y="55721"/>
                    <a:pt x="337852" y="-95"/>
                    <a:pt x="268986" y="0"/>
                  </a:cubicBezTo>
                  <a:lnTo>
                    <a:pt x="268415" y="0"/>
                  </a:lnTo>
                  <a:close/>
                  <a:moveTo>
                    <a:pt x="113633" y="124587"/>
                  </a:moveTo>
                  <a:cubicBezTo>
                    <a:pt x="113633" y="78772"/>
                    <a:pt x="150781" y="41624"/>
                    <a:pt x="196596" y="41624"/>
                  </a:cubicBezTo>
                  <a:lnTo>
                    <a:pt x="269177" y="41624"/>
                  </a:lnTo>
                  <a:cubicBezTo>
                    <a:pt x="314992" y="41624"/>
                    <a:pt x="352139" y="78772"/>
                    <a:pt x="352139" y="124587"/>
                  </a:cubicBezTo>
                  <a:lnTo>
                    <a:pt x="352139" y="215837"/>
                  </a:lnTo>
                  <a:lnTo>
                    <a:pt x="112967" y="215837"/>
                  </a:lnTo>
                  <a:lnTo>
                    <a:pt x="113633" y="124587"/>
                  </a:lnTo>
                  <a:close/>
                  <a:moveTo>
                    <a:pt x="395573" y="258128"/>
                  </a:moveTo>
                  <a:cubicBezTo>
                    <a:pt x="411194" y="258128"/>
                    <a:pt x="423767" y="270796"/>
                    <a:pt x="423767" y="286322"/>
                  </a:cubicBezTo>
                  <a:lnTo>
                    <a:pt x="423767" y="463582"/>
                  </a:lnTo>
                  <a:cubicBezTo>
                    <a:pt x="423767" y="479203"/>
                    <a:pt x="411099" y="491776"/>
                    <a:pt x="395573" y="491776"/>
                  </a:cubicBezTo>
                  <a:lnTo>
                    <a:pt x="69533" y="491776"/>
                  </a:lnTo>
                  <a:cubicBezTo>
                    <a:pt x="53912" y="491776"/>
                    <a:pt x="41339" y="479108"/>
                    <a:pt x="41339" y="463582"/>
                  </a:cubicBezTo>
                  <a:lnTo>
                    <a:pt x="41339" y="285655"/>
                  </a:lnTo>
                  <a:cubicBezTo>
                    <a:pt x="41720" y="270320"/>
                    <a:pt x="54293" y="258128"/>
                    <a:pt x="69533" y="258128"/>
                  </a:cubicBezTo>
                  <a:lnTo>
                    <a:pt x="395573" y="258128"/>
                  </a:lnTo>
                  <a:close/>
                </a:path>
              </a:pathLst>
            </a:custGeom>
            <a:solidFill>
              <a:srgbClr val="29B5E8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96" name="Google Shape;4294;p99"/>
            <p:cNvSpPr/>
            <p:nvPr/>
          </p:nvSpPr>
          <p:spPr>
            <a:xfrm>
              <a:off x="3811936" y="3063365"/>
              <a:ext cx="94773" cy="134208"/>
            </a:xfrm>
            <a:custGeom>
              <a:avLst/>
              <a:gdLst/>
              <a:ahLst/>
              <a:cxnLst/>
              <a:rect l="l" t="t" r="r" b="b"/>
              <a:pathLst>
                <a:path w="94773" h="134208" extrusionOk="0">
                  <a:moveTo>
                    <a:pt x="47434" y="134209"/>
                  </a:moveTo>
                  <a:cubicBezTo>
                    <a:pt x="73438" y="133828"/>
                    <a:pt x="94393" y="112873"/>
                    <a:pt x="94774" y="86869"/>
                  </a:cubicBezTo>
                  <a:lnTo>
                    <a:pt x="94774" y="47341"/>
                  </a:lnTo>
                  <a:cubicBezTo>
                    <a:pt x="94583" y="21337"/>
                    <a:pt x="73533" y="192"/>
                    <a:pt x="47434" y="1"/>
                  </a:cubicBezTo>
                  <a:cubicBezTo>
                    <a:pt x="21431" y="-189"/>
                    <a:pt x="190" y="20671"/>
                    <a:pt x="0" y="46579"/>
                  </a:cubicBezTo>
                  <a:lnTo>
                    <a:pt x="0" y="86869"/>
                  </a:lnTo>
                  <a:cubicBezTo>
                    <a:pt x="0" y="112968"/>
                    <a:pt x="21145" y="134209"/>
                    <a:pt x="47339" y="134209"/>
                  </a:cubicBezTo>
                  <a:lnTo>
                    <a:pt x="47530" y="134209"/>
                  </a:lnTo>
                  <a:close/>
                  <a:moveTo>
                    <a:pt x="33147" y="47341"/>
                  </a:moveTo>
                  <a:cubicBezTo>
                    <a:pt x="33433" y="39816"/>
                    <a:pt x="39529" y="33815"/>
                    <a:pt x="47053" y="33720"/>
                  </a:cubicBezTo>
                  <a:cubicBezTo>
                    <a:pt x="54769" y="33910"/>
                    <a:pt x="60960" y="40102"/>
                    <a:pt x="61151" y="47817"/>
                  </a:cubicBezTo>
                  <a:lnTo>
                    <a:pt x="61151" y="87250"/>
                  </a:lnTo>
                  <a:cubicBezTo>
                    <a:pt x="60960" y="94966"/>
                    <a:pt x="54769" y="101252"/>
                    <a:pt x="47053" y="101538"/>
                  </a:cubicBezTo>
                  <a:cubicBezTo>
                    <a:pt x="39243" y="101538"/>
                    <a:pt x="32956" y="95251"/>
                    <a:pt x="32956" y="87441"/>
                  </a:cubicBezTo>
                  <a:lnTo>
                    <a:pt x="33147" y="47341"/>
                  </a:lnTo>
                  <a:lnTo>
                    <a:pt x="33147" y="47341"/>
                  </a:lnTo>
                  <a:close/>
                </a:path>
              </a:pathLst>
            </a:custGeom>
            <a:solidFill>
              <a:srgbClr val="29B5E8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9097" name="TextBox 9096"/>
          <p:cNvSpPr txBox="1"/>
          <p:nvPr/>
        </p:nvSpPr>
        <p:spPr>
          <a:xfrm>
            <a:off x="4786884" y="4151376"/>
            <a:ext cx="170307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11567F"/>
                </a:solidFill>
                <a:latin typeface="Arial"/>
              </a:rPr>
              <a:t>Masking &amp; row access</a:t>
            </a:r>
          </a:p>
        </p:txBody>
      </p:sp>
      <p:sp>
        <p:nvSpPr>
          <p:cNvPr id="9098" name="TextBox 9097"/>
          <p:cNvSpPr txBox="1"/>
          <p:nvPr/>
        </p:nvSpPr>
        <p:spPr>
          <a:xfrm>
            <a:off x="4786884" y="4389120"/>
            <a:ext cx="170307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5B5B5B"/>
                </a:solidFill>
                <a:latin typeface="Arial"/>
              </a:rPr>
              <a:t>PII masked, each persona sees only its book</a:t>
            </a:r>
          </a:p>
        </p:txBody>
      </p:sp>
      <p:sp>
        <p:nvSpPr>
          <p:cNvPr id="9099" name="Rounded Rectangle 9098"/>
          <p:cNvSpPr/>
          <p:nvPr/>
        </p:nvSpPr>
        <p:spPr>
          <a:xfrm>
            <a:off x="6755130" y="3739896"/>
            <a:ext cx="1977390" cy="1024128"/>
          </a:xfrm>
          <a:prstGeom prst="roundRect">
            <a:avLst>
              <a:gd name="adj" fmla="val 8000"/>
            </a:avLst>
          </a:prstGeom>
          <a:solidFill>
            <a:srgbClr val="EEEA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pSp>
        <p:nvGrpSpPr>
          <p:cNvPr id="9097" name="Google Shape;3569;p97"/>
          <p:cNvGrpSpPr/>
          <p:nvPr/>
        </p:nvGrpSpPr>
        <p:grpSpPr>
          <a:xfrm>
            <a:off x="6883146" y="3892549"/>
            <a:ext cx="274320" cy="151892"/>
            <a:chOff x="3416132" y="391184"/>
            <a:chExt cx="527398" cy="292024"/>
          </a:xfrm>
        </p:grpSpPr>
        <p:sp>
          <p:nvSpPr>
            <p:cNvPr id="9098" name="Google Shape;3570;p97"/>
            <p:cNvSpPr/>
            <p:nvPr/>
          </p:nvSpPr>
          <p:spPr>
            <a:xfrm>
              <a:off x="3770466" y="429466"/>
              <a:ext cx="173064" cy="211641"/>
            </a:xfrm>
            <a:custGeom>
              <a:avLst/>
              <a:gdLst/>
              <a:ahLst/>
              <a:cxnLst/>
              <a:rect l="l" t="t" r="r" b="b"/>
              <a:pathLst>
                <a:path w="173064" h="211641" extrusionOk="0">
                  <a:moveTo>
                    <a:pt x="164302" y="89816"/>
                  </a:moveTo>
                  <a:lnTo>
                    <a:pt x="29333" y="3044"/>
                  </a:lnTo>
                  <a:cubicBezTo>
                    <a:pt x="20474" y="-2671"/>
                    <a:pt x="8663" y="-100"/>
                    <a:pt x="3044" y="8759"/>
                  </a:cubicBezTo>
                  <a:cubicBezTo>
                    <a:pt x="-2671" y="17617"/>
                    <a:pt x="-100" y="29428"/>
                    <a:pt x="8759" y="35048"/>
                  </a:cubicBezTo>
                  <a:lnTo>
                    <a:pt x="118868" y="105818"/>
                  </a:lnTo>
                  <a:lnTo>
                    <a:pt x="8759" y="176589"/>
                  </a:lnTo>
                  <a:cubicBezTo>
                    <a:pt x="-100" y="182304"/>
                    <a:pt x="-2671" y="194020"/>
                    <a:pt x="3044" y="202878"/>
                  </a:cubicBezTo>
                  <a:cubicBezTo>
                    <a:pt x="6663" y="208498"/>
                    <a:pt x="12854" y="211641"/>
                    <a:pt x="19046" y="211641"/>
                  </a:cubicBezTo>
                  <a:cubicBezTo>
                    <a:pt x="22570" y="211641"/>
                    <a:pt x="26094" y="210689"/>
                    <a:pt x="29333" y="208593"/>
                  </a:cubicBezTo>
                  <a:lnTo>
                    <a:pt x="164302" y="121820"/>
                  </a:lnTo>
                  <a:cubicBezTo>
                    <a:pt x="169731" y="118296"/>
                    <a:pt x="173065" y="112295"/>
                    <a:pt x="173065" y="105818"/>
                  </a:cubicBezTo>
                  <a:cubicBezTo>
                    <a:pt x="173065" y="99341"/>
                    <a:pt x="169731" y="93341"/>
                    <a:pt x="164302" y="89816"/>
                  </a:cubicBezTo>
                  <a:close/>
                </a:path>
              </a:pathLst>
            </a:custGeom>
            <a:solidFill>
              <a:srgbClr val="29B5E8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99" name="Google Shape;3571;p97"/>
            <p:cNvSpPr/>
            <p:nvPr/>
          </p:nvSpPr>
          <p:spPr>
            <a:xfrm>
              <a:off x="3416132" y="429466"/>
              <a:ext cx="173064" cy="211641"/>
            </a:xfrm>
            <a:custGeom>
              <a:avLst/>
              <a:gdLst/>
              <a:ahLst/>
              <a:cxnLst/>
              <a:rect l="l" t="t" r="r" b="b"/>
              <a:pathLst>
                <a:path w="173064" h="211641" extrusionOk="0">
                  <a:moveTo>
                    <a:pt x="170021" y="8759"/>
                  </a:moveTo>
                  <a:cubicBezTo>
                    <a:pt x="164306" y="-100"/>
                    <a:pt x="152591" y="-2671"/>
                    <a:pt x="143732" y="3044"/>
                  </a:cubicBezTo>
                  <a:lnTo>
                    <a:pt x="8763" y="89816"/>
                  </a:lnTo>
                  <a:cubicBezTo>
                    <a:pt x="3334" y="93341"/>
                    <a:pt x="0" y="99341"/>
                    <a:pt x="0" y="105818"/>
                  </a:cubicBezTo>
                  <a:cubicBezTo>
                    <a:pt x="0" y="112295"/>
                    <a:pt x="3334" y="118296"/>
                    <a:pt x="8763" y="121820"/>
                  </a:cubicBezTo>
                  <a:lnTo>
                    <a:pt x="143732" y="208593"/>
                  </a:lnTo>
                  <a:cubicBezTo>
                    <a:pt x="146875" y="210593"/>
                    <a:pt x="150495" y="211641"/>
                    <a:pt x="154019" y="211641"/>
                  </a:cubicBezTo>
                  <a:cubicBezTo>
                    <a:pt x="160306" y="211641"/>
                    <a:pt x="166402" y="208593"/>
                    <a:pt x="170021" y="202878"/>
                  </a:cubicBezTo>
                  <a:cubicBezTo>
                    <a:pt x="175736" y="194020"/>
                    <a:pt x="173165" y="182209"/>
                    <a:pt x="164306" y="176589"/>
                  </a:cubicBezTo>
                  <a:lnTo>
                    <a:pt x="54197" y="105818"/>
                  </a:lnTo>
                  <a:lnTo>
                    <a:pt x="164306" y="35048"/>
                  </a:lnTo>
                  <a:cubicBezTo>
                    <a:pt x="173165" y="29333"/>
                    <a:pt x="175736" y="17617"/>
                    <a:pt x="170021" y="8759"/>
                  </a:cubicBezTo>
                  <a:close/>
                </a:path>
              </a:pathLst>
            </a:custGeom>
            <a:solidFill>
              <a:srgbClr val="29B5E8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00" name="Google Shape;3572;p97"/>
            <p:cNvSpPr/>
            <p:nvPr/>
          </p:nvSpPr>
          <p:spPr>
            <a:xfrm>
              <a:off x="3632267" y="391184"/>
              <a:ext cx="95320" cy="292024"/>
            </a:xfrm>
            <a:custGeom>
              <a:avLst/>
              <a:gdLst/>
              <a:ahLst/>
              <a:cxnLst/>
              <a:rect l="l" t="t" r="r" b="b"/>
              <a:pathLst>
                <a:path w="95320" h="292024" extrusionOk="0">
                  <a:moveTo>
                    <a:pt x="80474" y="464"/>
                  </a:moveTo>
                  <a:cubicBezTo>
                    <a:pt x="70187" y="-1822"/>
                    <a:pt x="59995" y="4559"/>
                    <a:pt x="57709" y="14846"/>
                  </a:cubicBezTo>
                  <a:lnTo>
                    <a:pt x="464" y="268783"/>
                  </a:lnTo>
                  <a:cubicBezTo>
                    <a:pt x="-1822" y="279070"/>
                    <a:pt x="4559" y="289262"/>
                    <a:pt x="14846" y="291548"/>
                  </a:cubicBezTo>
                  <a:cubicBezTo>
                    <a:pt x="16275" y="291834"/>
                    <a:pt x="17704" y="292024"/>
                    <a:pt x="19037" y="292024"/>
                  </a:cubicBezTo>
                  <a:cubicBezTo>
                    <a:pt x="27705" y="292024"/>
                    <a:pt x="35611" y="286023"/>
                    <a:pt x="37611" y="277165"/>
                  </a:cubicBezTo>
                  <a:lnTo>
                    <a:pt x="94856" y="23228"/>
                  </a:lnTo>
                  <a:cubicBezTo>
                    <a:pt x="97142" y="12941"/>
                    <a:pt x="90761" y="2750"/>
                    <a:pt x="80474" y="464"/>
                  </a:cubicBezTo>
                  <a:close/>
                </a:path>
              </a:pathLst>
            </a:custGeom>
            <a:solidFill>
              <a:srgbClr val="29B5E8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9101" name="TextBox 9100"/>
          <p:cNvSpPr txBox="1"/>
          <p:nvPr/>
        </p:nvSpPr>
        <p:spPr>
          <a:xfrm>
            <a:off x="6901434" y="4151376"/>
            <a:ext cx="170307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11567F"/>
                </a:solidFill>
                <a:latin typeface="Arial"/>
              </a:rPr>
              <a:t>CoCo CLI</a:t>
            </a:r>
          </a:p>
        </p:txBody>
      </p:sp>
      <p:sp>
        <p:nvSpPr>
          <p:cNvPr id="9102" name="TextBox 9101"/>
          <p:cNvSpPr txBox="1"/>
          <p:nvPr/>
        </p:nvSpPr>
        <p:spPr>
          <a:xfrm>
            <a:off x="6901434" y="4389120"/>
            <a:ext cx="170307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5B5B5B"/>
                </a:solidFill>
                <a:latin typeface="Arial"/>
              </a:rPr>
              <a:t>Built the platform and packages it as skills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40080"/>
            <a:ext cx="91440" cy="329184"/>
          </a:xfrm>
          <a:prstGeom prst="rect">
            <a:avLst/>
          </a:prstGeom>
          <a:solidFill>
            <a:srgbClr val="29B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603504"/>
            <a:ext cx="832104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 i="0">
                <a:solidFill>
                  <a:srgbClr val="000000"/>
                </a:solidFill>
                <a:latin typeface="Arial"/>
              </a:rPr>
              <a:t>What's live in the app today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987552"/>
            <a:ext cx="8321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5B5B5B"/>
                </a:solidFill>
                <a:latin typeface="Arial"/>
              </a:rPr>
              <a:t>Two modes on live Snowflake data: a guided studio and the everyday console.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" y="1371600"/>
            <a:ext cx="4069080" cy="3429000"/>
          </a:xfrm>
          <a:prstGeom prst="roundRect">
            <a:avLst>
              <a:gd name="adj" fmla="val 8000"/>
            </a:avLst>
          </a:prstGeom>
          <a:solidFill>
            <a:srgbClr val="EA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21792" y="1499616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252525"/>
                </a:solidFill>
                <a:latin typeface="Arial"/>
              </a:rPr>
              <a:t>Scenario Studio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" y="1783080"/>
            <a:ext cx="3657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5B5B5B"/>
                </a:solidFill>
                <a:latin typeface="Arial"/>
              </a:rPr>
              <a:t>The full loop on any customer, step by step</a:t>
            </a:r>
          </a:p>
        </p:txBody>
      </p:sp>
      <p:sp>
        <p:nvSpPr>
          <p:cNvPr id="9" name="Oval 8"/>
          <p:cNvSpPr/>
          <p:nvPr/>
        </p:nvSpPr>
        <p:spPr>
          <a:xfrm>
            <a:off x="621792" y="2121408"/>
            <a:ext cx="274320" cy="274320"/>
          </a:xfrm>
          <a:prstGeom prst="ellipse">
            <a:avLst/>
          </a:prstGeom>
          <a:solidFill>
            <a:srgbClr val="29B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1792" y="2121408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148839"/>
            <a:ext cx="3383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1" i="0">
                <a:solidFill>
                  <a:srgbClr val="252525"/>
                </a:solidFill>
                <a:latin typeface="Arial"/>
              </a:rPr>
              <a:t>Stage an event</a:t>
            </a:r>
            <a:r>
              <a:rPr sz="1050" b="0" i="0">
                <a:solidFill>
                  <a:srgbClr val="5B5B5B"/>
                </a:solidFill>
                <a:latin typeface="Arial"/>
              </a:rPr>
              <a:t>  describe it, AI writes a realistic call</a:t>
            </a:r>
          </a:p>
        </p:txBody>
      </p:sp>
      <p:sp>
        <p:nvSpPr>
          <p:cNvPr id="12" name="Oval 11"/>
          <p:cNvSpPr/>
          <p:nvPr/>
        </p:nvSpPr>
        <p:spPr>
          <a:xfrm>
            <a:off x="621792" y="2551176"/>
            <a:ext cx="274320" cy="274320"/>
          </a:xfrm>
          <a:prstGeom prst="ellipse">
            <a:avLst/>
          </a:prstGeom>
          <a:solidFill>
            <a:srgbClr val="29B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1792" y="2551176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2578608"/>
            <a:ext cx="3383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1" i="0">
                <a:solidFill>
                  <a:srgbClr val="252525"/>
                </a:solidFill>
                <a:latin typeface="Arial"/>
              </a:rPr>
              <a:t>Detect</a:t>
            </a:r>
            <a:r>
              <a:rPr sz="1050" b="0" i="0">
                <a:solidFill>
                  <a:srgbClr val="5B5B5B"/>
                </a:solidFill>
                <a:latin typeface="Arial"/>
              </a:rPr>
              <a:t>  signals extracted with their evidence</a:t>
            </a:r>
          </a:p>
        </p:txBody>
      </p:sp>
      <p:sp>
        <p:nvSpPr>
          <p:cNvPr id="15" name="Oval 14"/>
          <p:cNvSpPr/>
          <p:nvPr/>
        </p:nvSpPr>
        <p:spPr>
          <a:xfrm>
            <a:off x="621792" y="2980944"/>
            <a:ext cx="274320" cy="274320"/>
          </a:xfrm>
          <a:prstGeom prst="ellipse">
            <a:avLst/>
          </a:prstGeom>
          <a:solidFill>
            <a:srgbClr val="29B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1792" y="2980944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5840" y="3008375"/>
            <a:ext cx="3383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1" i="0">
                <a:solidFill>
                  <a:srgbClr val="252525"/>
                </a:solidFill>
                <a:latin typeface="Arial"/>
              </a:rPr>
              <a:t>Understand</a:t>
            </a:r>
            <a:r>
              <a:rPr sz="1050" b="0" i="0">
                <a:solidFill>
                  <a:srgbClr val="5B5B5B"/>
                </a:solidFill>
                <a:latin typeface="Arial"/>
              </a:rPr>
              <a:t>  state recomputed, conflicts resolved</a:t>
            </a:r>
          </a:p>
        </p:txBody>
      </p:sp>
      <p:sp>
        <p:nvSpPr>
          <p:cNvPr id="18" name="Oval 17"/>
          <p:cNvSpPr/>
          <p:nvPr/>
        </p:nvSpPr>
        <p:spPr>
          <a:xfrm>
            <a:off x="621792" y="3410711"/>
            <a:ext cx="274320" cy="274320"/>
          </a:xfrm>
          <a:prstGeom prst="ellipse">
            <a:avLst/>
          </a:prstGeom>
          <a:solidFill>
            <a:srgbClr val="29B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21792" y="3410711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5840" y="3438143"/>
            <a:ext cx="3383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1" i="0">
                <a:solidFill>
                  <a:srgbClr val="252525"/>
                </a:solidFill>
                <a:latin typeface="Arial"/>
              </a:rPr>
              <a:t>Decide</a:t>
            </a:r>
            <a:r>
              <a:rPr sz="1050" b="0" i="0">
                <a:solidFill>
                  <a:srgbClr val="5B5B5B"/>
                </a:solidFill>
                <a:latin typeface="Arial"/>
              </a:rPr>
              <a:t>  ranked for your role, limits checked</a:t>
            </a:r>
          </a:p>
        </p:txBody>
      </p:sp>
      <p:sp>
        <p:nvSpPr>
          <p:cNvPr id="21" name="Oval 20"/>
          <p:cNvSpPr/>
          <p:nvPr/>
        </p:nvSpPr>
        <p:spPr>
          <a:xfrm>
            <a:off x="621792" y="3840479"/>
            <a:ext cx="274320" cy="274320"/>
          </a:xfrm>
          <a:prstGeom prst="ellipse">
            <a:avLst/>
          </a:prstGeom>
          <a:solidFill>
            <a:srgbClr val="29B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1792" y="3840479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05840" y="3867911"/>
            <a:ext cx="3383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1" i="0">
                <a:solidFill>
                  <a:srgbClr val="252525"/>
                </a:solidFill>
                <a:latin typeface="Arial"/>
              </a:rPr>
              <a:t>Act</a:t>
            </a:r>
            <a:r>
              <a:rPr sz="1050" b="0" i="0">
                <a:solidFill>
                  <a:srgbClr val="5B5B5B"/>
                </a:solidFill>
                <a:latin typeface="Arial"/>
              </a:rPr>
              <a:t>  carried out, customer notified, call brief</a:t>
            </a:r>
          </a:p>
        </p:txBody>
      </p:sp>
      <p:sp>
        <p:nvSpPr>
          <p:cNvPr id="24" name="Oval 23"/>
          <p:cNvSpPr/>
          <p:nvPr/>
        </p:nvSpPr>
        <p:spPr>
          <a:xfrm>
            <a:off x="621792" y="4270248"/>
            <a:ext cx="274320" cy="274320"/>
          </a:xfrm>
          <a:prstGeom prst="ellipse">
            <a:avLst/>
          </a:prstGeom>
          <a:solidFill>
            <a:srgbClr val="29B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21792" y="4270248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840" y="4297680"/>
            <a:ext cx="3383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1" i="0">
                <a:solidFill>
                  <a:srgbClr val="252525"/>
                </a:solidFill>
                <a:latin typeface="Arial"/>
              </a:rPr>
              <a:t>Learn</a:t>
            </a:r>
            <a:r>
              <a:rPr sz="1050" b="0" i="0">
                <a:solidFill>
                  <a:srgbClr val="5B5B5B"/>
                </a:solidFill>
                <a:latin typeface="Arial"/>
              </a:rPr>
              <a:t>  outcome recorded, ranking re-run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663440" y="1371600"/>
            <a:ext cx="4069080" cy="3429000"/>
          </a:xfrm>
          <a:prstGeom prst="roundRect">
            <a:avLst>
              <a:gd name="adj" fmla="val 8000"/>
            </a:avLst>
          </a:prstGeom>
          <a:solidFill>
            <a:srgbClr val="F4F8FB"/>
          </a:solidFill>
          <a:ln w="11430">
            <a:solidFill>
              <a:srgbClr val="DC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873752" y="1499616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252525"/>
                </a:solidFill>
                <a:latin typeface="Arial"/>
              </a:rPr>
              <a:t>Operations Console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873752" y="1783080"/>
            <a:ext cx="3657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5B5B5B"/>
                </a:solidFill>
                <a:latin typeface="Arial"/>
              </a:rPr>
              <a:t>Day-to-day product, scoped to the role you pick</a:t>
            </a:r>
          </a:p>
        </p:txBody>
      </p:sp>
      <p:sp>
        <p:nvSpPr>
          <p:cNvPr id="30" name="Oval 29"/>
          <p:cNvSpPr/>
          <p:nvPr/>
        </p:nvSpPr>
        <p:spPr>
          <a:xfrm>
            <a:off x="4873752" y="2176272"/>
            <a:ext cx="100584" cy="100584"/>
          </a:xfrm>
          <a:prstGeom prst="ellipse">
            <a:avLst/>
          </a:prstGeom>
          <a:solidFill>
            <a:srgbClr val="75CD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074920" y="2121408"/>
            <a:ext cx="3566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1" i="0">
                <a:solidFill>
                  <a:srgbClr val="252525"/>
                </a:solidFill>
                <a:latin typeface="Arial"/>
              </a:rPr>
              <a:t>My Feed</a:t>
            </a:r>
            <a:r>
              <a:rPr sz="1050" b="0" i="0">
                <a:solidFill>
                  <a:srgbClr val="5B5B5B"/>
                </a:solidFill>
                <a:latin typeface="Arial"/>
              </a:rPr>
              <a:t>  today's ranked worklist</a:t>
            </a:r>
          </a:p>
        </p:txBody>
      </p:sp>
      <p:sp>
        <p:nvSpPr>
          <p:cNvPr id="32" name="Oval 31"/>
          <p:cNvSpPr/>
          <p:nvPr/>
        </p:nvSpPr>
        <p:spPr>
          <a:xfrm>
            <a:off x="4873752" y="2500884"/>
            <a:ext cx="100584" cy="100584"/>
          </a:xfrm>
          <a:prstGeom prst="ellipse">
            <a:avLst/>
          </a:prstGeom>
          <a:solidFill>
            <a:srgbClr val="75CD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074920" y="2446020"/>
            <a:ext cx="3566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1" i="0">
                <a:solidFill>
                  <a:srgbClr val="252525"/>
                </a:solidFill>
                <a:latin typeface="Arial"/>
              </a:rPr>
              <a:t>Decision Queue</a:t>
            </a:r>
            <a:r>
              <a:rPr sz="1050" b="0" i="0">
                <a:solidFill>
                  <a:srgbClr val="5B5B5B"/>
                </a:solidFill>
                <a:latin typeface="Arial"/>
              </a:rPr>
              <a:t>  by severity and value</a:t>
            </a:r>
          </a:p>
        </p:txBody>
      </p:sp>
      <p:sp>
        <p:nvSpPr>
          <p:cNvPr id="34" name="Oval 33"/>
          <p:cNvSpPr/>
          <p:nvPr/>
        </p:nvSpPr>
        <p:spPr>
          <a:xfrm>
            <a:off x="4873752" y="2825496"/>
            <a:ext cx="100584" cy="100584"/>
          </a:xfrm>
          <a:prstGeom prst="ellipse">
            <a:avLst/>
          </a:prstGeom>
          <a:solidFill>
            <a:srgbClr val="75CD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074920" y="2770632"/>
            <a:ext cx="3566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1" i="0">
                <a:solidFill>
                  <a:srgbClr val="252525"/>
                </a:solidFill>
                <a:latin typeface="Arial"/>
              </a:rPr>
              <a:t>Approvals</a:t>
            </a:r>
            <a:r>
              <a:rPr sz="1050" b="0" i="0">
                <a:solidFill>
                  <a:srgbClr val="5B5B5B"/>
                </a:solidFill>
                <a:latin typeface="Arial"/>
              </a:rPr>
              <a:t>  offers waiting on you</a:t>
            </a:r>
          </a:p>
        </p:txBody>
      </p:sp>
      <p:sp>
        <p:nvSpPr>
          <p:cNvPr id="36" name="Oval 35"/>
          <p:cNvSpPr/>
          <p:nvPr/>
        </p:nvSpPr>
        <p:spPr>
          <a:xfrm>
            <a:off x="4873752" y="3150108"/>
            <a:ext cx="100584" cy="100584"/>
          </a:xfrm>
          <a:prstGeom prst="ellipse">
            <a:avLst/>
          </a:prstGeom>
          <a:solidFill>
            <a:srgbClr val="75CD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074920" y="3095244"/>
            <a:ext cx="3566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1" i="0">
                <a:solidFill>
                  <a:srgbClr val="252525"/>
                </a:solidFill>
                <a:latin typeface="Arial"/>
              </a:rPr>
              <a:t>Customer 360</a:t>
            </a:r>
            <a:r>
              <a:rPr sz="1050" b="0" i="0">
                <a:solidFill>
                  <a:srgbClr val="5B5B5B"/>
                </a:solidFill>
                <a:latin typeface="Arial"/>
              </a:rPr>
              <a:t>  profile, evidence, timeline</a:t>
            </a:r>
          </a:p>
        </p:txBody>
      </p:sp>
      <p:sp>
        <p:nvSpPr>
          <p:cNvPr id="38" name="Oval 37"/>
          <p:cNvSpPr/>
          <p:nvPr/>
        </p:nvSpPr>
        <p:spPr>
          <a:xfrm>
            <a:off x="4873752" y="3474720"/>
            <a:ext cx="100584" cy="100584"/>
          </a:xfrm>
          <a:prstGeom prst="ellipse">
            <a:avLst/>
          </a:prstGeom>
          <a:solidFill>
            <a:srgbClr val="75CD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074920" y="3419856"/>
            <a:ext cx="3566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1" i="0">
                <a:solidFill>
                  <a:srgbClr val="252525"/>
                </a:solidFill>
                <a:latin typeface="Arial"/>
              </a:rPr>
              <a:t>Portfolio &amp; Learning</a:t>
            </a:r>
            <a:r>
              <a:rPr sz="1050" b="0" i="0">
                <a:solidFill>
                  <a:srgbClr val="5B5B5B"/>
                </a:solidFill>
                <a:latin typeface="Arial"/>
              </a:rPr>
              <a:t>  value at risk, what works</a:t>
            </a:r>
          </a:p>
        </p:txBody>
      </p:sp>
      <p:sp>
        <p:nvSpPr>
          <p:cNvPr id="40" name="Oval 39"/>
          <p:cNvSpPr/>
          <p:nvPr/>
        </p:nvSpPr>
        <p:spPr>
          <a:xfrm>
            <a:off x="4873752" y="3799331"/>
            <a:ext cx="100584" cy="100584"/>
          </a:xfrm>
          <a:prstGeom prst="ellipse">
            <a:avLst/>
          </a:prstGeom>
          <a:solidFill>
            <a:srgbClr val="75CD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074920" y="3744468"/>
            <a:ext cx="3566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1" i="0">
                <a:solidFill>
                  <a:srgbClr val="252525"/>
                </a:solidFill>
                <a:latin typeface="Arial"/>
              </a:rPr>
              <a:t>Ask the data</a:t>
            </a:r>
            <a:r>
              <a:rPr sz="1050" b="0" i="0">
                <a:solidFill>
                  <a:srgbClr val="5B5B5B"/>
                </a:solidFill>
                <a:latin typeface="Arial"/>
              </a:rPr>
              <a:t>  chat that remembers context</a:t>
            </a:r>
          </a:p>
        </p:txBody>
      </p:sp>
      <p:sp>
        <p:nvSpPr>
          <p:cNvPr id="42" name="Oval 41"/>
          <p:cNvSpPr/>
          <p:nvPr/>
        </p:nvSpPr>
        <p:spPr>
          <a:xfrm>
            <a:off x="4873752" y="4123943"/>
            <a:ext cx="100584" cy="100584"/>
          </a:xfrm>
          <a:prstGeom prst="ellipse">
            <a:avLst/>
          </a:prstGeom>
          <a:solidFill>
            <a:srgbClr val="75CD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074920" y="4069079"/>
            <a:ext cx="3566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1" i="0">
                <a:solidFill>
                  <a:srgbClr val="252525"/>
                </a:solidFill>
                <a:latin typeface="Arial"/>
              </a:rPr>
              <a:t>Config Studio</a:t>
            </a:r>
            <a:r>
              <a:rPr sz="1050" b="0" i="0">
                <a:solidFill>
                  <a:srgbClr val="5B5B5B"/>
                </a:solidFill>
                <a:latin typeface="Arial"/>
              </a:rPr>
              <a:t>  weights, limits, rules</a:t>
            </a:r>
          </a:p>
        </p:txBody>
      </p:sp>
      <p:sp>
        <p:nvSpPr>
          <p:cNvPr id="44" name="Oval 43"/>
          <p:cNvSpPr/>
          <p:nvPr/>
        </p:nvSpPr>
        <p:spPr>
          <a:xfrm>
            <a:off x="4873752" y="4448555"/>
            <a:ext cx="100584" cy="100584"/>
          </a:xfrm>
          <a:prstGeom prst="ellipse">
            <a:avLst/>
          </a:prstGeom>
          <a:solidFill>
            <a:srgbClr val="75CD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074920" y="4393692"/>
            <a:ext cx="3566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1" i="0">
                <a:solidFill>
                  <a:srgbClr val="252525"/>
                </a:solidFill>
                <a:latin typeface="Arial"/>
              </a:rPr>
              <a:t>Signal Discovery</a:t>
            </a:r>
            <a:r>
              <a:rPr sz="1050" b="0" i="0">
                <a:solidFill>
                  <a:srgbClr val="5B5B5B"/>
                </a:solidFill>
                <a:latin typeface="Arial"/>
              </a:rPr>
              <a:t>  daily suggestions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40080"/>
            <a:ext cx="91440" cy="329184"/>
          </a:xfrm>
          <a:prstGeom prst="rect">
            <a:avLst/>
          </a:prstGeom>
          <a:solidFill>
            <a:srgbClr val="29B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603504"/>
            <a:ext cx="832104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 i="0">
                <a:solidFill>
                  <a:srgbClr val="000000"/>
                </a:solidFill>
                <a:latin typeface="Arial"/>
              </a:rPr>
              <a:t>Enterprise ready by design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11480" y="1188720"/>
            <a:ext cx="2663952" cy="1344168"/>
          </a:xfrm>
          <a:prstGeom prst="roundRect">
            <a:avLst>
              <a:gd name="adj" fmla="val 8000"/>
            </a:avLst>
          </a:prstGeom>
          <a:solidFill>
            <a:srgbClr val="F4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01" name="Google Shape;4453;p100"/>
          <p:cNvSpPr/>
          <p:nvPr/>
        </p:nvSpPr>
        <p:spPr>
          <a:xfrm>
            <a:off x="560032" y="1280160"/>
            <a:ext cx="306399" cy="310896"/>
          </a:xfrm>
          <a:custGeom>
            <a:avLst/>
            <a:gdLst/>
            <a:ahLst/>
            <a:cxnLst/>
            <a:rect l="l" t="t" r="r" b="b"/>
            <a:pathLst>
              <a:path w="525779" h="533495" extrusionOk="0">
                <a:moveTo>
                  <a:pt x="211455" y="0"/>
                </a:moveTo>
                <a:cubicBezTo>
                  <a:pt x="106394" y="0"/>
                  <a:pt x="0" y="31814"/>
                  <a:pt x="0" y="92678"/>
                </a:cubicBezTo>
                <a:lnTo>
                  <a:pt x="0" y="394049"/>
                </a:lnTo>
                <a:cubicBezTo>
                  <a:pt x="0" y="454819"/>
                  <a:pt x="106394" y="486632"/>
                  <a:pt x="211455" y="486632"/>
                </a:cubicBezTo>
                <a:cubicBezTo>
                  <a:pt x="238125" y="486632"/>
                  <a:pt x="264605" y="484346"/>
                  <a:pt x="289751" y="480251"/>
                </a:cubicBezTo>
                <a:cubicBezTo>
                  <a:pt x="289941" y="480251"/>
                  <a:pt x="290132" y="480346"/>
                  <a:pt x="290417" y="480346"/>
                </a:cubicBezTo>
                <a:cubicBezTo>
                  <a:pt x="291465" y="480346"/>
                  <a:pt x="292418" y="479870"/>
                  <a:pt x="293465" y="479774"/>
                </a:cubicBezTo>
                <a:cubicBezTo>
                  <a:pt x="294989" y="479489"/>
                  <a:pt x="296513" y="479393"/>
                  <a:pt x="297847" y="478822"/>
                </a:cubicBezTo>
                <a:cubicBezTo>
                  <a:pt x="304419" y="475964"/>
                  <a:pt x="309086" y="469392"/>
                  <a:pt x="309086" y="461772"/>
                </a:cubicBezTo>
                <a:cubicBezTo>
                  <a:pt x="309086" y="461105"/>
                  <a:pt x="309086" y="460343"/>
                  <a:pt x="309086" y="459677"/>
                </a:cubicBezTo>
                <a:cubicBezTo>
                  <a:pt x="308039" y="450342"/>
                  <a:pt x="300038" y="443103"/>
                  <a:pt x="290417" y="443103"/>
                </a:cubicBezTo>
                <a:cubicBezTo>
                  <a:pt x="290036" y="443103"/>
                  <a:pt x="289560" y="443103"/>
                  <a:pt x="289179" y="443198"/>
                </a:cubicBezTo>
                <a:cubicBezTo>
                  <a:pt x="289179" y="443198"/>
                  <a:pt x="289274" y="443198"/>
                  <a:pt x="289370" y="443198"/>
                </a:cubicBezTo>
                <a:cubicBezTo>
                  <a:pt x="289370" y="443198"/>
                  <a:pt x="289084" y="443198"/>
                  <a:pt x="288608" y="443294"/>
                </a:cubicBezTo>
                <a:cubicBezTo>
                  <a:pt x="288322" y="443294"/>
                  <a:pt x="288036" y="443294"/>
                  <a:pt x="287655" y="443389"/>
                </a:cubicBezTo>
                <a:cubicBezTo>
                  <a:pt x="286798" y="443484"/>
                  <a:pt x="285560" y="443675"/>
                  <a:pt x="284131" y="443865"/>
                </a:cubicBezTo>
                <a:cubicBezTo>
                  <a:pt x="274701" y="445008"/>
                  <a:pt x="254222" y="447294"/>
                  <a:pt x="234601" y="448628"/>
                </a:cubicBezTo>
                <a:cubicBezTo>
                  <a:pt x="230315" y="448818"/>
                  <a:pt x="226219" y="449199"/>
                  <a:pt x="221837" y="449294"/>
                </a:cubicBezTo>
                <a:cubicBezTo>
                  <a:pt x="218313" y="449390"/>
                  <a:pt x="214884" y="449485"/>
                  <a:pt x="211646" y="449485"/>
                </a:cubicBezTo>
                <a:cubicBezTo>
                  <a:pt x="105251" y="449485"/>
                  <a:pt x="37338" y="416624"/>
                  <a:pt x="37338" y="393954"/>
                </a:cubicBezTo>
                <a:lnTo>
                  <a:pt x="37338" y="348044"/>
                </a:lnTo>
                <a:cubicBezTo>
                  <a:pt x="77534" y="373094"/>
                  <a:pt x="144780" y="386048"/>
                  <a:pt x="211646" y="386048"/>
                </a:cubicBezTo>
                <a:cubicBezTo>
                  <a:pt x="250412" y="386048"/>
                  <a:pt x="286322" y="382524"/>
                  <a:pt x="320040" y="373952"/>
                </a:cubicBezTo>
                <a:cubicBezTo>
                  <a:pt x="320040" y="373952"/>
                  <a:pt x="318516" y="374237"/>
                  <a:pt x="317087" y="374428"/>
                </a:cubicBezTo>
                <a:cubicBezTo>
                  <a:pt x="316421" y="374428"/>
                  <a:pt x="315849" y="374618"/>
                  <a:pt x="315468" y="374618"/>
                </a:cubicBezTo>
                <a:cubicBezTo>
                  <a:pt x="320326" y="374618"/>
                  <a:pt x="324707" y="372618"/>
                  <a:pt x="328041" y="369570"/>
                </a:cubicBezTo>
                <a:cubicBezTo>
                  <a:pt x="331089" y="366808"/>
                  <a:pt x="332899" y="362998"/>
                  <a:pt x="333565" y="358712"/>
                </a:cubicBezTo>
                <a:cubicBezTo>
                  <a:pt x="333756" y="357759"/>
                  <a:pt x="333756" y="356902"/>
                  <a:pt x="333756" y="355949"/>
                </a:cubicBezTo>
                <a:cubicBezTo>
                  <a:pt x="333756" y="345662"/>
                  <a:pt x="325755" y="337280"/>
                  <a:pt x="315468" y="337280"/>
                </a:cubicBezTo>
                <a:lnTo>
                  <a:pt x="310039" y="338233"/>
                </a:lnTo>
                <a:lnTo>
                  <a:pt x="309277" y="338233"/>
                </a:lnTo>
                <a:cubicBezTo>
                  <a:pt x="281654" y="345472"/>
                  <a:pt x="252032" y="348901"/>
                  <a:pt x="211741" y="348901"/>
                </a:cubicBezTo>
                <a:cubicBezTo>
                  <a:pt x="105347" y="348901"/>
                  <a:pt x="37433" y="316040"/>
                  <a:pt x="37433" y="293370"/>
                </a:cubicBezTo>
                <a:lnTo>
                  <a:pt x="37433" y="247745"/>
                </a:lnTo>
                <a:cubicBezTo>
                  <a:pt x="77629" y="272796"/>
                  <a:pt x="144875" y="285750"/>
                  <a:pt x="211741" y="285750"/>
                </a:cubicBezTo>
                <a:cubicBezTo>
                  <a:pt x="278606" y="285750"/>
                  <a:pt x="345948" y="272796"/>
                  <a:pt x="386048" y="247745"/>
                </a:cubicBezTo>
                <a:lnTo>
                  <a:pt x="386048" y="255175"/>
                </a:lnTo>
                <a:cubicBezTo>
                  <a:pt x="386048" y="265462"/>
                  <a:pt x="394430" y="273844"/>
                  <a:pt x="404717" y="273844"/>
                </a:cubicBezTo>
                <a:cubicBezTo>
                  <a:pt x="409765" y="273844"/>
                  <a:pt x="414338" y="271748"/>
                  <a:pt x="417766" y="268510"/>
                </a:cubicBezTo>
                <a:cubicBezTo>
                  <a:pt x="419957" y="266319"/>
                  <a:pt x="421386" y="263557"/>
                  <a:pt x="422339" y="260509"/>
                </a:cubicBezTo>
                <a:cubicBezTo>
                  <a:pt x="422815" y="259080"/>
                  <a:pt x="423196" y="257651"/>
                  <a:pt x="423196" y="256032"/>
                </a:cubicBezTo>
                <a:lnTo>
                  <a:pt x="423196" y="92678"/>
                </a:lnTo>
                <a:cubicBezTo>
                  <a:pt x="423196" y="31814"/>
                  <a:pt x="316802" y="0"/>
                  <a:pt x="211741" y="0"/>
                </a:cubicBezTo>
                <a:close/>
                <a:moveTo>
                  <a:pt x="385763" y="193262"/>
                </a:moveTo>
                <a:cubicBezTo>
                  <a:pt x="385763" y="215932"/>
                  <a:pt x="317849" y="248793"/>
                  <a:pt x="211455" y="248793"/>
                </a:cubicBezTo>
                <a:cubicBezTo>
                  <a:pt x="105061" y="248793"/>
                  <a:pt x="37148" y="215932"/>
                  <a:pt x="37148" y="193262"/>
                </a:cubicBezTo>
                <a:lnTo>
                  <a:pt x="37148" y="147352"/>
                </a:lnTo>
                <a:cubicBezTo>
                  <a:pt x="77343" y="172403"/>
                  <a:pt x="144590" y="185357"/>
                  <a:pt x="211455" y="185357"/>
                </a:cubicBezTo>
                <a:cubicBezTo>
                  <a:pt x="278321" y="185357"/>
                  <a:pt x="345662" y="172403"/>
                  <a:pt x="385763" y="147352"/>
                </a:cubicBezTo>
                <a:lnTo>
                  <a:pt x="385763" y="193262"/>
                </a:lnTo>
                <a:close/>
                <a:moveTo>
                  <a:pt x="211455" y="148114"/>
                </a:moveTo>
                <a:cubicBezTo>
                  <a:pt x="105061" y="148114"/>
                  <a:pt x="37148" y="115253"/>
                  <a:pt x="37148" y="92583"/>
                </a:cubicBezTo>
                <a:cubicBezTo>
                  <a:pt x="37148" y="69914"/>
                  <a:pt x="105061" y="37052"/>
                  <a:pt x="211455" y="37052"/>
                </a:cubicBezTo>
                <a:cubicBezTo>
                  <a:pt x="317849" y="37052"/>
                  <a:pt x="385763" y="69914"/>
                  <a:pt x="385763" y="92583"/>
                </a:cubicBezTo>
                <a:cubicBezTo>
                  <a:pt x="385763" y="115253"/>
                  <a:pt x="317849" y="148114"/>
                  <a:pt x="211455" y="148114"/>
                </a:cubicBezTo>
                <a:close/>
                <a:moveTo>
                  <a:pt x="499015" y="384239"/>
                </a:moveTo>
                <a:lnTo>
                  <a:pt x="499015" y="359759"/>
                </a:lnTo>
                <a:cubicBezTo>
                  <a:pt x="499015" y="323374"/>
                  <a:pt x="468535" y="293751"/>
                  <a:pt x="431197" y="293751"/>
                </a:cubicBezTo>
                <a:lnTo>
                  <a:pt x="421100" y="293751"/>
                </a:lnTo>
                <a:cubicBezTo>
                  <a:pt x="383477" y="293751"/>
                  <a:pt x="352901" y="323374"/>
                  <a:pt x="352901" y="359759"/>
                </a:cubicBezTo>
                <a:lnTo>
                  <a:pt x="352901" y="384239"/>
                </a:lnTo>
                <a:cubicBezTo>
                  <a:pt x="337185" y="390906"/>
                  <a:pt x="326136" y="406241"/>
                  <a:pt x="326136" y="423958"/>
                </a:cubicBezTo>
                <a:lnTo>
                  <a:pt x="326136" y="490157"/>
                </a:lnTo>
                <a:cubicBezTo>
                  <a:pt x="326136" y="514064"/>
                  <a:pt x="346043" y="533495"/>
                  <a:pt x="370618" y="533495"/>
                </a:cubicBezTo>
                <a:lnTo>
                  <a:pt x="481298" y="533495"/>
                </a:lnTo>
                <a:cubicBezTo>
                  <a:pt x="505778" y="533495"/>
                  <a:pt x="525780" y="514064"/>
                  <a:pt x="525780" y="490157"/>
                </a:cubicBezTo>
                <a:lnTo>
                  <a:pt x="525780" y="423958"/>
                </a:lnTo>
                <a:cubicBezTo>
                  <a:pt x="525780" y="406241"/>
                  <a:pt x="514731" y="390906"/>
                  <a:pt x="499015" y="384239"/>
                </a:cubicBezTo>
                <a:close/>
                <a:moveTo>
                  <a:pt x="385477" y="359759"/>
                </a:moveTo>
                <a:cubicBezTo>
                  <a:pt x="385477" y="341281"/>
                  <a:pt x="401479" y="326231"/>
                  <a:pt x="421196" y="326231"/>
                </a:cubicBezTo>
                <a:lnTo>
                  <a:pt x="431292" y="326231"/>
                </a:lnTo>
                <a:cubicBezTo>
                  <a:pt x="450818" y="326231"/>
                  <a:pt x="466630" y="341281"/>
                  <a:pt x="466630" y="359759"/>
                </a:cubicBezTo>
                <a:lnTo>
                  <a:pt x="466630" y="380619"/>
                </a:lnTo>
                <a:lnTo>
                  <a:pt x="385477" y="380619"/>
                </a:lnTo>
                <a:lnTo>
                  <a:pt x="385477" y="359759"/>
                </a:lnTo>
                <a:close/>
                <a:moveTo>
                  <a:pt x="493300" y="490157"/>
                </a:moveTo>
                <a:cubicBezTo>
                  <a:pt x="493300" y="496157"/>
                  <a:pt x="487966" y="501015"/>
                  <a:pt x="481298" y="501015"/>
                </a:cubicBezTo>
                <a:lnTo>
                  <a:pt x="370618" y="501015"/>
                </a:lnTo>
                <a:cubicBezTo>
                  <a:pt x="364046" y="501015"/>
                  <a:pt x="358616" y="496157"/>
                  <a:pt x="358616" y="490157"/>
                </a:cubicBezTo>
                <a:lnTo>
                  <a:pt x="358616" y="423958"/>
                </a:lnTo>
                <a:cubicBezTo>
                  <a:pt x="358616" y="417862"/>
                  <a:pt x="363855" y="413099"/>
                  <a:pt x="370618" y="413099"/>
                </a:cubicBezTo>
                <a:lnTo>
                  <a:pt x="481298" y="413099"/>
                </a:lnTo>
                <a:cubicBezTo>
                  <a:pt x="487966" y="413099"/>
                  <a:pt x="493300" y="417862"/>
                  <a:pt x="493300" y="423958"/>
                </a:cubicBezTo>
                <a:lnTo>
                  <a:pt x="493300" y="490157"/>
                </a:lnTo>
                <a:close/>
                <a:moveTo>
                  <a:pt x="426149" y="421005"/>
                </a:moveTo>
                <a:cubicBezTo>
                  <a:pt x="412718" y="421005"/>
                  <a:pt x="399669" y="431197"/>
                  <a:pt x="399669" y="444246"/>
                </a:cubicBezTo>
                <a:lnTo>
                  <a:pt x="399669" y="469773"/>
                </a:lnTo>
                <a:cubicBezTo>
                  <a:pt x="399669" y="482537"/>
                  <a:pt x="412909" y="493014"/>
                  <a:pt x="426149" y="493014"/>
                </a:cubicBezTo>
                <a:cubicBezTo>
                  <a:pt x="439388" y="493014"/>
                  <a:pt x="452628" y="482346"/>
                  <a:pt x="452628" y="469773"/>
                </a:cubicBezTo>
                <a:lnTo>
                  <a:pt x="452628" y="444246"/>
                </a:lnTo>
                <a:cubicBezTo>
                  <a:pt x="452628" y="431483"/>
                  <a:pt x="439388" y="421005"/>
                  <a:pt x="426149" y="421005"/>
                </a:cubicBezTo>
                <a:close/>
                <a:moveTo>
                  <a:pt x="430911" y="464534"/>
                </a:moveTo>
                <a:cubicBezTo>
                  <a:pt x="430911" y="465106"/>
                  <a:pt x="430911" y="468821"/>
                  <a:pt x="426053" y="468821"/>
                </a:cubicBezTo>
                <a:cubicBezTo>
                  <a:pt x="421196" y="468821"/>
                  <a:pt x="421196" y="465296"/>
                  <a:pt x="421196" y="464534"/>
                </a:cubicBezTo>
                <a:lnTo>
                  <a:pt x="421196" y="449485"/>
                </a:lnTo>
                <a:cubicBezTo>
                  <a:pt x="421196" y="448151"/>
                  <a:pt x="421196" y="445199"/>
                  <a:pt x="426053" y="445199"/>
                </a:cubicBezTo>
                <a:cubicBezTo>
                  <a:pt x="430911" y="445199"/>
                  <a:pt x="430911" y="448532"/>
                  <a:pt x="430911" y="449485"/>
                </a:cubicBezTo>
                <a:lnTo>
                  <a:pt x="430911" y="464534"/>
                </a:lnTo>
                <a:close/>
              </a:path>
            </a:pathLst>
          </a:custGeom>
          <a:solidFill>
            <a:srgbClr val="29B5E8"/>
          </a:solidFill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rgbClr val="26262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02" name="TextBox 9101"/>
          <p:cNvSpPr txBox="1"/>
          <p:nvPr/>
        </p:nvSpPr>
        <p:spPr>
          <a:xfrm>
            <a:off x="960120" y="1325880"/>
            <a:ext cx="19781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11567F"/>
                </a:solidFill>
                <a:latin typeface="Arial"/>
              </a:rPr>
              <a:t>Private by default</a:t>
            </a:r>
          </a:p>
        </p:txBody>
      </p:sp>
      <p:sp>
        <p:nvSpPr>
          <p:cNvPr id="9103" name="TextBox 9102"/>
          <p:cNvSpPr txBox="1"/>
          <p:nvPr/>
        </p:nvSpPr>
        <p:spPr>
          <a:xfrm>
            <a:off x="576072" y="1645920"/>
            <a:ext cx="2362200" cy="7955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 i="0">
                <a:solidFill>
                  <a:srgbClr val="5B5B5B"/>
                </a:solidFill>
                <a:latin typeface="Arial"/>
              </a:rPr>
              <a:t>Data stays in your account, and masking policies hide PII from roles that don't need it.</a:t>
            </a:r>
          </a:p>
        </p:txBody>
      </p:sp>
      <p:sp>
        <p:nvSpPr>
          <p:cNvPr id="9104" name="Rounded Rectangle 9103"/>
          <p:cNvSpPr/>
          <p:nvPr/>
        </p:nvSpPr>
        <p:spPr>
          <a:xfrm>
            <a:off x="3240024" y="1188720"/>
            <a:ext cx="2663952" cy="1344168"/>
          </a:xfrm>
          <a:prstGeom prst="roundRect">
            <a:avLst>
              <a:gd name="adj" fmla="val 8000"/>
            </a:avLst>
          </a:prstGeom>
          <a:solidFill>
            <a:srgbClr val="F4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pSp>
        <p:nvGrpSpPr>
          <p:cNvPr id="9102" name="Google Shape;4731;p101"/>
          <p:cNvGrpSpPr/>
          <p:nvPr/>
        </p:nvGrpSpPr>
        <p:grpSpPr>
          <a:xfrm>
            <a:off x="3417218" y="1280160"/>
            <a:ext cx="249115" cy="310896"/>
            <a:chOff x="1979150" y="552700"/>
            <a:chExt cx="3670075" cy="4580250"/>
          </a:xfrm>
        </p:grpSpPr>
        <p:sp>
          <p:nvSpPr>
            <p:cNvPr id="9103" name="Google Shape;4732;p101"/>
            <p:cNvSpPr/>
            <p:nvPr/>
          </p:nvSpPr>
          <p:spPr>
            <a:xfrm>
              <a:off x="3359100" y="2079425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36576" h="36576" extrusionOk="0">
                  <a:moveTo>
                    <a:pt x="18288" y="1"/>
                  </a:moveTo>
                  <a:lnTo>
                    <a:pt x="14597" y="169"/>
                  </a:lnTo>
                  <a:lnTo>
                    <a:pt x="7886" y="3021"/>
                  </a:lnTo>
                  <a:lnTo>
                    <a:pt x="3020" y="7886"/>
                  </a:lnTo>
                  <a:lnTo>
                    <a:pt x="168" y="14429"/>
                  </a:lnTo>
                  <a:lnTo>
                    <a:pt x="0" y="18288"/>
                  </a:lnTo>
                  <a:lnTo>
                    <a:pt x="168" y="21979"/>
                  </a:lnTo>
                  <a:lnTo>
                    <a:pt x="3020" y="28523"/>
                  </a:lnTo>
                  <a:lnTo>
                    <a:pt x="7886" y="33556"/>
                  </a:lnTo>
                  <a:lnTo>
                    <a:pt x="14597" y="36240"/>
                  </a:lnTo>
                  <a:lnTo>
                    <a:pt x="18288" y="36576"/>
                  </a:lnTo>
                  <a:lnTo>
                    <a:pt x="21979" y="36240"/>
                  </a:lnTo>
                  <a:lnTo>
                    <a:pt x="28522" y="33556"/>
                  </a:lnTo>
                  <a:lnTo>
                    <a:pt x="33555" y="28523"/>
                  </a:lnTo>
                  <a:lnTo>
                    <a:pt x="36240" y="21979"/>
                  </a:lnTo>
                  <a:lnTo>
                    <a:pt x="36575" y="18288"/>
                  </a:lnTo>
                  <a:lnTo>
                    <a:pt x="36240" y="14429"/>
                  </a:lnTo>
                  <a:lnTo>
                    <a:pt x="33555" y="7886"/>
                  </a:lnTo>
                  <a:lnTo>
                    <a:pt x="28522" y="3021"/>
                  </a:lnTo>
                  <a:lnTo>
                    <a:pt x="21979" y="169"/>
                  </a:lnTo>
                  <a:lnTo>
                    <a:pt x="18288" y="1"/>
                  </a:lnTo>
                  <a:close/>
                </a:path>
              </a:pathLst>
            </a:custGeom>
            <a:solidFill>
              <a:srgbClr val="28B5E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rgbClr val="252525"/>
                </a:buClr>
                <a:buSzPts val="1200"/>
                <a:buFont typeface="Arial"/>
                <a:buNone/>
              </a:pPr>
              <a:endParaRPr sz="1200">
                <a:solidFill>
                  <a:srgbClr val="252525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04" name="Google Shape;4733;p101"/>
            <p:cNvSpPr/>
            <p:nvPr/>
          </p:nvSpPr>
          <p:spPr>
            <a:xfrm>
              <a:off x="2893525" y="3308375"/>
              <a:ext cx="1832950" cy="910200"/>
            </a:xfrm>
            <a:custGeom>
              <a:avLst/>
              <a:gdLst/>
              <a:ahLst/>
              <a:cxnLst/>
              <a:rect l="l" t="t" r="r" b="b"/>
              <a:pathLst>
                <a:path w="73318" h="36408" extrusionOk="0">
                  <a:moveTo>
                    <a:pt x="36575" y="1"/>
                  </a:moveTo>
                  <a:lnTo>
                    <a:pt x="32381" y="169"/>
                  </a:lnTo>
                  <a:lnTo>
                    <a:pt x="24831" y="1511"/>
                  </a:lnTo>
                  <a:lnTo>
                    <a:pt x="18456" y="4027"/>
                  </a:lnTo>
                  <a:lnTo>
                    <a:pt x="13255" y="7551"/>
                  </a:lnTo>
                  <a:lnTo>
                    <a:pt x="8892" y="11577"/>
                  </a:lnTo>
                  <a:lnTo>
                    <a:pt x="5537" y="16107"/>
                  </a:lnTo>
                  <a:lnTo>
                    <a:pt x="1846" y="22986"/>
                  </a:lnTo>
                  <a:lnTo>
                    <a:pt x="336" y="27348"/>
                  </a:lnTo>
                  <a:lnTo>
                    <a:pt x="0" y="29193"/>
                  </a:lnTo>
                  <a:lnTo>
                    <a:pt x="839" y="32381"/>
                  </a:lnTo>
                  <a:lnTo>
                    <a:pt x="3020" y="34898"/>
                  </a:lnTo>
                  <a:lnTo>
                    <a:pt x="6208" y="36240"/>
                  </a:lnTo>
                  <a:lnTo>
                    <a:pt x="8221" y="36408"/>
                  </a:lnTo>
                  <a:lnTo>
                    <a:pt x="65265" y="36408"/>
                  </a:lnTo>
                  <a:lnTo>
                    <a:pt x="67110" y="36240"/>
                  </a:lnTo>
                  <a:lnTo>
                    <a:pt x="70298" y="34898"/>
                  </a:lnTo>
                  <a:lnTo>
                    <a:pt x="72647" y="32381"/>
                  </a:lnTo>
                  <a:lnTo>
                    <a:pt x="73318" y="29193"/>
                  </a:lnTo>
                  <a:lnTo>
                    <a:pt x="72982" y="27348"/>
                  </a:lnTo>
                  <a:lnTo>
                    <a:pt x="71640" y="22986"/>
                  </a:lnTo>
                  <a:lnTo>
                    <a:pt x="67781" y="16107"/>
                  </a:lnTo>
                  <a:lnTo>
                    <a:pt x="64426" y="11577"/>
                  </a:lnTo>
                  <a:lnTo>
                    <a:pt x="60064" y="7551"/>
                  </a:lnTo>
                  <a:lnTo>
                    <a:pt x="54695" y="4027"/>
                  </a:lnTo>
                  <a:lnTo>
                    <a:pt x="48319" y="1511"/>
                  </a:lnTo>
                  <a:lnTo>
                    <a:pt x="40769" y="169"/>
                  </a:lnTo>
                  <a:lnTo>
                    <a:pt x="36575" y="1"/>
                  </a:lnTo>
                  <a:close/>
                </a:path>
              </a:pathLst>
            </a:custGeom>
            <a:solidFill>
              <a:srgbClr val="28B5E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rgbClr val="252525"/>
                </a:buClr>
                <a:buSzPts val="1200"/>
                <a:buFont typeface="Arial"/>
                <a:buNone/>
              </a:pPr>
              <a:endParaRPr sz="1200">
                <a:solidFill>
                  <a:srgbClr val="252525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05" name="Google Shape;4734;p101"/>
            <p:cNvSpPr/>
            <p:nvPr/>
          </p:nvSpPr>
          <p:spPr>
            <a:xfrm>
              <a:off x="1979150" y="552700"/>
              <a:ext cx="3670075" cy="4580250"/>
            </a:xfrm>
            <a:custGeom>
              <a:avLst/>
              <a:gdLst/>
              <a:ahLst/>
              <a:cxnLst/>
              <a:rect l="l" t="t" r="r" b="b"/>
              <a:pathLst>
                <a:path w="146803" h="183210" extrusionOk="0">
                  <a:moveTo>
                    <a:pt x="66942" y="0"/>
                  </a:moveTo>
                  <a:lnTo>
                    <a:pt x="66942" y="24160"/>
                  </a:lnTo>
                  <a:lnTo>
                    <a:pt x="30535" y="24160"/>
                  </a:lnTo>
                  <a:lnTo>
                    <a:pt x="27516" y="24327"/>
                  </a:lnTo>
                  <a:lnTo>
                    <a:pt x="21476" y="25502"/>
                  </a:lnTo>
                  <a:lnTo>
                    <a:pt x="15939" y="27851"/>
                  </a:lnTo>
                  <a:lnTo>
                    <a:pt x="11074" y="31206"/>
                  </a:lnTo>
                  <a:lnTo>
                    <a:pt x="6879" y="35400"/>
                  </a:lnTo>
                  <a:lnTo>
                    <a:pt x="3524" y="40266"/>
                  </a:lnTo>
                  <a:lnTo>
                    <a:pt x="1175" y="45802"/>
                  </a:lnTo>
                  <a:lnTo>
                    <a:pt x="1" y="51675"/>
                  </a:lnTo>
                  <a:lnTo>
                    <a:pt x="1" y="54862"/>
                  </a:lnTo>
                  <a:lnTo>
                    <a:pt x="1" y="152507"/>
                  </a:lnTo>
                  <a:lnTo>
                    <a:pt x="1" y="155695"/>
                  </a:lnTo>
                  <a:lnTo>
                    <a:pt x="1175" y="161734"/>
                  </a:lnTo>
                  <a:lnTo>
                    <a:pt x="3524" y="167103"/>
                  </a:lnTo>
                  <a:lnTo>
                    <a:pt x="6879" y="172136"/>
                  </a:lnTo>
                  <a:lnTo>
                    <a:pt x="11074" y="176163"/>
                  </a:lnTo>
                  <a:lnTo>
                    <a:pt x="15939" y="179518"/>
                  </a:lnTo>
                  <a:lnTo>
                    <a:pt x="21476" y="181867"/>
                  </a:lnTo>
                  <a:lnTo>
                    <a:pt x="27516" y="183042"/>
                  </a:lnTo>
                  <a:lnTo>
                    <a:pt x="30535" y="183210"/>
                  </a:lnTo>
                  <a:lnTo>
                    <a:pt x="116100" y="183210"/>
                  </a:lnTo>
                  <a:lnTo>
                    <a:pt x="119120" y="183042"/>
                  </a:lnTo>
                  <a:lnTo>
                    <a:pt x="125160" y="181867"/>
                  </a:lnTo>
                  <a:lnTo>
                    <a:pt x="130697" y="179518"/>
                  </a:lnTo>
                  <a:lnTo>
                    <a:pt x="135562" y="176163"/>
                  </a:lnTo>
                  <a:lnTo>
                    <a:pt x="139756" y="172136"/>
                  </a:lnTo>
                  <a:lnTo>
                    <a:pt x="143112" y="167103"/>
                  </a:lnTo>
                  <a:lnTo>
                    <a:pt x="145461" y="161734"/>
                  </a:lnTo>
                  <a:lnTo>
                    <a:pt x="146635" y="155695"/>
                  </a:lnTo>
                  <a:lnTo>
                    <a:pt x="146803" y="152507"/>
                  </a:lnTo>
                  <a:lnTo>
                    <a:pt x="146803" y="54862"/>
                  </a:lnTo>
                  <a:lnTo>
                    <a:pt x="146635" y="51675"/>
                  </a:lnTo>
                  <a:lnTo>
                    <a:pt x="145461" y="45802"/>
                  </a:lnTo>
                  <a:lnTo>
                    <a:pt x="143112" y="40266"/>
                  </a:lnTo>
                  <a:lnTo>
                    <a:pt x="139756" y="35400"/>
                  </a:lnTo>
                  <a:lnTo>
                    <a:pt x="135562" y="31206"/>
                  </a:lnTo>
                  <a:lnTo>
                    <a:pt x="130697" y="27851"/>
                  </a:lnTo>
                  <a:lnTo>
                    <a:pt x="125160" y="25502"/>
                  </a:lnTo>
                  <a:lnTo>
                    <a:pt x="119120" y="24327"/>
                  </a:lnTo>
                  <a:lnTo>
                    <a:pt x="116100" y="24160"/>
                  </a:lnTo>
                  <a:lnTo>
                    <a:pt x="79526" y="24160"/>
                  </a:lnTo>
                  <a:lnTo>
                    <a:pt x="79526" y="0"/>
                  </a:lnTo>
                  <a:close/>
                  <a:moveTo>
                    <a:pt x="12584" y="54862"/>
                  </a:moveTo>
                  <a:lnTo>
                    <a:pt x="12751" y="51171"/>
                  </a:lnTo>
                  <a:lnTo>
                    <a:pt x="15436" y="44796"/>
                  </a:lnTo>
                  <a:lnTo>
                    <a:pt x="20469" y="39763"/>
                  </a:lnTo>
                  <a:lnTo>
                    <a:pt x="26844" y="37078"/>
                  </a:lnTo>
                  <a:lnTo>
                    <a:pt x="30535" y="36743"/>
                  </a:lnTo>
                  <a:lnTo>
                    <a:pt x="116100" y="36743"/>
                  </a:lnTo>
                  <a:lnTo>
                    <a:pt x="119791" y="37078"/>
                  </a:lnTo>
                  <a:lnTo>
                    <a:pt x="126167" y="39763"/>
                  </a:lnTo>
                  <a:lnTo>
                    <a:pt x="131200" y="44796"/>
                  </a:lnTo>
                  <a:lnTo>
                    <a:pt x="133884" y="51171"/>
                  </a:lnTo>
                  <a:lnTo>
                    <a:pt x="134220" y="54862"/>
                  </a:lnTo>
                  <a:lnTo>
                    <a:pt x="134220" y="152507"/>
                  </a:lnTo>
                  <a:lnTo>
                    <a:pt x="133884" y="156198"/>
                  </a:lnTo>
                  <a:lnTo>
                    <a:pt x="131200" y="162741"/>
                  </a:lnTo>
                  <a:lnTo>
                    <a:pt x="126167" y="167607"/>
                  </a:lnTo>
                  <a:lnTo>
                    <a:pt x="119791" y="170459"/>
                  </a:lnTo>
                  <a:lnTo>
                    <a:pt x="116100" y="170626"/>
                  </a:lnTo>
                  <a:lnTo>
                    <a:pt x="30535" y="170626"/>
                  </a:lnTo>
                  <a:lnTo>
                    <a:pt x="26844" y="170459"/>
                  </a:lnTo>
                  <a:lnTo>
                    <a:pt x="20469" y="167607"/>
                  </a:lnTo>
                  <a:lnTo>
                    <a:pt x="15436" y="162741"/>
                  </a:lnTo>
                  <a:lnTo>
                    <a:pt x="12751" y="156198"/>
                  </a:lnTo>
                  <a:lnTo>
                    <a:pt x="12584" y="152507"/>
                  </a:lnTo>
                  <a:close/>
                </a:path>
              </a:pathLst>
            </a:custGeom>
            <a:solidFill>
              <a:srgbClr val="28B5E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rgbClr val="252525"/>
                </a:buClr>
                <a:buSzPts val="1200"/>
                <a:buFont typeface="Arial"/>
                <a:buNone/>
              </a:pPr>
              <a:endParaRPr sz="1200">
                <a:solidFill>
                  <a:srgbClr val="252525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9106" name="TextBox 9105"/>
          <p:cNvSpPr txBox="1"/>
          <p:nvPr/>
        </p:nvSpPr>
        <p:spPr>
          <a:xfrm>
            <a:off x="3788664" y="1325880"/>
            <a:ext cx="19781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11567F"/>
                </a:solidFill>
                <a:latin typeface="Arial"/>
              </a:rPr>
              <a:t>Scoped by role</a:t>
            </a:r>
          </a:p>
        </p:txBody>
      </p:sp>
      <p:sp>
        <p:nvSpPr>
          <p:cNvPr id="9107" name="TextBox 9106"/>
          <p:cNvSpPr txBox="1"/>
          <p:nvPr/>
        </p:nvSpPr>
        <p:spPr>
          <a:xfrm>
            <a:off x="3404616" y="1645920"/>
            <a:ext cx="2362200" cy="7955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 i="0">
                <a:solidFill>
                  <a:srgbClr val="5B5B5B"/>
                </a:solidFill>
                <a:latin typeface="Arial"/>
              </a:rPr>
              <a:t>Row access policies: RMs see their own book, team leads their team, analysts all.</a:t>
            </a:r>
          </a:p>
        </p:txBody>
      </p:sp>
      <p:sp>
        <p:nvSpPr>
          <p:cNvPr id="9108" name="Rounded Rectangle 9107"/>
          <p:cNvSpPr/>
          <p:nvPr/>
        </p:nvSpPr>
        <p:spPr>
          <a:xfrm>
            <a:off x="6068568" y="1188720"/>
            <a:ext cx="2663952" cy="1344168"/>
          </a:xfrm>
          <a:prstGeom prst="roundRect">
            <a:avLst>
              <a:gd name="adj" fmla="val 8000"/>
            </a:avLst>
          </a:prstGeom>
          <a:solidFill>
            <a:srgbClr val="F4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pSp>
        <p:nvGrpSpPr>
          <p:cNvPr id="9106" name="Google Shape;3934;p98"/>
          <p:cNvGrpSpPr/>
          <p:nvPr/>
        </p:nvGrpSpPr>
        <p:grpSpPr>
          <a:xfrm>
            <a:off x="6214872" y="1280161"/>
            <a:ext cx="310896" cy="310894"/>
            <a:chOff x="5022860" y="260479"/>
            <a:chExt cx="523875" cy="523874"/>
          </a:xfrm>
        </p:grpSpPr>
        <p:sp>
          <p:nvSpPr>
            <p:cNvPr id="9107" name="Google Shape;3935;p98"/>
            <p:cNvSpPr/>
            <p:nvPr/>
          </p:nvSpPr>
          <p:spPr>
            <a:xfrm>
              <a:off x="5223456" y="395258"/>
              <a:ext cx="122586" cy="254317"/>
            </a:xfrm>
            <a:custGeom>
              <a:avLst/>
              <a:gdLst/>
              <a:ahLst/>
              <a:cxnLst/>
              <a:rect l="l" t="t" r="r" b="b"/>
              <a:pathLst>
                <a:path w="122586" h="254317" extrusionOk="0">
                  <a:moveTo>
                    <a:pt x="74581" y="120491"/>
                  </a:moveTo>
                  <a:lnTo>
                    <a:pt x="58769" y="112586"/>
                  </a:lnTo>
                  <a:cubicBezTo>
                    <a:pt x="30575" y="98679"/>
                    <a:pt x="23908" y="94774"/>
                    <a:pt x="23908" y="77819"/>
                  </a:cubicBezTo>
                  <a:cubicBezTo>
                    <a:pt x="23908" y="50387"/>
                    <a:pt x="52578" y="48196"/>
                    <a:pt x="61341" y="48196"/>
                  </a:cubicBezTo>
                  <a:cubicBezTo>
                    <a:pt x="70104" y="48196"/>
                    <a:pt x="98107" y="50292"/>
                    <a:pt x="98107" y="77819"/>
                  </a:cubicBezTo>
                  <a:cubicBezTo>
                    <a:pt x="98107" y="84392"/>
                    <a:pt x="103442" y="89726"/>
                    <a:pt x="110014" y="89726"/>
                  </a:cubicBezTo>
                  <a:cubicBezTo>
                    <a:pt x="116586" y="89726"/>
                    <a:pt x="121920" y="84392"/>
                    <a:pt x="121920" y="77819"/>
                  </a:cubicBezTo>
                  <a:cubicBezTo>
                    <a:pt x="121920" y="49530"/>
                    <a:pt x="102775" y="29432"/>
                    <a:pt x="73247" y="25241"/>
                  </a:cubicBezTo>
                  <a:lnTo>
                    <a:pt x="73247" y="11906"/>
                  </a:lnTo>
                  <a:cubicBezTo>
                    <a:pt x="73247" y="5334"/>
                    <a:pt x="67913" y="0"/>
                    <a:pt x="61341" y="0"/>
                  </a:cubicBezTo>
                  <a:cubicBezTo>
                    <a:pt x="54769" y="0"/>
                    <a:pt x="49435" y="5334"/>
                    <a:pt x="49435" y="11906"/>
                  </a:cubicBezTo>
                  <a:lnTo>
                    <a:pt x="49435" y="25241"/>
                  </a:lnTo>
                  <a:cubicBezTo>
                    <a:pt x="19431" y="29432"/>
                    <a:pt x="95" y="49435"/>
                    <a:pt x="95" y="77819"/>
                  </a:cubicBezTo>
                  <a:cubicBezTo>
                    <a:pt x="95" y="110204"/>
                    <a:pt x="20288" y="120110"/>
                    <a:pt x="48197" y="133922"/>
                  </a:cubicBezTo>
                  <a:lnTo>
                    <a:pt x="64008" y="141827"/>
                  </a:lnTo>
                  <a:cubicBezTo>
                    <a:pt x="92202" y="155734"/>
                    <a:pt x="98774" y="159639"/>
                    <a:pt x="98774" y="176594"/>
                  </a:cubicBezTo>
                  <a:cubicBezTo>
                    <a:pt x="98774" y="203740"/>
                    <a:pt x="70104" y="205835"/>
                    <a:pt x="61246" y="205835"/>
                  </a:cubicBezTo>
                  <a:cubicBezTo>
                    <a:pt x="52388" y="205835"/>
                    <a:pt x="23813" y="203740"/>
                    <a:pt x="23813" y="176594"/>
                  </a:cubicBezTo>
                  <a:cubicBezTo>
                    <a:pt x="23813" y="170021"/>
                    <a:pt x="18479" y="164687"/>
                    <a:pt x="11906" y="164687"/>
                  </a:cubicBezTo>
                  <a:cubicBezTo>
                    <a:pt x="5334" y="164687"/>
                    <a:pt x="0" y="170021"/>
                    <a:pt x="0" y="176594"/>
                  </a:cubicBezTo>
                  <a:cubicBezTo>
                    <a:pt x="0" y="204788"/>
                    <a:pt x="19431" y="224695"/>
                    <a:pt x="49340" y="228791"/>
                  </a:cubicBezTo>
                  <a:lnTo>
                    <a:pt x="49340" y="242411"/>
                  </a:lnTo>
                  <a:cubicBezTo>
                    <a:pt x="49340" y="248984"/>
                    <a:pt x="54674" y="254318"/>
                    <a:pt x="61246" y="254318"/>
                  </a:cubicBezTo>
                  <a:cubicBezTo>
                    <a:pt x="67818" y="254318"/>
                    <a:pt x="73152" y="248984"/>
                    <a:pt x="73152" y="242411"/>
                  </a:cubicBezTo>
                  <a:lnTo>
                    <a:pt x="73152" y="228791"/>
                  </a:lnTo>
                  <a:cubicBezTo>
                    <a:pt x="103156" y="224600"/>
                    <a:pt x="122587" y="204692"/>
                    <a:pt x="122587" y="176594"/>
                  </a:cubicBezTo>
                  <a:cubicBezTo>
                    <a:pt x="122587" y="144209"/>
                    <a:pt x="102394" y="134207"/>
                    <a:pt x="74486" y="120491"/>
                  </a:cubicBezTo>
                  <a:close/>
                </a:path>
              </a:pathLst>
            </a:custGeom>
            <a:solidFill>
              <a:srgbClr val="29B5E8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08" name="Google Shape;3936;p98"/>
            <p:cNvSpPr/>
            <p:nvPr/>
          </p:nvSpPr>
          <p:spPr>
            <a:xfrm>
              <a:off x="5097440" y="335155"/>
              <a:ext cx="374713" cy="374713"/>
            </a:xfrm>
            <a:custGeom>
              <a:avLst/>
              <a:gdLst/>
              <a:ahLst/>
              <a:cxnLst/>
              <a:rect l="l" t="t" r="r" b="b"/>
              <a:pathLst>
                <a:path w="374713" h="374713" extrusionOk="0">
                  <a:moveTo>
                    <a:pt x="187357" y="0"/>
                  </a:moveTo>
                  <a:cubicBezTo>
                    <a:pt x="84106" y="0"/>
                    <a:pt x="0" y="84011"/>
                    <a:pt x="0" y="187357"/>
                  </a:cubicBezTo>
                  <a:cubicBezTo>
                    <a:pt x="0" y="290703"/>
                    <a:pt x="84011" y="374713"/>
                    <a:pt x="187357" y="374713"/>
                  </a:cubicBezTo>
                  <a:cubicBezTo>
                    <a:pt x="290703" y="374713"/>
                    <a:pt x="374714" y="290703"/>
                    <a:pt x="374714" y="187357"/>
                  </a:cubicBezTo>
                  <a:cubicBezTo>
                    <a:pt x="374714" y="84011"/>
                    <a:pt x="290703" y="0"/>
                    <a:pt x="187357" y="0"/>
                  </a:cubicBezTo>
                  <a:close/>
                  <a:moveTo>
                    <a:pt x="187357" y="350806"/>
                  </a:moveTo>
                  <a:cubicBezTo>
                    <a:pt x="97155" y="350806"/>
                    <a:pt x="23813" y="277463"/>
                    <a:pt x="23813" y="187261"/>
                  </a:cubicBezTo>
                  <a:cubicBezTo>
                    <a:pt x="23813" y="97060"/>
                    <a:pt x="97155" y="23717"/>
                    <a:pt x="187357" y="23717"/>
                  </a:cubicBezTo>
                  <a:cubicBezTo>
                    <a:pt x="277559" y="23717"/>
                    <a:pt x="350901" y="97060"/>
                    <a:pt x="350901" y="187261"/>
                  </a:cubicBezTo>
                  <a:cubicBezTo>
                    <a:pt x="350901" y="277463"/>
                    <a:pt x="277559" y="350806"/>
                    <a:pt x="187357" y="350806"/>
                  </a:cubicBezTo>
                  <a:close/>
                </a:path>
              </a:pathLst>
            </a:custGeom>
            <a:solidFill>
              <a:srgbClr val="29B5E8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09" name="Google Shape;3937;p98"/>
            <p:cNvSpPr/>
            <p:nvPr/>
          </p:nvSpPr>
          <p:spPr>
            <a:xfrm>
              <a:off x="5022860" y="260479"/>
              <a:ext cx="523875" cy="523874"/>
            </a:xfrm>
            <a:custGeom>
              <a:avLst/>
              <a:gdLst/>
              <a:ahLst/>
              <a:cxnLst/>
              <a:rect l="l" t="t" r="r" b="b"/>
              <a:pathLst>
                <a:path w="523875" h="523874" extrusionOk="0">
                  <a:moveTo>
                    <a:pt x="261938" y="0"/>
                  </a:moveTo>
                  <a:cubicBezTo>
                    <a:pt x="117539" y="0"/>
                    <a:pt x="0" y="117539"/>
                    <a:pt x="0" y="261937"/>
                  </a:cubicBezTo>
                  <a:cubicBezTo>
                    <a:pt x="0" y="406336"/>
                    <a:pt x="117539" y="523875"/>
                    <a:pt x="261938" y="523875"/>
                  </a:cubicBezTo>
                  <a:cubicBezTo>
                    <a:pt x="406337" y="523875"/>
                    <a:pt x="523875" y="406336"/>
                    <a:pt x="523875" y="261937"/>
                  </a:cubicBezTo>
                  <a:cubicBezTo>
                    <a:pt x="523875" y="117539"/>
                    <a:pt x="406337" y="0"/>
                    <a:pt x="261938" y="0"/>
                  </a:cubicBezTo>
                  <a:close/>
                  <a:moveTo>
                    <a:pt x="261938" y="485775"/>
                  </a:moveTo>
                  <a:cubicBezTo>
                    <a:pt x="138494" y="485775"/>
                    <a:pt x="38100" y="385382"/>
                    <a:pt x="38100" y="261937"/>
                  </a:cubicBezTo>
                  <a:cubicBezTo>
                    <a:pt x="38100" y="138493"/>
                    <a:pt x="138494" y="38100"/>
                    <a:pt x="261938" y="38100"/>
                  </a:cubicBezTo>
                  <a:cubicBezTo>
                    <a:pt x="385382" y="38100"/>
                    <a:pt x="485775" y="138493"/>
                    <a:pt x="485775" y="261937"/>
                  </a:cubicBezTo>
                  <a:cubicBezTo>
                    <a:pt x="485775" y="385382"/>
                    <a:pt x="385382" y="485775"/>
                    <a:pt x="261938" y="485775"/>
                  </a:cubicBezTo>
                  <a:close/>
                </a:path>
              </a:pathLst>
            </a:custGeom>
            <a:solidFill>
              <a:srgbClr val="29B5E8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9110" name="TextBox 9109"/>
          <p:cNvSpPr txBox="1"/>
          <p:nvPr/>
        </p:nvSpPr>
        <p:spPr>
          <a:xfrm>
            <a:off x="6617208" y="1325880"/>
            <a:ext cx="19781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11567F"/>
                </a:solidFill>
                <a:latin typeface="Arial"/>
              </a:rPr>
              <a:t>Spending limits</a:t>
            </a:r>
          </a:p>
        </p:txBody>
      </p:sp>
      <p:sp>
        <p:nvSpPr>
          <p:cNvPr id="9111" name="TextBox 9110"/>
          <p:cNvSpPr txBox="1"/>
          <p:nvPr/>
        </p:nvSpPr>
        <p:spPr>
          <a:xfrm>
            <a:off x="6233160" y="1645920"/>
            <a:ext cx="2362200" cy="7955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 i="0">
                <a:solidFill>
                  <a:srgbClr val="5B5B5B"/>
                </a:solidFill>
                <a:latin typeface="Arial"/>
              </a:rPr>
              <a:t>Offers above a role's limit wait for someone with the authority.</a:t>
            </a:r>
          </a:p>
        </p:txBody>
      </p:sp>
      <p:sp>
        <p:nvSpPr>
          <p:cNvPr id="9112" name="Rounded Rectangle 9111"/>
          <p:cNvSpPr/>
          <p:nvPr/>
        </p:nvSpPr>
        <p:spPr>
          <a:xfrm>
            <a:off x="411480" y="2670048"/>
            <a:ext cx="2663952" cy="1344168"/>
          </a:xfrm>
          <a:prstGeom prst="roundRect">
            <a:avLst>
              <a:gd name="adj" fmla="val 8000"/>
            </a:avLst>
          </a:prstGeom>
          <a:solidFill>
            <a:srgbClr val="F4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10" name="Google Shape;4157;p99"/>
          <p:cNvSpPr/>
          <p:nvPr/>
        </p:nvSpPr>
        <p:spPr>
          <a:xfrm>
            <a:off x="615505" y="2761488"/>
            <a:ext cx="195454" cy="310896"/>
          </a:xfrm>
          <a:custGeom>
            <a:avLst/>
            <a:gdLst/>
            <a:ahLst/>
            <a:cxnLst/>
            <a:rect l="l" t="t" r="r" b="b"/>
            <a:pathLst>
              <a:path w="335279" h="533304" extrusionOk="0">
                <a:moveTo>
                  <a:pt x="335280" y="292608"/>
                </a:moveTo>
                <a:cubicBezTo>
                  <a:pt x="335280" y="269843"/>
                  <a:pt x="324136" y="249841"/>
                  <a:pt x="307181" y="237172"/>
                </a:cubicBezTo>
                <a:lnTo>
                  <a:pt x="307181" y="68675"/>
                </a:lnTo>
                <a:cubicBezTo>
                  <a:pt x="307181" y="45530"/>
                  <a:pt x="291751" y="25146"/>
                  <a:pt x="270605" y="20003"/>
                </a:cubicBezTo>
                <a:cubicBezTo>
                  <a:pt x="256985" y="16764"/>
                  <a:pt x="243173" y="19526"/>
                  <a:pt x="231934" y="27146"/>
                </a:cubicBezTo>
                <a:cubicBezTo>
                  <a:pt x="224028" y="11144"/>
                  <a:pt x="207740" y="0"/>
                  <a:pt x="188690" y="0"/>
                </a:cubicBezTo>
                <a:cubicBezTo>
                  <a:pt x="169640" y="0"/>
                  <a:pt x="153543" y="11049"/>
                  <a:pt x="145542" y="26956"/>
                </a:cubicBezTo>
                <a:cubicBezTo>
                  <a:pt x="137827" y="21717"/>
                  <a:pt x="128492" y="18574"/>
                  <a:pt x="118491" y="18574"/>
                </a:cubicBezTo>
                <a:cubicBezTo>
                  <a:pt x="91821" y="18574"/>
                  <a:pt x="70199" y="40195"/>
                  <a:pt x="70199" y="66866"/>
                </a:cubicBezTo>
                <a:lnTo>
                  <a:pt x="70199" y="171450"/>
                </a:lnTo>
                <a:cubicBezTo>
                  <a:pt x="63627" y="168021"/>
                  <a:pt x="56197" y="165926"/>
                  <a:pt x="48292" y="165926"/>
                </a:cubicBezTo>
                <a:cubicBezTo>
                  <a:pt x="21622" y="165926"/>
                  <a:pt x="0" y="187547"/>
                  <a:pt x="0" y="214217"/>
                </a:cubicBezTo>
                <a:lnTo>
                  <a:pt x="0" y="380048"/>
                </a:lnTo>
                <a:cubicBezTo>
                  <a:pt x="0" y="404432"/>
                  <a:pt x="5334" y="427863"/>
                  <a:pt x="15621" y="449771"/>
                </a:cubicBezTo>
                <a:lnTo>
                  <a:pt x="15621" y="520065"/>
                </a:lnTo>
                <a:cubicBezTo>
                  <a:pt x="15621" y="527399"/>
                  <a:pt x="21527" y="533305"/>
                  <a:pt x="28861" y="533305"/>
                </a:cubicBezTo>
                <a:lnTo>
                  <a:pt x="306800" y="533305"/>
                </a:lnTo>
                <a:cubicBezTo>
                  <a:pt x="314135" y="533305"/>
                  <a:pt x="320040" y="527399"/>
                  <a:pt x="320040" y="520065"/>
                </a:cubicBezTo>
                <a:lnTo>
                  <a:pt x="320040" y="448151"/>
                </a:lnTo>
                <a:cubicBezTo>
                  <a:pt x="320040" y="448151"/>
                  <a:pt x="319850" y="447294"/>
                  <a:pt x="319754" y="446913"/>
                </a:cubicBezTo>
                <a:cubicBezTo>
                  <a:pt x="329756" y="424815"/>
                  <a:pt x="335280" y="400717"/>
                  <a:pt x="335280" y="376428"/>
                </a:cubicBezTo>
                <a:lnTo>
                  <a:pt x="335280" y="292513"/>
                </a:lnTo>
                <a:close/>
                <a:moveTo>
                  <a:pt x="245364" y="49720"/>
                </a:moveTo>
                <a:cubicBezTo>
                  <a:pt x="250793" y="45434"/>
                  <a:pt x="257556" y="44006"/>
                  <a:pt x="264509" y="45720"/>
                </a:cubicBezTo>
                <a:cubicBezTo>
                  <a:pt x="273939" y="48006"/>
                  <a:pt x="280797" y="57626"/>
                  <a:pt x="280797" y="68675"/>
                </a:cubicBezTo>
                <a:lnTo>
                  <a:pt x="280797" y="224981"/>
                </a:lnTo>
                <a:cubicBezTo>
                  <a:pt x="276035" y="223933"/>
                  <a:pt x="271082" y="223266"/>
                  <a:pt x="265938" y="223266"/>
                </a:cubicBezTo>
                <a:lnTo>
                  <a:pt x="237077" y="223266"/>
                </a:lnTo>
                <a:lnTo>
                  <a:pt x="237077" y="66961"/>
                </a:lnTo>
                <a:cubicBezTo>
                  <a:pt x="237077" y="60198"/>
                  <a:pt x="240125" y="53912"/>
                  <a:pt x="245459" y="49816"/>
                </a:cubicBezTo>
                <a:close/>
                <a:moveTo>
                  <a:pt x="166783" y="48292"/>
                </a:moveTo>
                <a:cubicBezTo>
                  <a:pt x="166783" y="36195"/>
                  <a:pt x="176593" y="26384"/>
                  <a:pt x="188690" y="26384"/>
                </a:cubicBezTo>
                <a:cubicBezTo>
                  <a:pt x="200787" y="26384"/>
                  <a:pt x="210598" y="36195"/>
                  <a:pt x="210598" y="48292"/>
                </a:cubicBezTo>
                <a:lnTo>
                  <a:pt x="210598" y="223171"/>
                </a:lnTo>
                <a:lnTo>
                  <a:pt x="166878" y="223171"/>
                </a:lnTo>
                <a:lnTo>
                  <a:pt x="166878" y="48292"/>
                </a:lnTo>
                <a:close/>
                <a:moveTo>
                  <a:pt x="96584" y="66961"/>
                </a:moveTo>
                <a:cubicBezTo>
                  <a:pt x="96584" y="54864"/>
                  <a:pt x="106394" y="45053"/>
                  <a:pt x="118491" y="45053"/>
                </a:cubicBezTo>
                <a:cubicBezTo>
                  <a:pt x="130588" y="45053"/>
                  <a:pt x="140399" y="54864"/>
                  <a:pt x="140399" y="66961"/>
                </a:cubicBezTo>
                <a:lnTo>
                  <a:pt x="140399" y="223266"/>
                </a:lnTo>
                <a:lnTo>
                  <a:pt x="139541" y="223266"/>
                </a:lnTo>
                <a:cubicBezTo>
                  <a:pt x="132207" y="223266"/>
                  <a:pt x="126302" y="229172"/>
                  <a:pt x="126302" y="236506"/>
                </a:cubicBezTo>
                <a:lnTo>
                  <a:pt x="126302" y="251460"/>
                </a:lnTo>
                <a:cubicBezTo>
                  <a:pt x="126302" y="281464"/>
                  <a:pt x="150686" y="305848"/>
                  <a:pt x="180689" y="305848"/>
                </a:cubicBezTo>
                <a:lnTo>
                  <a:pt x="224504" y="305848"/>
                </a:lnTo>
                <a:lnTo>
                  <a:pt x="224504" y="321754"/>
                </a:lnTo>
                <a:lnTo>
                  <a:pt x="181547" y="321754"/>
                </a:lnTo>
                <a:cubicBezTo>
                  <a:pt x="142113" y="321754"/>
                  <a:pt x="107728" y="349758"/>
                  <a:pt x="99822" y="388334"/>
                </a:cubicBezTo>
                <a:cubicBezTo>
                  <a:pt x="98393" y="395478"/>
                  <a:pt x="102965" y="402431"/>
                  <a:pt x="110109" y="403955"/>
                </a:cubicBezTo>
                <a:cubicBezTo>
                  <a:pt x="117062" y="405384"/>
                  <a:pt x="124206" y="400812"/>
                  <a:pt x="125730" y="393668"/>
                </a:cubicBezTo>
                <a:cubicBezTo>
                  <a:pt x="131159" y="367284"/>
                  <a:pt x="154591" y="348234"/>
                  <a:pt x="181547" y="348234"/>
                </a:cubicBezTo>
                <a:lnTo>
                  <a:pt x="237649" y="348234"/>
                </a:lnTo>
                <a:cubicBezTo>
                  <a:pt x="244983" y="348234"/>
                  <a:pt x="250889" y="342328"/>
                  <a:pt x="250889" y="334994"/>
                </a:cubicBezTo>
                <a:lnTo>
                  <a:pt x="250889" y="292703"/>
                </a:lnTo>
                <a:cubicBezTo>
                  <a:pt x="250889" y="285369"/>
                  <a:pt x="244983" y="279464"/>
                  <a:pt x="237649" y="279464"/>
                </a:cubicBezTo>
                <a:lnTo>
                  <a:pt x="180594" y="279464"/>
                </a:lnTo>
                <a:cubicBezTo>
                  <a:pt x="165164" y="279464"/>
                  <a:pt x="152591" y="266891"/>
                  <a:pt x="152591" y="251460"/>
                </a:cubicBezTo>
                <a:lnTo>
                  <a:pt x="152591" y="249746"/>
                </a:lnTo>
                <a:lnTo>
                  <a:pt x="265748" y="249746"/>
                </a:lnTo>
                <a:cubicBezTo>
                  <a:pt x="289465" y="249746"/>
                  <a:pt x="308705" y="268986"/>
                  <a:pt x="308705" y="292703"/>
                </a:cubicBezTo>
                <a:lnTo>
                  <a:pt x="308705" y="376619"/>
                </a:lnTo>
                <a:cubicBezTo>
                  <a:pt x="308705" y="396812"/>
                  <a:pt x="304229" y="416719"/>
                  <a:pt x="296037" y="435197"/>
                </a:cubicBezTo>
                <a:lnTo>
                  <a:pt x="37814" y="435197"/>
                </a:lnTo>
                <a:cubicBezTo>
                  <a:pt x="30290" y="417862"/>
                  <a:pt x="26289" y="399478"/>
                  <a:pt x="26289" y="380333"/>
                </a:cubicBezTo>
                <a:lnTo>
                  <a:pt x="26289" y="316897"/>
                </a:lnTo>
                <a:cubicBezTo>
                  <a:pt x="32861" y="320326"/>
                  <a:pt x="40291" y="322421"/>
                  <a:pt x="48196" y="322421"/>
                </a:cubicBezTo>
                <a:cubicBezTo>
                  <a:pt x="74867" y="322421"/>
                  <a:pt x="96488" y="300800"/>
                  <a:pt x="96488" y="274129"/>
                </a:cubicBezTo>
                <a:lnTo>
                  <a:pt x="96488" y="66961"/>
                </a:lnTo>
                <a:close/>
                <a:moveTo>
                  <a:pt x="26480" y="214313"/>
                </a:moveTo>
                <a:cubicBezTo>
                  <a:pt x="26480" y="202216"/>
                  <a:pt x="36290" y="192405"/>
                  <a:pt x="48387" y="192405"/>
                </a:cubicBezTo>
                <a:cubicBezTo>
                  <a:pt x="60484" y="192405"/>
                  <a:pt x="70295" y="202216"/>
                  <a:pt x="70295" y="214313"/>
                </a:cubicBezTo>
                <a:lnTo>
                  <a:pt x="70295" y="273844"/>
                </a:lnTo>
                <a:cubicBezTo>
                  <a:pt x="70295" y="285941"/>
                  <a:pt x="60484" y="295751"/>
                  <a:pt x="48387" y="295751"/>
                </a:cubicBezTo>
                <a:cubicBezTo>
                  <a:pt x="36290" y="295751"/>
                  <a:pt x="26480" y="285941"/>
                  <a:pt x="26480" y="273844"/>
                </a:cubicBezTo>
                <a:lnTo>
                  <a:pt x="26480" y="214313"/>
                </a:lnTo>
                <a:close/>
                <a:moveTo>
                  <a:pt x="293561" y="507016"/>
                </a:moveTo>
                <a:lnTo>
                  <a:pt x="42005" y="507016"/>
                </a:lnTo>
                <a:lnTo>
                  <a:pt x="42005" y="461486"/>
                </a:lnTo>
                <a:lnTo>
                  <a:pt x="293561" y="461486"/>
                </a:lnTo>
                <a:lnTo>
                  <a:pt x="293561" y="507016"/>
                </a:lnTo>
                <a:close/>
              </a:path>
            </a:pathLst>
          </a:custGeom>
          <a:solidFill>
            <a:srgbClr val="29B5E8"/>
          </a:solidFill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rgbClr val="26262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13" name="TextBox 9112"/>
          <p:cNvSpPr txBox="1"/>
          <p:nvPr/>
        </p:nvSpPr>
        <p:spPr>
          <a:xfrm>
            <a:off x="960120" y="2807208"/>
            <a:ext cx="19781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11567F"/>
                </a:solidFill>
                <a:latin typeface="Arial"/>
              </a:rPr>
              <a:t>Signals with evidence</a:t>
            </a:r>
          </a:p>
        </p:txBody>
      </p:sp>
      <p:sp>
        <p:nvSpPr>
          <p:cNvPr id="9114" name="TextBox 9113"/>
          <p:cNvSpPr txBox="1"/>
          <p:nvPr/>
        </p:nvSpPr>
        <p:spPr>
          <a:xfrm>
            <a:off x="576072" y="3127248"/>
            <a:ext cx="2362200" cy="7955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 i="0">
                <a:solidFill>
                  <a:srgbClr val="5B5B5B"/>
                </a:solidFill>
                <a:latin typeface="Arial"/>
              </a:rPr>
              <a:t>Each signal keeps the quote and confidence behind it.</a:t>
            </a:r>
          </a:p>
        </p:txBody>
      </p:sp>
      <p:sp>
        <p:nvSpPr>
          <p:cNvPr id="9115" name="Rounded Rectangle 9114"/>
          <p:cNvSpPr/>
          <p:nvPr/>
        </p:nvSpPr>
        <p:spPr>
          <a:xfrm>
            <a:off x="3240024" y="2670048"/>
            <a:ext cx="2663952" cy="1344168"/>
          </a:xfrm>
          <a:prstGeom prst="roundRect">
            <a:avLst>
              <a:gd name="adj" fmla="val 8000"/>
            </a:avLst>
          </a:prstGeom>
          <a:solidFill>
            <a:srgbClr val="F4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pSp>
        <p:nvGrpSpPr>
          <p:cNvPr id="9111" name="Google Shape;3563;p97"/>
          <p:cNvGrpSpPr/>
          <p:nvPr/>
        </p:nvGrpSpPr>
        <p:grpSpPr>
          <a:xfrm>
            <a:off x="3395408" y="2761488"/>
            <a:ext cx="292735" cy="310896"/>
            <a:chOff x="3003264" y="4386204"/>
            <a:chExt cx="493776" cy="524409"/>
          </a:xfrm>
        </p:grpSpPr>
        <p:sp>
          <p:nvSpPr>
            <p:cNvPr id="9112" name="Google Shape;3564;p97"/>
            <p:cNvSpPr/>
            <p:nvPr/>
          </p:nvSpPr>
          <p:spPr>
            <a:xfrm>
              <a:off x="3062470" y="4532068"/>
              <a:ext cx="434570" cy="378545"/>
            </a:xfrm>
            <a:custGeom>
              <a:avLst/>
              <a:gdLst/>
              <a:ahLst/>
              <a:cxnLst/>
              <a:rect l="l" t="t" r="r" b="b"/>
              <a:pathLst>
                <a:path w="434570" h="378545" extrusionOk="0">
                  <a:moveTo>
                    <a:pt x="410948" y="10880"/>
                  </a:moveTo>
                  <a:cubicBezTo>
                    <a:pt x="406471" y="1355"/>
                    <a:pt x="395041" y="-2645"/>
                    <a:pt x="385612" y="1832"/>
                  </a:cubicBezTo>
                  <a:cubicBezTo>
                    <a:pt x="376087" y="6308"/>
                    <a:pt x="372086" y="17738"/>
                    <a:pt x="376563" y="27168"/>
                  </a:cubicBezTo>
                  <a:cubicBezTo>
                    <a:pt x="389803" y="54981"/>
                    <a:pt x="396470" y="84794"/>
                    <a:pt x="396470" y="115846"/>
                  </a:cubicBezTo>
                  <a:cubicBezTo>
                    <a:pt x="396470" y="230051"/>
                    <a:pt x="303601" y="322919"/>
                    <a:pt x="189397" y="322919"/>
                  </a:cubicBezTo>
                  <a:cubicBezTo>
                    <a:pt x="143867" y="322919"/>
                    <a:pt x="100433" y="308060"/>
                    <a:pt x="64714" y="280914"/>
                  </a:cubicBezTo>
                  <a:lnTo>
                    <a:pt x="122341" y="264341"/>
                  </a:lnTo>
                  <a:cubicBezTo>
                    <a:pt x="132437" y="261388"/>
                    <a:pt x="138247" y="250910"/>
                    <a:pt x="135390" y="240719"/>
                  </a:cubicBezTo>
                  <a:cubicBezTo>
                    <a:pt x="132437" y="230622"/>
                    <a:pt x="121864" y="224812"/>
                    <a:pt x="111768" y="227669"/>
                  </a:cubicBezTo>
                  <a:lnTo>
                    <a:pt x="24424" y="252815"/>
                  </a:lnTo>
                  <a:cubicBezTo>
                    <a:pt x="17089" y="254911"/>
                    <a:pt x="11755" y="261197"/>
                    <a:pt x="10803" y="268817"/>
                  </a:cubicBezTo>
                  <a:lnTo>
                    <a:pt x="135" y="357209"/>
                  </a:lnTo>
                  <a:cubicBezTo>
                    <a:pt x="-1103" y="367687"/>
                    <a:pt x="6326" y="377117"/>
                    <a:pt x="16708" y="378450"/>
                  </a:cubicBezTo>
                  <a:cubicBezTo>
                    <a:pt x="17470" y="378545"/>
                    <a:pt x="18232" y="378545"/>
                    <a:pt x="18994" y="378545"/>
                  </a:cubicBezTo>
                  <a:cubicBezTo>
                    <a:pt x="28519" y="378545"/>
                    <a:pt x="36711" y="371497"/>
                    <a:pt x="37854" y="361781"/>
                  </a:cubicBezTo>
                  <a:lnTo>
                    <a:pt x="43759" y="312918"/>
                  </a:lnTo>
                  <a:cubicBezTo>
                    <a:pt x="85669" y="343970"/>
                    <a:pt x="136342" y="360829"/>
                    <a:pt x="189397" y="360829"/>
                  </a:cubicBezTo>
                  <a:cubicBezTo>
                    <a:pt x="324652" y="360829"/>
                    <a:pt x="434570" y="250815"/>
                    <a:pt x="434570" y="115655"/>
                  </a:cubicBezTo>
                  <a:cubicBezTo>
                    <a:pt x="434570" y="78889"/>
                    <a:pt x="426664" y="43551"/>
                    <a:pt x="411043" y="10690"/>
                  </a:cubicBezTo>
                  <a:close/>
                </a:path>
              </a:pathLst>
            </a:custGeom>
            <a:solidFill>
              <a:srgbClr val="29B5E8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13" name="Google Shape;3565;p97"/>
            <p:cNvSpPr/>
            <p:nvPr/>
          </p:nvSpPr>
          <p:spPr>
            <a:xfrm>
              <a:off x="3003264" y="4386204"/>
              <a:ext cx="434665" cy="378676"/>
            </a:xfrm>
            <a:custGeom>
              <a:avLst/>
              <a:gdLst/>
              <a:ahLst/>
              <a:cxnLst/>
              <a:rect l="l" t="t" r="r" b="b"/>
              <a:pathLst>
                <a:path w="434665" h="378676" extrusionOk="0">
                  <a:moveTo>
                    <a:pt x="58103" y="351435"/>
                  </a:moveTo>
                  <a:cubicBezTo>
                    <a:pt x="44863" y="323622"/>
                    <a:pt x="38195" y="293809"/>
                    <a:pt x="38195" y="262758"/>
                  </a:cubicBezTo>
                  <a:cubicBezTo>
                    <a:pt x="38195" y="148553"/>
                    <a:pt x="131064" y="55684"/>
                    <a:pt x="245269" y="55684"/>
                  </a:cubicBezTo>
                  <a:cubicBezTo>
                    <a:pt x="290798" y="55684"/>
                    <a:pt x="334232" y="70543"/>
                    <a:pt x="369951" y="97689"/>
                  </a:cubicBezTo>
                  <a:lnTo>
                    <a:pt x="312325" y="114263"/>
                  </a:lnTo>
                  <a:cubicBezTo>
                    <a:pt x="302228" y="117215"/>
                    <a:pt x="296418" y="127693"/>
                    <a:pt x="299276" y="137885"/>
                  </a:cubicBezTo>
                  <a:cubicBezTo>
                    <a:pt x="301657" y="146267"/>
                    <a:pt x="309277" y="151696"/>
                    <a:pt x="317564" y="151696"/>
                  </a:cubicBezTo>
                  <a:cubicBezTo>
                    <a:pt x="319278" y="151696"/>
                    <a:pt x="321088" y="151410"/>
                    <a:pt x="322898" y="150934"/>
                  </a:cubicBezTo>
                  <a:lnTo>
                    <a:pt x="410242" y="125788"/>
                  </a:lnTo>
                  <a:cubicBezTo>
                    <a:pt x="417576" y="123692"/>
                    <a:pt x="422910" y="117406"/>
                    <a:pt x="423863" y="109786"/>
                  </a:cubicBezTo>
                  <a:lnTo>
                    <a:pt x="434531" y="21394"/>
                  </a:lnTo>
                  <a:cubicBezTo>
                    <a:pt x="435769" y="10916"/>
                    <a:pt x="428339" y="1487"/>
                    <a:pt x="417957" y="153"/>
                  </a:cubicBezTo>
                  <a:cubicBezTo>
                    <a:pt x="407384" y="-1180"/>
                    <a:pt x="398050" y="6344"/>
                    <a:pt x="396716" y="16727"/>
                  </a:cubicBezTo>
                  <a:lnTo>
                    <a:pt x="390811" y="65590"/>
                  </a:lnTo>
                  <a:cubicBezTo>
                    <a:pt x="348901" y="34538"/>
                    <a:pt x="298228" y="17679"/>
                    <a:pt x="245174" y="17679"/>
                  </a:cubicBezTo>
                  <a:cubicBezTo>
                    <a:pt x="109919" y="17679"/>
                    <a:pt x="0" y="127693"/>
                    <a:pt x="0" y="262853"/>
                  </a:cubicBezTo>
                  <a:cubicBezTo>
                    <a:pt x="0" y="299619"/>
                    <a:pt x="7906" y="334862"/>
                    <a:pt x="23527" y="367818"/>
                  </a:cubicBezTo>
                  <a:cubicBezTo>
                    <a:pt x="26765" y="374676"/>
                    <a:pt x="33623" y="378677"/>
                    <a:pt x="40767" y="378677"/>
                  </a:cubicBezTo>
                  <a:cubicBezTo>
                    <a:pt x="43529" y="378677"/>
                    <a:pt x="46292" y="378105"/>
                    <a:pt x="48959" y="376867"/>
                  </a:cubicBezTo>
                  <a:cubicBezTo>
                    <a:pt x="58484" y="372390"/>
                    <a:pt x="62484" y="360960"/>
                    <a:pt x="58007" y="351530"/>
                  </a:cubicBezTo>
                  <a:close/>
                </a:path>
              </a:pathLst>
            </a:custGeom>
            <a:solidFill>
              <a:srgbClr val="29B5E8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9116" name="TextBox 9115"/>
          <p:cNvSpPr txBox="1"/>
          <p:nvPr/>
        </p:nvSpPr>
        <p:spPr>
          <a:xfrm>
            <a:off x="3788664" y="2807208"/>
            <a:ext cx="19781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11567F"/>
                </a:solidFill>
                <a:latin typeface="Arial"/>
              </a:rPr>
              <a:t>Repeatable decisions</a:t>
            </a:r>
          </a:p>
        </p:txBody>
      </p:sp>
      <p:sp>
        <p:nvSpPr>
          <p:cNvPr id="9117" name="TextBox 9116"/>
          <p:cNvSpPr txBox="1"/>
          <p:nvPr/>
        </p:nvSpPr>
        <p:spPr>
          <a:xfrm>
            <a:off x="3404616" y="3127248"/>
            <a:ext cx="2362200" cy="7955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 i="0">
                <a:solidFill>
                  <a:srgbClr val="5B5B5B"/>
                </a:solidFill>
                <a:latin typeface="Arial"/>
              </a:rPr>
              <a:t>Same input, same answer. AI reads, rules decide.</a:t>
            </a:r>
          </a:p>
        </p:txBody>
      </p:sp>
      <p:sp>
        <p:nvSpPr>
          <p:cNvPr id="9118" name="Rounded Rectangle 9117"/>
          <p:cNvSpPr/>
          <p:nvPr/>
        </p:nvSpPr>
        <p:spPr>
          <a:xfrm>
            <a:off x="6068568" y="2670048"/>
            <a:ext cx="2663952" cy="1344168"/>
          </a:xfrm>
          <a:prstGeom prst="roundRect">
            <a:avLst>
              <a:gd name="adj" fmla="val 8000"/>
            </a:avLst>
          </a:prstGeom>
          <a:solidFill>
            <a:srgbClr val="F4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pSp>
        <p:nvGrpSpPr>
          <p:cNvPr id="9114" name="Google Shape;4257;p99"/>
          <p:cNvGrpSpPr/>
          <p:nvPr/>
        </p:nvGrpSpPr>
        <p:grpSpPr>
          <a:xfrm>
            <a:off x="6214872" y="2781396"/>
            <a:ext cx="310896" cy="271080"/>
            <a:chOff x="8256349" y="4915107"/>
            <a:chExt cx="528066" cy="460438"/>
          </a:xfrm>
        </p:grpSpPr>
        <p:sp>
          <p:nvSpPr>
            <p:cNvPr id="9115" name="Google Shape;4258;p99"/>
            <p:cNvSpPr/>
            <p:nvPr/>
          </p:nvSpPr>
          <p:spPr>
            <a:xfrm>
              <a:off x="8512952" y="4915107"/>
              <a:ext cx="14287" cy="65722"/>
            </a:xfrm>
            <a:custGeom>
              <a:avLst/>
              <a:gdLst/>
              <a:ahLst/>
              <a:cxnLst/>
              <a:rect l="l" t="t" r="r" b="b"/>
              <a:pathLst>
                <a:path w="14287" h="65722" extrusionOk="0">
                  <a:moveTo>
                    <a:pt x="7144" y="65723"/>
                  </a:moveTo>
                  <a:cubicBezTo>
                    <a:pt x="11049" y="65723"/>
                    <a:pt x="14288" y="62484"/>
                    <a:pt x="14288" y="58579"/>
                  </a:cubicBezTo>
                  <a:lnTo>
                    <a:pt x="14288" y="7144"/>
                  </a:lnTo>
                  <a:cubicBezTo>
                    <a:pt x="14288" y="3239"/>
                    <a:pt x="11049" y="0"/>
                    <a:pt x="7144" y="0"/>
                  </a:cubicBezTo>
                  <a:cubicBezTo>
                    <a:pt x="3239" y="0"/>
                    <a:pt x="0" y="3239"/>
                    <a:pt x="0" y="7144"/>
                  </a:cubicBezTo>
                  <a:lnTo>
                    <a:pt x="0" y="58579"/>
                  </a:lnTo>
                  <a:cubicBezTo>
                    <a:pt x="0" y="62484"/>
                    <a:pt x="3239" y="65723"/>
                    <a:pt x="7144" y="65723"/>
                  </a:cubicBezTo>
                  <a:close/>
                </a:path>
              </a:pathLst>
            </a:custGeom>
            <a:solidFill>
              <a:srgbClr val="29B5E8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16" name="Google Shape;4259;p99"/>
            <p:cNvSpPr/>
            <p:nvPr/>
          </p:nvSpPr>
          <p:spPr>
            <a:xfrm>
              <a:off x="8454437" y="4929744"/>
              <a:ext cx="39973" cy="58705"/>
            </a:xfrm>
            <a:custGeom>
              <a:avLst/>
              <a:gdLst/>
              <a:ahLst/>
              <a:cxnLst/>
              <a:rect l="l" t="t" r="r" b="b"/>
              <a:pathLst>
                <a:path w="39973" h="58705" extrusionOk="0">
                  <a:moveTo>
                    <a:pt x="26702" y="55086"/>
                  </a:moveTo>
                  <a:cubicBezTo>
                    <a:pt x="28035" y="57372"/>
                    <a:pt x="30417" y="58706"/>
                    <a:pt x="32893" y="58706"/>
                  </a:cubicBezTo>
                  <a:cubicBezTo>
                    <a:pt x="34131" y="58706"/>
                    <a:pt x="35369" y="58420"/>
                    <a:pt x="36417" y="57753"/>
                  </a:cubicBezTo>
                  <a:cubicBezTo>
                    <a:pt x="39846" y="55753"/>
                    <a:pt x="40989" y="51372"/>
                    <a:pt x="38989" y="48038"/>
                  </a:cubicBezTo>
                  <a:lnTo>
                    <a:pt x="13271" y="3556"/>
                  </a:lnTo>
                  <a:cubicBezTo>
                    <a:pt x="11271" y="127"/>
                    <a:pt x="6890" y="-1016"/>
                    <a:pt x="3556" y="984"/>
                  </a:cubicBezTo>
                  <a:cubicBezTo>
                    <a:pt x="127" y="2985"/>
                    <a:pt x="-1016" y="7366"/>
                    <a:pt x="984" y="10700"/>
                  </a:cubicBezTo>
                  <a:lnTo>
                    <a:pt x="26702" y="55181"/>
                  </a:lnTo>
                  <a:close/>
                </a:path>
              </a:pathLst>
            </a:custGeom>
            <a:solidFill>
              <a:srgbClr val="29B5E8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17" name="Google Shape;4260;p99"/>
            <p:cNvSpPr/>
            <p:nvPr/>
          </p:nvSpPr>
          <p:spPr>
            <a:xfrm>
              <a:off x="8409542" y="4971770"/>
              <a:ext cx="58653" cy="40015"/>
            </a:xfrm>
            <a:custGeom>
              <a:avLst/>
              <a:gdLst/>
              <a:ahLst/>
              <a:cxnLst/>
              <a:rect l="l" t="t" r="r" b="b"/>
              <a:pathLst>
                <a:path w="58653" h="40015" extrusionOk="0">
                  <a:moveTo>
                    <a:pt x="3493" y="13346"/>
                  </a:moveTo>
                  <a:lnTo>
                    <a:pt x="47975" y="39063"/>
                  </a:lnTo>
                  <a:cubicBezTo>
                    <a:pt x="49118" y="39730"/>
                    <a:pt x="50356" y="40016"/>
                    <a:pt x="51499" y="40016"/>
                  </a:cubicBezTo>
                  <a:cubicBezTo>
                    <a:pt x="53975" y="40016"/>
                    <a:pt x="56357" y="38778"/>
                    <a:pt x="57690" y="36396"/>
                  </a:cubicBezTo>
                  <a:cubicBezTo>
                    <a:pt x="59690" y="32967"/>
                    <a:pt x="58452" y="28586"/>
                    <a:pt x="55118" y="26681"/>
                  </a:cubicBezTo>
                  <a:lnTo>
                    <a:pt x="10637" y="963"/>
                  </a:lnTo>
                  <a:cubicBezTo>
                    <a:pt x="7208" y="-1037"/>
                    <a:pt x="2826" y="201"/>
                    <a:pt x="921" y="3535"/>
                  </a:cubicBezTo>
                  <a:cubicBezTo>
                    <a:pt x="-984" y="6869"/>
                    <a:pt x="159" y="11346"/>
                    <a:pt x="3493" y="13251"/>
                  </a:cubicBezTo>
                  <a:close/>
                </a:path>
              </a:pathLst>
            </a:custGeom>
            <a:solidFill>
              <a:srgbClr val="29B5E8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18" name="Google Shape;4261;p99"/>
            <p:cNvSpPr/>
            <p:nvPr/>
          </p:nvSpPr>
          <p:spPr>
            <a:xfrm>
              <a:off x="8545898" y="4929574"/>
              <a:ext cx="39931" cy="58780"/>
            </a:xfrm>
            <a:custGeom>
              <a:avLst/>
              <a:gdLst/>
              <a:ahLst/>
              <a:cxnLst/>
              <a:rect l="l" t="t" r="r" b="b"/>
              <a:pathLst>
                <a:path w="39931" h="58780" extrusionOk="0">
                  <a:moveTo>
                    <a:pt x="3535" y="57828"/>
                  </a:moveTo>
                  <a:cubicBezTo>
                    <a:pt x="4678" y="58494"/>
                    <a:pt x="5916" y="58780"/>
                    <a:pt x="7059" y="58780"/>
                  </a:cubicBezTo>
                  <a:cubicBezTo>
                    <a:pt x="9536" y="58780"/>
                    <a:pt x="11917" y="57542"/>
                    <a:pt x="13251" y="55161"/>
                  </a:cubicBezTo>
                  <a:lnTo>
                    <a:pt x="38968" y="10679"/>
                  </a:lnTo>
                  <a:cubicBezTo>
                    <a:pt x="40968" y="7250"/>
                    <a:pt x="39730" y="2868"/>
                    <a:pt x="36396" y="963"/>
                  </a:cubicBezTo>
                  <a:cubicBezTo>
                    <a:pt x="32967" y="-1037"/>
                    <a:pt x="28586" y="201"/>
                    <a:pt x="26681" y="3535"/>
                  </a:cubicBezTo>
                  <a:lnTo>
                    <a:pt x="963" y="48017"/>
                  </a:lnTo>
                  <a:cubicBezTo>
                    <a:pt x="-1037" y="51446"/>
                    <a:pt x="201" y="55827"/>
                    <a:pt x="3535" y="57732"/>
                  </a:cubicBezTo>
                  <a:close/>
                </a:path>
              </a:pathLst>
            </a:custGeom>
            <a:solidFill>
              <a:srgbClr val="29B5E8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19" name="Google Shape;4262;p99"/>
            <p:cNvSpPr/>
            <p:nvPr/>
          </p:nvSpPr>
          <p:spPr>
            <a:xfrm>
              <a:off x="8571976" y="4971845"/>
              <a:ext cx="58737" cy="39941"/>
            </a:xfrm>
            <a:custGeom>
              <a:avLst/>
              <a:gdLst/>
              <a:ahLst/>
              <a:cxnLst/>
              <a:rect l="l" t="t" r="r" b="b"/>
              <a:pathLst>
                <a:path w="58737" h="39941" extrusionOk="0">
                  <a:moveTo>
                    <a:pt x="984" y="36322"/>
                  </a:moveTo>
                  <a:cubicBezTo>
                    <a:pt x="2318" y="38608"/>
                    <a:pt x="4699" y="39942"/>
                    <a:pt x="7175" y="39942"/>
                  </a:cubicBezTo>
                  <a:cubicBezTo>
                    <a:pt x="8414" y="39942"/>
                    <a:pt x="9652" y="39656"/>
                    <a:pt x="10700" y="38989"/>
                  </a:cubicBezTo>
                  <a:lnTo>
                    <a:pt x="55181" y="13272"/>
                  </a:lnTo>
                  <a:cubicBezTo>
                    <a:pt x="58610" y="11271"/>
                    <a:pt x="59753" y="6890"/>
                    <a:pt x="57753" y="3556"/>
                  </a:cubicBezTo>
                  <a:cubicBezTo>
                    <a:pt x="55753" y="127"/>
                    <a:pt x="51372" y="-1016"/>
                    <a:pt x="48038" y="984"/>
                  </a:cubicBezTo>
                  <a:lnTo>
                    <a:pt x="3556" y="26702"/>
                  </a:lnTo>
                  <a:cubicBezTo>
                    <a:pt x="127" y="28702"/>
                    <a:pt x="-1016" y="33083"/>
                    <a:pt x="984" y="36417"/>
                  </a:cubicBezTo>
                  <a:close/>
                </a:path>
              </a:pathLst>
            </a:custGeom>
            <a:solidFill>
              <a:srgbClr val="29B5E8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20" name="Google Shape;4263;p99"/>
            <p:cNvSpPr/>
            <p:nvPr/>
          </p:nvSpPr>
          <p:spPr>
            <a:xfrm>
              <a:off x="8353123" y="5217541"/>
              <a:ext cx="73803" cy="53706"/>
            </a:xfrm>
            <a:custGeom>
              <a:avLst/>
              <a:gdLst/>
              <a:ahLst/>
              <a:cxnLst/>
              <a:rect l="l" t="t" r="r" b="b"/>
              <a:pathLst>
                <a:path w="73803" h="53706" extrusionOk="0">
                  <a:moveTo>
                    <a:pt x="7144" y="53706"/>
                  </a:moveTo>
                  <a:cubicBezTo>
                    <a:pt x="36004" y="53706"/>
                    <a:pt x="62008" y="36561"/>
                    <a:pt x="73247" y="9891"/>
                  </a:cubicBezTo>
                  <a:cubicBezTo>
                    <a:pt x="74771" y="6272"/>
                    <a:pt x="73057" y="2081"/>
                    <a:pt x="69437" y="557"/>
                  </a:cubicBezTo>
                  <a:cubicBezTo>
                    <a:pt x="65818" y="-967"/>
                    <a:pt x="61627" y="747"/>
                    <a:pt x="60103" y="4367"/>
                  </a:cubicBezTo>
                  <a:cubicBezTo>
                    <a:pt x="51054" y="25703"/>
                    <a:pt x="30289" y="39419"/>
                    <a:pt x="7144" y="39419"/>
                  </a:cubicBezTo>
                  <a:cubicBezTo>
                    <a:pt x="3239" y="39419"/>
                    <a:pt x="0" y="42657"/>
                    <a:pt x="0" y="46562"/>
                  </a:cubicBezTo>
                  <a:cubicBezTo>
                    <a:pt x="0" y="50468"/>
                    <a:pt x="3239" y="53706"/>
                    <a:pt x="7144" y="53706"/>
                  </a:cubicBezTo>
                  <a:close/>
                </a:path>
              </a:pathLst>
            </a:custGeom>
            <a:solidFill>
              <a:srgbClr val="29B5E8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21" name="Google Shape;4264;p99"/>
            <p:cNvSpPr/>
            <p:nvPr/>
          </p:nvSpPr>
          <p:spPr>
            <a:xfrm>
              <a:off x="8672592" y="5217541"/>
              <a:ext cx="73803" cy="53706"/>
            </a:xfrm>
            <a:custGeom>
              <a:avLst/>
              <a:gdLst/>
              <a:ahLst/>
              <a:cxnLst/>
              <a:rect l="l" t="t" r="r" b="b"/>
              <a:pathLst>
                <a:path w="73803" h="53706" extrusionOk="0">
                  <a:moveTo>
                    <a:pt x="7144" y="53706"/>
                  </a:moveTo>
                  <a:cubicBezTo>
                    <a:pt x="36004" y="53706"/>
                    <a:pt x="62008" y="36561"/>
                    <a:pt x="73247" y="9891"/>
                  </a:cubicBezTo>
                  <a:cubicBezTo>
                    <a:pt x="74771" y="6272"/>
                    <a:pt x="73057" y="2081"/>
                    <a:pt x="69437" y="557"/>
                  </a:cubicBezTo>
                  <a:cubicBezTo>
                    <a:pt x="65818" y="-967"/>
                    <a:pt x="61627" y="747"/>
                    <a:pt x="60103" y="4367"/>
                  </a:cubicBezTo>
                  <a:cubicBezTo>
                    <a:pt x="51054" y="25703"/>
                    <a:pt x="30290" y="39419"/>
                    <a:pt x="7144" y="39419"/>
                  </a:cubicBezTo>
                  <a:cubicBezTo>
                    <a:pt x="3239" y="39419"/>
                    <a:pt x="0" y="42657"/>
                    <a:pt x="0" y="46562"/>
                  </a:cubicBezTo>
                  <a:cubicBezTo>
                    <a:pt x="0" y="50468"/>
                    <a:pt x="3239" y="53706"/>
                    <a:pt x="7144" y="53706"/>
                  </a:cubicBezTo>
                  <a:close/>
                </a:path>
              </a:pathLst>
            </a:custGeom>
            <a:solidFill>
              <a:srgbClr val="29B5E8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22" name="Google Shape;4265;p99"/>
            <p:cNvSpPr/>
            <p:nvPr/>
          </p:nvSpPr>
          <p:spPr>
            <a:xfrm>
              <a:off x="8256349" y="4997403"/>
              <a:ext cx="528066" cy="378142"/>
            </a:xfrm>
            <a:custGeom>
              <a:avLst/>
              <a:gdLst/>
              <a:ahLst/>
              <a:cxnLst/>
              <a:rect l="l" t="t" r="r" b="b"/>
              <a:pathLst>
                <a:path w="528066" h="378142" extrusionOk="0">
                  <a:moveTo>
                    <a:pt x="515874" y="190214"/>
                  </a:moveTo>
                  <a:lnTo>
                    <a:pt x="488918" y="190214"/>
                  </a:lnTo>
                  <a:lnTo>
                    <a:pt x="443294" y="65818"/>
                  </a:lnTo>
                  <a:lnTo>
                    <a:pt x="466916" y="65818"/>
                  </a:lnTo>
                  <a:cubicBezTo>
                    <a:pt x="477393" y="65818"/>
                    <a:pt x="485966" y="57245"/>
                    <a:pt x="485966" y="46768"/>
                  </a:cubicBezTo>
                  <a:cubicBezTo>
                    <a:pt x="485966" y="36290"/>
                    <a:pt x="477393" y="27718"/>
                    <a:pt x="466916" y="27718"/>
                  </a:cubicBezTo>
                  <a:lnTo>
                    <a:pt x="308610" y="27718"/>
                  </a:lnTo>
                  <a:cubicBezTo>
                    <a:pt x="307943" y="27718"/>
                    <a:pt x="307277" y="27813"/>
                    <a:pt x="306610" y="27908"/>
                  </a:cubicBezTo>
                  <a:cubicBezTo>
                    <a:pt x="299371" y="11525"/>
                    <a:pt x="282988" y="0"/>
                    <a:pt x="263938" y="0"/>
                  </a:cubicBezTo>
                  <a:cubicBezTo>
                    <a:pt x="244888" y="0"/>
                    <a:pt x="228410" y="11620"/>
                    <a:pt x="221171" y="28099"/>
                  </a:cubicBezTo>
                  <a:cubicBezTo>
                    <a:pt x="219932" y="27813"/>
                    <a:pt x="218599" y="27718"/>
                    <a:pt x="217361" y="27718"/>
                  </a:cubicBezTo>
                  <a:lnTo>
                    <a:pt x="60770" y="27718"/>
                  </a:lnTo>
                  <a:cubicBezTo>
                    <a:pt x="50292" y="27718"/>
                    <a:pt x="41720" y="36290"/>
                    <a:pt x="41720" y="46768"/>
                  </a:cubicBezTo>
                  <a:cubicBezTo>
                    <a:pt x="41720" y="57245"/>
                    <a:pt x="50292" y="65818"/>
                    <a:pt x="60770" y="65818"/>
                  </a:cubicBezTo>
                  <a:lnTo>
                    <a:pt x="84487" y="65818"/>
                  </a:lnTo>
                  <a:lnTo>
                    <a:pt x="38862" y="190214"/>
                  </a:lnTo>
                  <a:lnTo>
                    <a:pt x="11906" y="190214"/>
                  </a:lnTo>
                  <a:cubicBezTo>
                    <a:pt x="5334" y="190214"/>
                    <a:pt x="0" y="195548"/>
                    <a:pt x="0" y="202121"/>
                  </a:cubicBezTo>
                  <a:cubicBezTo>
                    <a:pt x="0" y="259556"/>
                    <a:pt x="46768" y="306229"/>
                    <a:pt x="104108" y="306229"/>
                  </a:cubicBezTo>
                  <a:cubicBezTo>
                    <a:pt x="161449" y="306229"/>
                    <a:pt x="208312" y="259461"/>
                    <a:pt x="208312" y="202121"/>
                  </a:cubicBezTo>
                  <a:cubicBezTo>
                    <a:pt x="208312" y="195548"/>
                    <a:pt x="202978" y="190214"/>
                    <a:pt x="196406" y="190214"/>
                  </a:cubicBezTo>
                  <a:lnTo>
                    <a:pt x="169450" y="190214"/>
                  </a:lnTo>
                  <a:lnTo>
                    <a:pt x="123825" y="65818"/>
                  </a:lnTo>
                  <a:lnTo>
                    <a:pt x="217265" y="65818"/>
                  </a:lnTo>
                  <a:cubicBezTo>
                    <a:pt x="218599" y="65818"/>
                    <a:pt x="219837" y="65723"/>
                    <a:pt x="221171" y="65437"/>
                  </a:cubicBezTo>
                  <a:cubicBezTo>
                    <a:pt x="225838" y="76105"/>
                    <a:pt x="234410" y="84773"/>
                    <a:pt x="245174" y="89440"/>
                  </a:cubicBezTo>
                  <a:cubicBezTo>
                    <a:pt x="245174" y="90202"/>
                    <a:pt x="244983" y="90964"/>
                    <a:pt x="244983" y="91726"/>
                  </a:cubicBezTo>
                  <a:lnTo>
                    <a:pt x="244983" y="310325"/>
                  </a:lnTo>
                  <a:lnTo>
                    <a:pt x="184690" y="310325"/>
                  </a:lnTo>
                  <a:cubicBezTo>
                    <a:pt x="168593" y="310325"/>
                    <a:pt x="155543" y="323374"/>
                    <a:pt x="155543" y="339471"/>
                  </a:cubicBezTo>
                  <a:lnTo>
                    <a:pt x="155543" y="354330"/>
                  </a:lnTo>
                  <a:lnTo>
                    <a:pt x="147637" y="354330"/>
                  </a:lnTo>
                  <a:cubicBezTo>
                    <a:pt x="141065" y="354330"/>
                    <a:pt x="135731" y="359664"/>
                    <a:pt x="135731" y="366236"/>
                  </a:cubicBezTo>
                  <a:cubicBezTo>
                    <a:pt x="135731" y="372809"/>
                    <a:pt x="141065" y="378143"/>
                    <a:pt x="147637" y="378143"/>
                  </a:cubicBezTo>
                  <a:lnTo>
                    <a:pt x="383000" y="378143"/>
                  </a:lnTo>
                  <a:cubicBezTo>
                    <a:pt x="389573" y="378143"/>
                    <a:pt x="394906" y="372809"/>
                    <a:pt x="394906" y="366236"/>
                  </a:cubicBezTo>
                  <a:cubicBezTo>
                    <a:pt x="394906" y="359664"/>
                    <a:pt x="389573" y="354330"/>
                    <a:pt x="383000" y="354330"/>
                  </a:cubicBezTo>
                  <a:lnTo>
                    <a:pt x="371285" y="354330"/>
                  </a:lnTo>
                  <a:lnTo>
                    <a:pt x="371285" y="339471"/>
                  </a:lnTo>
                  <a:cubicBezTo>
                    <a:pt x="371285" y="323374"/>
                    <a:pt x="358235" y="310325"/>
                    <a:pt x="342138" y="310325"/>
                  </a:cubicBezTo>
                  <a:lnTo>
                    <a:pt x="283083" y="310325"/>
                  </a:lnTo>
                  <a:lnTo>
                    <a:pt x="283083" y="91726"/>
                  </a:lnTo>
                  <a:cubicBezTo>
                    <a:pt x="283083" y="90964"/>
                    <a:pt x="282988" y="90202"/>
                    <a:pt x="282893" y="89440"/>
                  </a:cubicBezTo>
                  <a:cubicBezTo>
                    <a:pt x="293561" y="84773"/>
                    <a:pt x="302038" y="76200"/>
                    <a:pt x="306800" y="65627"/>
                  </a:cubicBezTo>
                  <a:cubicBezTo>
                    <a:pt x="307467" y="65627"/>
                    <a:pt x="308134" y="65818"/>
                    <a:pt x="308801" y="65818"/>
                  </a:cubicBezTo>
                  <a:lnTo>
                    <a:pt x="404241" y="65818"/>
                  </a:lnTo>
                  <a:lnTo>
                    <a:pt x="358616" y="190214"/>
                  </a:lnTo>
                  <a:lnTo>
                    <a:pt x="331661" y="190214"/>
                  </a:lnTo>
                  <a:cubicBezTo>
                    <a:pt x="325088" y="190214"/>
                    <a:pt x="319754" y="195548"/>
                    <a:pt x="319754" y="202121"/>
                  </a:cubicBezTo>
                  <a:cubicBezTo>
                    <a:pt x="319754" y="259556"/>
                    <a:pt x="366522" y="306229"/>
                    <a:pt x="423958" y="306229"/>
                  </a:cubicBezTo>
                  <a:cubicBezTo>
                    <a:pt x="481394" y="306229"/>
                    <a:pt x="528066" y="259461"/>
                    <a:pt x="528066" y="202121"/>
                  </a:cubicBezTo>
                  <a:cubicBezTo>
                    <a:pt x="528066" y="195548"/>
                    <a:pt x="522732" y="190214"/>
                    <a:pt x="516160" y="190214"/>
                  </a:cubicBezTo>
                  <a:close/>
                  <a:moveTo>
                    <a:pt x="347186" y="339376"/>
                  </a:moveTo>
                  <a:lnTo>
                    <a:pt x="347186" y="354235"/>
                  </a:lnTo>
                  <a:lnTo>
                    <a:pt x="179070" y="354235"/>
                  </a:lnTo>
                  <a:lnTo>
                    <a:pt x="179070" y="339376"/>
                  </a:lnTo>
                  <a:cubicBezTo>
                    <a:pt x="179070" y="336423"/>
                    <a:pt x="181451" y="334042"/>
                    <a:pt x="184404" y="334042"/>
                  </a:cubicBezTo>
                  <a:lnTo>
                    <a:pt x="341948" y="334042"/>
                  </a:lnTo>
                  <a:cubicBezTo>
                    <a:pt x="344900" y="334042"/>
                    <a:pt x="347281" y="336423"/>
                    <a:pt x="347281" y="339376"/>
                  </a:cubicBezTo>
                  <a:close/>
                  <a:moveTo>
                    <a:pt x="104108" y="282416"/>
                  </a:moveTo>
                  <a:cubicBezTo>
                    <a:pt x="63818" y="282416"/>
                    <a:pt x="30385" y="252698"/>
                    <a:pt x="24670" y="214027"/>
                  </a:cubicBezTo>
                  <a:lnTo>
                    <a:pt x="183642" y="214027"/>
                  </a:lnTo>
                  <a:cubicBezTo>
                    <a:pt x="177832" y="252698"/>
                    <a:pt x="144399" y="282416"/>
                    <a:pt x="104203" y="282416"/>
                  </a:cubicBezTo>
                  <a:close/>
                  <a:moveTo>
                    <a:pt x="64198" y="190214"/>
                  </a:moveTo>
                  <a:lnTo>
                    <a:pt x="104108" y="81343"/>
                  </a:lnTo>
                  <a:lnTo>
                    <a:pt x="144018" y="190214"/>
                  </a:lnTo>
                  <a:lnTo>
                    <a:pt x="64198" y="190214"/>
                  </a:lnTo>
                  <a:close/>
                  <a:moveTo>
                    <a:pt x="263747" y="69628"/>
                  </a:moveTo>
                  <a:cubicBezTo>
                    <a:pt x="251079" y="69628"/>
                    <a:pt x="240792" y="59341"/>
                    <a:pt x="240792" y="46672"/>
                  </a:cubicBezTo>
                  <a:cubicBezTo>
                    <a:pt x="240792" y="34004"/>
                    <a:pt x="251079" y="23717"/>
                    <a:pt x="263747" y="23717"/>
                  </a:cubicBezTo>
                  <a:cubicBezTo>
                    <a:pt x="276416" y="23717"/>
                    <a:pt x="286703" y="34004"/>
                    <a:pt x="286703" y="46672"/>
                  </a:cubicBezTo>
                  <a:cubicBezTo>
                    <a:pt x="286703" y="59341"/>
                    <a:pt x="276416" y="69628"/>
                    <a:pt x="263747" y="69628"/>
                  </a:cubicBezTo>
                  <a:close/>
                  <a:moveTo>
                    <a:pt x="423577" y="81343"/>
                  </a:moveTo>
                  <a:lnTo>
                    <a:pt x="463487" y="190214"/>
                  </a:lnTo>
                  <a:lnTo>
                    <a:pt x="383667" y="190214"/>
                  </a:lnTo>
                  <a:lnTo>
                    <a:pt x="423577" y="81343"/>
                  </a:lnTo>
                  <a:close/>
                  <a:moveTo>
                    <a:pt x="423577" y="282416"/>
                  </a:moveTo>
                  <a:cubicBezTo>
                    <a:pt x="383286" y="282416"/>
                    <a:pt x="349853" y="252698"/>
                    <a:pt x="344138" y="214027"/>
                  </a:cubicBezTo>
                  <a:lnTo>
                    <a:pt x="503111" y="214027"/>
                  </a:lnTo>
                  <a:cubicBezTo>
                    <a:pt x="497300" y="252698"/>
                    <a:pt x="463868" y="282416"/>
                    <a:pt x="423672" y="282416"/>
                  </a:cubicBezTo>
                  <a:close/>
                </a:path>
              </a:pathLst>
            </a:custGeom>
            <a:solidFill>
              <a:srgbClr val="29B5E8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9123" name="TextBox 9122"/>
          <p:cNvSpPr txBox="1"/>
          <p:nvPr/>
        </p:nvSpPr>
        <p:spPr>
          <a:xfrm>
            <a:off x="6617208" y="2807208"/>
            <a:ext cx="19781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11567F"/>
                </a:solidFill>
                <a:latin typeface="Arial"/>
              </a:rPr>
              <a:t>Full audit trail</a:t>
            </a:r>
          </a:p>
        </p:txBody>
      </p:sp>
      <p:sp>
        <p:nvSpPr>
          <p:cNvPr id="9124" name="TextBox 9123"/>
          <p:cNvSpPr txBox="1"/>
          <p:nvPr/>
        </p:nvSpPr>
        <p:spPr>
          <a:xfrm>
            <a:off x="6233160" y="3127248"/>
            <a:ext cx="2362200" cy="7955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 i="0">
                <a:solidFill>
                  <a:srgbClr val="5B5B5B"/>
                </a:solidFill>
                <a:latin typeface="Arial"/>
              </a:rPr>
              <a:t>Every recommendation, action and outcome is recorded and reversible.</a:t>
            </a:r>
          </a:p>
        </p:txBody>
      </p:sp>
      <p:sp>
        <p:nvSpPr>
          <p:cNvPr id="9125" name="Rounded Rectangle 9124"/>
          <p:cNvSpPr/>
          <p:nvPr/>
        </p:nvSpPr>
        <p:spPr>
          <a:xfrm>
            <a:off x="411480" y="4206240"/>
            <a:ext cx="8321040" cy="566928"/>
          </a:xfrm>
          <a:prstGeom prst="roundRect">
            <a:avLst>
              <a:gd name="adj" fmla="val 8000"/>
            </a:avLst>
          </a:prstGeom>
          <a:solidFill>
            <a:srgbClr val="EA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26" name="TextBox 9125"/>
          <p:cNvSpPr txBox="1"/>
          <p:nvPr/>
        </p:nvSpPr>
        <p:spPr>
          <a:xfrm>
            <a:off x="621792" y="4206240"/>
            <a:ext cx="7955279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 i="0">
                <a:solidFill>
                  <a:srgbClr val="252525"/>
                </a:solidFill>
                <a:latin typeface="Arial"/>
              </a:rPr>
              <a:t>Configuration-driven.  </a:t>
            </a:r>
            <a:r>
              <a:rPr sz="1200" b="0" i="0">
                <a:solidFill>
                  <a:srgbClr val="5B5B5B"/>
                </a:solidFill>
                <a:latin typeface="Arial"/>
              </a:rPr>
              <a:t>Weights, limits, rules, signals and whole use cases change without a release.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40080"/>
            <a:ext cx="91440" cy="329184"/>
          </a:xfrm>
          <a:prstGeom prst="rect">
            <a:avLst/>
          </a:prstGeom>
          <a:solidFill>
            <a:srgbClr val="29B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603504"/>
            <a:ext cx="832104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 i="0">
                <a:solidFill>
                  <a:srgbClr val="000000"/>
                </a:solidFill>
                <a:latin typeface="Arial"/>
              </a:rPr>
              <a:t>Impact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987552"/>
            <a:ext cx="8321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5B5B5B"/>
                </a:solidFill>
                <a:latin typeface="Arial"/>
              </a:rPr>
              <a:t>Measured on the prototype's live data.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" y="1417320"/>
            <a:ext cx="1965960" cy="1078992"/>
          </a:xfrm>
          <a:prstGeom prst="roundRect">
            <a:avLst>
              <a:gd name="adj" fmla="val 8000"/>
            </a:avLst>
          </a:prstGeom>
          <a:solidFill>
            <a:srgbClr val="F4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57784" y="1527048"/>
            <a:ext cx="1691639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11567F"/>
                </a:solidFill>
                <a:latin typeface="Arial"/>
              </a:rPr>
              <a:t>93 of 184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57784" y="1876298"/>
            <a:ext cx="1691639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5B5B5B"/>
                </a:solidFill>
                <a:latin typeface="Arial"/>
              </a:rPr>
              <a:t>signals come only from what customers said, invisible to structured systems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514600" y="1417320"/>
            <a:ext cx="1965960" cy="1078992"/>
          </a:xfrm>
          <a:prstGeom prst="roundRect">
            <a:avLst>
              <a:gd name="adj" fmla="val 8000"/>
            </a:avLst>
          </a:prstGeom>
          <a:solidFill>
            <a:srgbClr val="F4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660904" y="1527048"/>
            <a:ext cx="1691639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29B5E8"/>
                </a:solidFill>
                <a:latin typeface="Arial"/>
              </a:rPr>
              <a:t>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60904" y="1876298"/>
            <a:ext cx="1691639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5B5B5B"/>
                </a:solidFill>
                <a:latin typeface="Arial"/>
              </a:rPr>
              <a:t>customers caught who had fallen through the gaps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11480" y="2624328"/>
            <a:ext cx="1965960" cy="1078992"/>
          </a:xfrm>
          <a:prstGeom prst="roundRect">
            <a:avLst>
              <a:gd name="adj" fmla="val 8000"/>
            </a:avLst>
          </a:prstGeom>
          <a:solidFill>
            <a:srgbClr val="F4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57784" y="2734056"/>
            <a:ext cx="1691639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29B5E8"/>
                </a:solidFill>
                <a:latin typeface="Arial"/>
              </a:rPr>
              <a:t>~1 sec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57784" y="3083306"/>
            <a:ext cx="1691639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5B5B5B"/>
                </a:solidFill>
                <a:latin typeface="Arial"/>
              </a:rPr>
              <a:t>to rank every customer into today's worklist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514600" y="2624328"/>
            <a:ext cx="1965960" cy="1078992"/>
          </a:xfrm>
          <a:prstGeom prst="roundRect">
            <a:avLst>
              <a:gd name="adj" fmla="val 8000"/>
            </a:avLst>
          </a:prstGeom>
          <a:solidFill>
            <a:srgbClr val="F4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660904" y="2734056"/>
            <a:ext cx="1691639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29B5E8"/>
                </a:solidFill>
                <a:latin typeface="Arial"/>
              </a:rPr>
              <a:t>1 question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60904" y="3083306"/>
            <a:ext cx="1691639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5B5B5B"/>
                </a:solidFill>
                <a:latin typeface="Arial"/>
              </a:rPr>
              <a:t>from a customer question to a recommended action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1480" y="3931920"/>
            <a:ext cx="406908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252525"/>
                </a:solidFill>
                <a:latin typeface="Arial"/>
              </a:rPr>
              <a:t>In production: </a:t>
            </a:r>
            <a:r>
              <a:rPr sz="1100" b="0" i="0">
                <a:solidFill>
                  <a:srgbClr val="5B5B5B"/>
                </a:solidFill>
                <a:latin typeface="Arial"/>
              </a:rPr>
              <a:t>less prep per customer, consistent actions across RMs, and a measured view of which actions work.</a:t>
            </a:r>
          </a:p>
        </p:txBody>
      </p:sp>
      <p:graphicFrame>
        <p:nvGraphicFramePr>
          <p:cNvPr id="19" name="Chart 18"/>
          <p:cNvGraphicFramePr>
            <a:graphicFrameLocks noGrp="1"/>
          </p:cNvGraphicFramePr>
          <p:nvPr/>
        </p:nvGraphicFramePr>
        <p:xfrm>
          <a:off x="4663440" y="1371600"/>
          <a:ext cx="4069080" cy="34290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40080"/>
            <a:ext cx="91440" cy="329184"/>
          </a:xfrm>
          <a:prstGeom prst="rect">
            <a:avLst/>
          </a:prstGeom>
          <a:solidFill>
            <a:srgbClr val="29B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603504"/>
            <a:ext cx="832104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 i="0">
                <a:solidFill>
                  <a:srgbClr val="000000"/>
                </a:solidFill>
                <a:latin typeface="Arial"/>
              </a:rPr>
              <a:t>New use cases in days, new domains in weeks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987552"/>
            <a:ext cx="8321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5B5B5B"/>
                </a:solidFill>
                <a:latin typeface="Arial"/>
              </a:rPr>
              <a:t>Everything above the data mapping is reused. A domain expert shapes the ontology; the platform does the rest.</a:t>
            </a:r>
          </a:p>
        </p:txBody>
      </p:sp>
      <p:pic>
        <p:nvPicPr>
          <p:cNvPr id="6" name="Picture 5" descr="08-onboarding-timelin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1298448"/>
            <a:ext cx="8001000" cy="365263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40080"/>
            <a:ext cx="91440" cy="329184"/>
          </a:xfrm>
          <a:prstGeom prst="rect">
            <a:avLst/>
          </a:prstGeom>
          <a:solidFill>
            <a:srgbClr val="29B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603504"/>
            <a:ext cx="832104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 i="0">
                <a:solidFill>
                  <a:srgbClr val="000000"/>
                </a:solidFill>
                <a:latin typeface="Arial"/>
              </a:rPr>
              <a:t>An incremental 360 that scales at marginal cost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987552"/>
            <a:ext cx="8321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5B5B5B"/>
                </a:solidFill>
                <a:latin typeface="Arial"/>
              </a:rPr>
              <a:t>Work is done only where something changed, so a bigger book doesn't mean a bigger bill.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" y="1417320"/>
            <a:ext cx="4069080" cy="1069848"/>
          </a:xfrm>
          <a:prstGeom prst="roundRect">
            <a:avLst>
              <a:gd name="adj" fmla="val 8000"/>
            </a:avLst>
          </a:prstGeom>
          <a:solidFill>
            <a:srgbClr val="F4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pSp>
        <p:nvGrpSpPr>
          <p:cNvPr id="9123" name="Google Shape;3038;p95"/>
          <p:cNvGrpSpPr/>
          <p:nvPr/>
        </p:nvGrpSpPr>
        <p:grpSpPr>
          <a:xfrm>
            <a:off x="557784" y="1515562"/>
            <a:ext cx="310896" cy="297292"/>
            <a:chOff x="245756" y="1799533"/>
            <a:chExt cx="533304" cy="509968"/>
          </a:xfrm>
        </p:grpSpPr>
        <p:grpSp>
          <p:nvGrpSpPr>
            <p:cNvPr id="9124" name="Google Shape;3039;p95"/>
            <p:cNvGrpSpPr/>
            <p:nvPr/>
          </p:nvGrpSpPr>
          <p:grpSpPr>
            <a:xfrm>
              <a:off x="245756" y="1799533"/>
              <a:ext cx="510063" cy="509968"/>
              <a:chOff x="245756" y="1799533"/>
              <a:chExt cx="510063" cy="509968"/>
            </a:xfrm>
          </p:grpSpPr>
          <p:sp>
            <p:nvSpPr>
              <p:cNvPr id="9125" name="Google Shape;3040;p95"/>
              <p:cNvSpPr/>
              <p:nvPr/>
            </p:nvSpPr>
            <p:spPr>
              <a:xfrm>
                <a:off x="450162" y="2128527"/>
                <a:ext cx="47910" cy="108108"/>
              </a:xfrm>
              <a:custGeom>
                <a:avLst/>
                <a:gdLst/>
                <a:ahLst/>
                <a:cxnLst/>
                <a:rect l="l" t="t" r="r" b="b"/>
                <a:pathLst>
                  <a:path w="47910" h="108108" extrusionOk="0">
                    <a:moveTo>
                      <a:pt x="24289" y="85725"/>
                    </a:moveTo>
                    <a:cubicBezTo>
                      <a:pt x="23241" y="85725"/>
                      <a:pt x="22384" y="84868"/>
                      <a:pt x="22384" y="83820"/>
                    </a:cubicBezTo>
                    <a:lnTo>
                      <a:pt x="22384" y="24384"/>
                    </a:lnTo>
                    <a:cubicBezTo>
                      <a:pt x="22384" y="23336"/>
                      <a:pt x="23241" y="22479"/>
                      <a:pt x="24289" y="22479"/>
                    </a:cubicBezTo>
                    <a:lnTo>
                      <a:pt x="29909" y="22479"/>
                    </a:lnTo>
                    <a:cubicBezTo>
                      <a:pt x="30290" y="14859"/>
                      <a:pt x="31052" y="7334"/>
                      <a:pt x="32385" y="0"/>
                    </a:cubicBezTo>
                    <a:lnTo>
                      <a:pt x="24384" y="0"/>
                    </a:lnTo>
                    <a:cubicBezTo>
                      <a:pt x="10954" y="0"/>
                      <a:pt x="0" y="10954"/>
                      <a:pt x="0" y="24289"/>
                    </a:cubicBezTo>
                    <a:lnTo>
                      <a:pt x="0" y="83725"/>
                    </a:lnTo>
                    <a:cubicBezTo>
                      <a:pt x="0" y="97155"/>
                      <a:pt x="10954" y="108109"/>
                      <a:pt x="24384" y="108109"/>
                    </a:cubicBezTo>
                    <a:lnTo>
                      <a:pt x="47911" y="108109"/>
                    </a:lnTo>
                    <a:cubicBezTo>
                      <a:pt x="44291" y="100870"/>
                      <a:pt x="41148" y="93440"/>
                      <a:pt x="38481" y="85630"/>
                    </a:cubicBezTo>
                    <a:lnTo>
                      <a:pt x="24289" y="85630"/>
                    </a:lnTo>
                    <a:close/>
                  </a:path>
                </a:pathLst>
              </a:custGeom>
              <a:solidFill>
                <a:srgbClr val="29B5E8"/>
              </a:solidFill>
              <a:ln>
                <a:noFill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rgbClr val="262626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126" name="Google Shape;3041;p95"/>
              <p:cNvSpPr/>
              <p:nvPr/>
            </p:nvSpPr>
            <p:spPr>
              <a:xfrm>
                <a:off x="320432" y="2128622"/>
                <a:ext cx="108203" cy="108108"/>
              </a:xfrm>
              <a:custGeom>
                <a:avLst/>
                <a:gdLst/>
                <a:ahLst/>
                <a:cxnLst/>
                <a:rect l="l" t="t" r="r" b="b"/>
                <a:pathLst>
                  <a:path w="108203" h="108108" extrusionOk="0">
                    <a:moveTo>
                      <a:pt x="83820" y="0"/>
                    </a:moveTo>
                    <a:lnTo>
                      <a:pt x="24384" y="0"/>
                    </a:lnTo>
                    <a:cubicBezTo>
                      <a:pt x="10954" y="0"/>
                      <a:pt x="0" y="10954"/>
                      <a:pt x="0" y="24289"/>
                    </a:cubicBezTo>
                    <a:lnTo>
                      <a:pt x="0" y="83725"/>
                    </a:lnTo>
                    <a:cubicBezTo>
                      <a:pt x="0" y="97155"/>
                      <a:pt x="10954" y="108109"/>
                      <a:pt x="24384" y="108109"/>
                    </a:cubicBezTo>
                    <a:lnTo>
                      <a:pt x="83820" y="108109"/>
                    </a:lnTo>
                    <a:cubicBezTo>
                      <a:pt x="97250" y="108109"/>
                      <a:pt x="108204" y="97155"/>
                      <a:pt x="108204" y="83725"/>
                    </a:cubicBezTo>
                    <a:lnTo>
                      <a:pt x="108204" y="24289"/>
                    </a:lnTo>
                    <a:cubicBezTo>
                      <a:pt x="108204" y="10954"/>
                      <a:pt x="97250" y="0"/>
                      <a:pt x="83820" y="0"/>
                    </a:cubicBezTo>
                    <a:close/>
                    <a:moveTo>
                      <a:pt x="85725" y="83725"/>
                    </a:moveTo>
                    <a:cubicBezTo>
                      <a:pt x="85725" y="84772"/>
                      <a:pt x="84868" y="85630"/>
                      <a:pt x="83820" y="85630"/>
                    </a:cubicBezTo>
                    <a:lnTo>
                      <a:pt x="24384" y="85630"/>
                    </a:lnTo>
                    <a:cubicBezTo>
                      <a:pt x="23336" y="85630"/>
                      <a:pt x="22479" y="84772"/>
                      <a:pt x="22479" y="83725"/>
                    </a:cubicBezTo>
                    <a:lnTo>
                      <a:pt x="22479" y="24289"/>
                    </a:lnTo>
                    <a:cubicBezTo>
                      <a:pt x="22479" y="23241"/>
                      <a:pt x="23336" y="22384"/>
                      <a:pt x="24384" y="22384"/>
                    </a:cubicBezTo>
                    <a:lnTo>
                      <a:pt x="83820" y="22384"/>
                    </a:lnTo>
                    <a:cubicBezTo>
                      <a:pt x="84868" y="22384"/>
                      <a:pt x="85725" y="23241"/>
                      <a:pt x="85725" y="24289"/>
                    </a:cubicBezTo>
                    <a:lnTo>
                      <a:pt x="85725" y="83725"/>
                    </a:lnTo>
                    <a:close/>
                  </a:path>
                </a:pathLst>
              </a:custGeom>
              <a:solidFill>
                <a:srgbClr val="29B5E8"/>
              </a:solidFill>
              <a:ln>
                <a:noFill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rgbClr val="262626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127" name="Google Shape;3042;p95"/>
              <p:cNvSpPr/>
              <p:nvPr/>
            </p:nvSpPr>
            <p:spPr>
              <a:xfrm>
                <a:off x="449972" y="1869256"/>
                <a:ext cx="108204" cy="108203"/>
              </a:xfrm>
              <a:custGeom>
                <a:avLst/>
                <a:gdLst/>
                <a:ahLst/>
                <a:cxnLst/>
                <a:rect l="l" t="t" r="r" b="b"/>
                <a:pathLst>
                  <a:path w="108204" h="108203" extrusionOk="0">
                    <a:moveTo>
                      <a:pt x="83820" y="0"/>
                    </a:moveTo>
                    <a:lnTo>
                      <a:pt x="24384" y="0"/>
                    </a:lnTo>
                    <a:cubicBezTo>
                      <a:pt x="10954" y="0"/>
                      <a:pt x="0" y="10954"/>
                      <a:pt x="0" y="24384"/>
                    </a:cubicBezTo>
                    <a:lnTo>
                      <a:pt x="0" y="83820"/>
                    </a:lnTo>
                    <a:cubicBezTo>
                      <a:pt x="0" y="97250"/>
                      <a:pt x="10954" y="108204"/>
                      <a:pt x="24384" y="108204"/>
                    </a:cubicBezTo>
                    <a:lnTo>
                      <a:pt x="83820" y="108204"/>
                    </a:lnTo>
                    <a:cubicBezTo>
                      <a:pt x="97250" y="108204"/>
                      <a:pt x="108204" y="97250"/>
                      <a:pt x="108204" y="83820"/>
                    </a:cubicBezTo>
                    <a:lnTo>
                      <a:pt x="108204" y="24384"/>
                    </a:lnTo>
                    <a:cubicBezTo>
                      <a:pt x="108204" y="10954"/>
                      <a:pt x="97250" y="0"/>
                      <a:pt x="83820" y="0"/>
                    </a:cubicBezTo>
                    <a:close/>
                    <a:moveTo>
                      <a:pt x="85630" y="83725"/>
                    </a:moveTo>
                    <a:cubicBezTo>
                      <a:pt x="85630" y="84773"/>
                      <a:pt x="84773" y="85630"/>
                      <a:pt x="83725" y="85630"/>
                    </a:cubicBezTo>
                    <a:lnTo>
                      <a:pt x="24289" y="85630"/>
                    </a:lnTo>
                    <a:cubicBezTo>
                      <a:pt x="23241" y="85630"/>
                      <a:pt x="22384" y="84773"/>
                      <a:pt x="22384" y="83725"/>
                    </a:cubicBezTo>
                    <a:lnTo>
                      <a:pt x="22384" y="24289"/>
                    </a:lnTo>
                    <a:cubicBezTo>
                      <a:pt x="22384" y="23241"/>
                      <a:pt x="23241" y="22384"/>
                      <a:pt x="24289" y="22384"/>
                    </a:cubicBezTo>
                    <a:lnTo>
                      <a:pt x="83725" y="22384"/>
                    </a:lnTo>
                    <a:cubicBezTo>
                      <a:pt x="84773" y="22384"/>
                      <a:pt x="85630" y="23241"/>
                      <a:pt x="85630" y="24289"/>
                    </a:cubicBezTo>
                    <a:lnTo>
                      <a:pt x="85630" y="83725"/>
                    </a:lnTo>
                    <a:close/>
                  </a:path>
                </a:pathLst>
              </a:custGeom>
              <a:solidFill>
                <a:srgbClr val="29B5E8"/>
              </a:solidFill>
              <a:ln>
                <a:noFill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rgbClr val="262626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128" name="Google Shape;3043;p95"/>
              <p:cNvSpPr/>
              <p:nvPr/>
            </p:nvSpPr>
            <p:spPr>
              <a:xfrm>
                <a:off x="450162" y="1997844"/>
                <a:ext cx="107060" cy="108013"/>
              </a:xfrm>
              <a:custGeom>
                <a:avLst/>
                <a:gdLst/>
                <a:ahLst/>
                <a:cxnLst/>
                <a:rect l="l" t="t" r="r" b="b"/>
                <a:pathLst>
                  <a:path w="107060" h="108013" extrusionOk="0">
                    <a:moveTo>
                      <a:pt x="24289" y="85725"/>
                    </a:moveTo>
                    <a:cubicBezTo>
                      <a:pt x="23241" y="85725"/>
                      <a:pt x="22384" y="84868"/>
                      <a:pt x="22384" y="83820"/>
                    </a:cubicBezTo>
                    <a:lnTo>
                      <a:pt x="22384" y="24384"/>
                    </a:lnTo>
                    <a:cubicBezTo>
                      <a:pt x="22384" y="23336"/>
                      <a:pt x="23241" y="22479"/>
                      <a:pt x="24289" y="22479"/>
                    </a:cubicBezTo>
                    <a:lnTo>
                      <a:pt x="83725" y="22479"/>
                    </a:lnTo>
                    <a:cubicBezTo>
                      <a:pt x="84773" y="22479"/>
                      <a:pt x="85630" y="23336"/>
                      <a:pt x="85630" y="24384"/>
                    </a:cubicBezTo>
                    <a:lnTo>
                      <a:pt x="85630" y="34481"/>
                    </a:lnTo>
                    <a:cubicBezTo>
                      <a:pt x="92392" y="28385"/>
                      <a:pt x="99441" y="22670"/>
                      <a:pt x="107061" y="17621"/>
                    </a:cubicBezTo>
                    <a:cubicBezTo>
                      <a:pt x="104108" y="7525"/>
                      <a:pt x="94869" y="0"/>
                      <a:pt x="83820" y="0"/>
                    </a:cubicBezTo>
                    <a:lnTo>
                      <a:pt x="24384" y="0"/>
                    </a:lnTo>
                    <a:cubicBezTo>
                      <a:pt x="10954" y="0"/>
                      <a:pt x="0" y="10954"/>
                      <a:pt x="0" y="24289"/>
                    </a:cubicBezTo>
                    <a:lnTo>
                      <a:pt x="0" y="83725"/>
                    </a:lnTo>
                    <a:cubicBezTo>
                      <a:pt x="0" y="97060"/>
                      <a:pt x="10954" y="108014"/>
                      <a:pt x="24384" y="108014"/>
                    </a:cubicBezTo>
                    <a:lnTo>
                      <a:pt x="38100" y="108014"/>
                    </a:lnTo>
                    <a:cubicBezTo>
                      <a:pt x="40577" y="100298"/>
                      <a:pt x="43815" y="92774"/>
                      <a:pt x="47339" y="85535"/>
                    </a:cubicBezTo>
                    <a:lnTo>
                      <a:pt x="24479" y="85535"/>
                    </a:lnTo>
                    <a:close/>
                  </a:path>
                </a:pathLst>
              </a:custGeom>
              <a:solidFill>
                <a:srgbClr val="29B5E8"/>
              </a:solidFill>
              <a:ln>
                <a:noFill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rgbClr val="262626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129" name="Google Shape;3044;p95"/>
              <p:cNvSpPr/>
              <p:nvPr/>
            </p:nvSpPr>
            <p:spPr>
              <a:xfrm>
                <a:off x="245756" y="1799533"/>
                <a:ext cx="510063" cy="509968"/>
              </a:xfrm>
              <a:custGeom>
                <a:avLst/>
                <a:gdLst/>
                <a:ahLst/>
                <a:cxnLst/>
                <a:rect l="l" t="t" r="r" b="b"/>
                <a:pathLst>
                  <a:path w="510063" h="509968" extrusionOk="0">
                    <a:moveTo>
                      <a:pt x="279273" y="476345"/>
                    </a:moveTo>
                    <a:lnTo>
                      <a:pt x="63437" y="476345"/>
                    </a:lnTo>
                    <a:cubicBezTo>
                      <a:pt x="46958" y="476345"/>
                      <a:pt x="33623" y="463010"/>
                      <a:pt x="33623" y="446532"/>
                    </a:cubicBezTo>
                    <a:lnTo>
                      <a:pt x="33623" y="63532"/>
                    </a:lnTo>
                    <a:cubicBezTo>
                      <a:pt x="33623" y="47054"/>
                      <a:pt x="46958" y="33719"/>
                      <a:pt x="63437" y="33719"/>
                    </a:cubicBezTo>
                    <a:lnTo>
                      <a:pt x="446532" y="33719"/>
                    </a:lnTo>
                    <a:cubicBezTo>
                      <a:pt x="463010" y="33719"/>
                      <a:pt x="476345" y="47054"/>
                      <a:pt x="476345" y="63532"/>
                    </a:cubicBezTo>
                    <a:lnTo>
                      <a:pt x="476345" y="202597"/>
                    </a:lnTo>
                    <a:cubicBezTo>
                      <a:pt x="488442" y="208026"/>
                      <a:pt x="499586" y="214694"/>
                      <a:pt x="510064" y="222599"/>
                    </a:cubicBezTo>
                    <a:lnTo>
                      <a:pt x="510064" y="63532"/>
                    </a:lnTo>
                    <a:cubicBezTo>
                      <a:pt x="510064" y="28480"/>
                      <a:pt x="481584" y="0"/>
                      <a:pt x="446627" y="0"/>
                    </a:cubicBezTo>
                    <a:lnTo>
                      <a:pt x="63437" y="0"/>
                    </a:lnTo>
                    <a:cubicBezTo>
                      <a:pt x="28385" y="0"/>
                      <a:pt x="0" y="28480"/>
                      <a:pt x="0" y="63532"/>
                    </a:cubicBezTo>
                    <a:lnTo>
                      <a:pt x="0" y="446532"/>
                    </a:lnTo>
                    <a:cubicBezTo>
                      <a:pt x="0" y="481584"/>
                      <a:pt x="28480" y="509969"/>
                      <a:pt x="63437" y="509969"/>
                    </a:cubicBezTo>
                    <a:lnTo>
                      <a:pt x="321659" y="509969"/>
                    </a:lnTo>
                    <a:cubicBezTo>
                      <a:pt x="305753" y="501110"/>
                      <a:pt x="291560" y="489680"/>
                      <a:pt x="279368" y="476345"/>
                    </a:cubicBezTo>
                    <a:close/>
                  </a:path>
                </a:pathLst>
              </a:custGeom>
              <a:solidFill>
                <a:srgbClr val="29B5E8"/>
              </a:solidFill>
              <a:ln>
                <a:noFill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rgbClr val="262626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130" name="Google Shape;3045;p95"/>
              <p:cNvSpPr/>
              <p:nvPr/>
            </p:nvSpPr>
            <p:spPr>
              <a:xfrm>
                <a:off x="579512" y="1869256"/>
                <a:ext cx="108204" cy="108203"/>
              </a:xfrm>
              <a:custGeom>
                <a:avLst/>
                <a:gdLst/>
                <a:ahLst/>
                <a:cxnLst/>
                <a:rect l="l" t="t" r="r" b="b"/>
                <a:pathLst>
                  <a:path w="108204" h="108203" extrusionOk="0">
                    <a:moveTo>
                      <a:pt x="83820" y="0"/>
                    </a:moveTo>
                    <a:lnTo>
                      <a:pt x="24384" y="0"/>
                    </a:lnTo>
                    <a:cubicBezTo>
                      <a:pt x="10954" y="0"/>
                      <a:pt x="0" y="10954"/>
                      <a:pt x="0" y="24384"/>
                    </a:cubicBezTo>
                    <a:lnTo>
                      <a:pt x="0" y="83820"/>
                    </a:lnTo>
                    <a:cubicBezTo>
                      <a:pt x="0" y="97250"/>
                      <a:pt x="10954" y="108204"/>
                      <a:pt x="24384" y="108204"/>
                    </a:cubicBezTo>
                    <a:lnTo>
                      <a:pt x="83820" y="108204"/>
                    </a:lnTo>
                    <a:cubicBezTo>
                      <a:pt x="97250" y="108204"/>
                      <a:pt x="108204" y="97250"/>
                      <a:pt x="108204" y="83820"/>
                    </a:cubicBezTo>
                    <a:lnTo>
                      <a:pt x="108204" y="24384"/>
                    </a:lnTo>
                    <a:cubicBezTo>
                      <a:pt x="108204" y="10954"/>
                      <a:pt x="97250" y="0"/>
                      <a:pt x="83820" y="0"/>
                    </a:cubicBezTo>
                    <a:close/>
                    <a:moveTo>
                      <a:pt x="85725" y="83725"/>
                    </a:moveTo>
                    <a:cubicBezTo>
                      <a:pt x="85725" y="84773"/>
                      <a:pt x="84868" y="85630"/>
                      <a:pt x="83820" y="85630"/>
                    </a:cubicBezTo>
                    <a:lnTo>
                      <a:pt x="24384" y="85630"/>
                    </a:lnTo>
                    <a:cubicBezTo>
                      <a:pt x="23336" y="85630"/>
                      <a:pt x="22479" y="84773"/>
                      <a:pt x="22479" y="83725"/>
                    </a:cubicBezTo>
                    <a:lnTo>
                      <a:pt x="22479" y="24289"/>
                    </a:lnTo>
                    <a:cubicBezTo>
                      <a:pt x="22479" y="23241"/>
                      <a:pt x="23336" y="22384"/>
                      <a:pt x="24384" y="22384"/>
                    </a:cubicBezTo>
                    <a:lnTo>
                      <a:pt x="83820" y="22384"/>
                    </a:lnTo>
                    <a:cubicBezTo>
                      <a:pt x="84868" y="22384"/>
                      <a:pt x="85725" y="23241"/>
                      <a:pt x="85725" y="24289"/>
                    </a:cubicBezTo>
                    <a:lnTo>
                      <a:pt x="85725" y="83725"/>
                    </a:lnTo>
                    <a:close/>
                  </a:path>
                </a:pathLst>
              </a:custGeom>
              <a:solidFill>
                <a:srgbClr val="29B5E8"/>
              </a:solidFill>
              <a:ln>
                <a:noFill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rgbClr val="262626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131" name="Google Shape;3046;p95"/>
              <p:cNvSpPr/>
              <p:nvPr/>
            </p:nvSpPr>
            <p:spPr>
              <a:xfrm>
                <a:off x="320432" y="1869256"/>
                <a:ext cx="108203" cy="108203"/>
              </a:xfrm>
              <a:custGeom>
                <a:avLst/>
                <a:gdLst/>
                <a:ahLst/>
                <a:cxnLst/>
                <a:rect l="l" t="t" r="r" b="b"/>
                <a:pathLst>
                  <a:path w="108203" h="108203" extrusionOk="0">
                    <a:moveTo>
                      <a:pt x="83820" y="0"/>
                    </a:moveTo>
                    <a:lnTo>
                      <a:pt x="24384" y="0"/>
                    </a:lnTo>
                    <a:cubicBezTo>
                      <a:pt x="10954" y="0"/>
                      <a:pt x="0" y="10954"/>
                      <a:pt x="0" y="24384"/>
                    </a:cubicBezTo>
                    <a:lnTo>
                      <a:pt x="0" y="83820"/>
                    </a:lnTo>
                    <a:cubicBezTo>
                      <a:pt x="0" y="97250"/>
                      <a:pt x="10954" y="108204"/>
                      <a:pt x="24384" y="108204"/>
                    </a:cubicBezTo>
                    <a:lnTo>
                      <a:pt x="83820" y="108204"/>
                    </a:lnTo>
                    <a:cubicBezTo>
                      <a:pt x="97250" y="108204"/>
                      <a:pt x="108204" y="97250"/>
                      <a:pt x="108204" y="83820"/>
                    </a:cubicBezTo>
                    <a:lnTo>
                      <a:pt x="108204" y="24384"/>
                    </a:lnTo>
                    <a:cubicBezTo>
                      <a:pt x="108204" y="10954"/>
                      <a:pt x="97250" y="0"/>
                      <a:pt x="83820" y="0"/>
                    </a:cubicBezTo>
                    <a:close/>
                    <a:moveTo>
                      <a:pt x="85725" y="83725"/>
                    </a:moveTo>
                    <a:cubicBezTo>
                      <a:pt x="85725" y="84773"/>
                      <a:pt x="84868" y="85630"/>
                      <a:pt x="83820" y="85630"/>
                    </a:cubicBezTo>
                    <a:lnTo>
                      <a:pt x="24384" y="85630"/>
                    </a:lnTo>
                    <a:cubicBezTo>
                      <a:pt x="23336" y="85630"/>
                      <a:pt x="22479" y="84773"/>
                      <a:pt x="22479" y="83725"/>
                    </a:cubicBezTo>
                    <a:lnTo>
                      <a:pt x="22479" y="24289"/>
                    </a:lnTo>
                    <a:cubicBezTo>
                      <a:pt x="22479" y="23241"/>
                      <a:pt x="23336" y="22384"/>
                      <a:pt x="24384" y="22384"/>
                    </a:cubicBezTo>
                    <a:lnTo>
                      <a:pt x="83820" y="22384"/>
                    </a:lnTo>
                    <a:cubicBezTo>
                      <a:pt x="84868" y="22384"/>
                      <a:pt x="85725" y="23241"/>
                      <a:pt x="85725" y="24289"/>
                    </a:cubicBezTo>
                    <a:lnTo>
                      <a:pt x="85725" y="83725"/>
                    </a:lnTo>
                    <a:close/>
                  </a:path>
                </a:pathLst>
              </a:custGeom>
              <a:solidFill>
                <a:srgbClr val="29B5E8"/>
              </a:solidFill>
              <a:ln>
                <a:noFill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rgbClr val="262626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132" name="Google Shape;3047;p95"/>
              <p:cNvSpPr/>
              <p:nvPr/>
            </p:nvSpPr>
            <p:spPr>
              <a:xfrm>
                <a:off x="320432" y="1998034"/>
                <a:ext cx="108203" cy="108013"/>
              </a:xfrm>
              <a:custGeom>
                <a:avLst/>
                <a:gdLst/>
                <a:ahLst/>
                <a:cxnLst/>
                <a:rect l="l" t="t" r="r" b="b"/>
                <a:pathLst>
                  <a:path w="108203" h="108013" extrusionOk="0">
                    <a:moveTo>
                      <a:pt x="83820" y="0"/>
                    </a:moveTo>
                    <a:lnTo>
                      <a:pt x="24384" y="0"/>
                    </a:lnTo>
                    <a:cubicBezTo>
                      <a:pt x="10954" y="0"/>
                      <a:pt x="0" y="10954"/>
                      <a:pt x="0" y="24289"/>
                    </a:cubicBezTo>
                    <a:lnTo>
                      <a:pt x="0" y="83725"/>
                    </a:lnTo>
                    <a:cubicBezTo>
                      <a:pt x="0" y="97060"/>
                      <a:pt x="10954" y="108014"/>
                      <a:pt x="24384" y="108014"/>
                    </a:cubicBezTo>
                    <a:lnTo>
                      <a:pt x="83820" y="108014"/>
                    </a:lnTo>
                    <a:cubicBezTo>
                      <a:pt x="97250" y="108014"/>
                      <a:pt x="108204" y="97060"/>
                      <a:pt x="108204" y="83725"/>
                    </a:cubicBezTo>
                    <a:lnTo>
                      <a:pt x="108204" y="24289"/>
                    </a:lnTo>
                    <a:cubicBezTo>
                      <a:pt x="108204" y="10954"/>
                      <a:pt x="97250" y="0"/>
                      <a:pt x="83820" y="0"/>
                    </a:cubicBezTo>
                    <a:close/>
                    <a:moveTo>
                      <a:pt x="85725" y="83725"/>
                    </a:moveTo>
                    <a:cubicBezTo>
                      <a:pt x="85725" y="84773"/>
                      <a:pt x="84868" y="85630"/>
                      <a:pt x="83820" y="85630"/>
                    </a:cubicBezTo>
                    <a:lnTo>
                      <a:pt x="24384" y="85630"/>
                    </a:lnTo>
                    <a:cubicBezTo>
                      <a:pt x="23336" y="85630"/>
                      <a:pt x="22479" y="84773"/>
                      <a:pt x="22479" y="83725"/>
                    </a:cubicBezTo>
                    <a:lnTo>
                      <a:pt x="22479" y="24289"/>
                    </a:lnTo>
                    <a:cubicBezTo>
                      <a:pt x="22479" y="23241"/>
                      <a:pt x="23336" y="22384"/>
                      <a:pt x="24384" y="22384"/>
                    </a:cubicBezTo>
                    <a:lnTo>
                      <a:pt x="83820" y="22384"/>
                    </a:lnTo>
                    <a:cubicBezTo>
                      <a:pt x="84868" y="22384"/>
                      <a:pt x="85725" y="23241"/>
                      <a:pt x="85725" y="24289"/>
                    </a:cubicBezTo>
                    <a:lnTo>
                      <a:pt x="85725" y="83725"/>
                    </a:lnTo>
                    <a:close/>
                  </a:path>
                </a:pathLst>
              </a:custGeom>
              <a:solidFill>
                <a:srgbClr val="29B5E8"/>
              </a:solidFill>
              <a:ln>
                <a:noFill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rgbClr val="262626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9133" name="Google Shape;3048;p95"/>
            <p:cNvGrpSpPr/>
            <p:nvPr/>
          </p:nvGrpSpPr>
          <p:grpSpPr>
            <a:xfrm>
              <a:off x="524648" y="2033467"/>
              <a:ext cx="254412" cy="252031"/>
              <a:chOff x="524648" y="2033467"/>
              <a:chExt cx="254412" cy="252031"/>
            </a:xfrm>
          </p:grpSpPr>
          <p:sp>
            <p:nvSpPr>
              <p:cNvPr id="9134" name="Google Shape;3049;p95"/>
              <p:cNvSpPr/>
              <p:nvPr/>
            </p:nvSpPr>
            <p:spPr>
              <a:xfrm>
                <a:off x="546651" y="2214157"/>
                <a:ext cx="57245" cy="59721"/>
              </a:xfrm>
              <a:custGeom>
                <a:avLst/>
                <a:gdLst/>
                <a:ahLst/>
                <a:cxnLst/>
                <a:rect l="l" t="t" r="r" b="b"/>
                <a:pathLst>
                  <a:path w="57245" h="59721" extrusionOk="0">
                    <a:moveTo>
                      <a:pt x="11240" y="59722"/>
                    </a:moveTo>
                    <a:cubicBezTo>
                      <a:pt x="5048" y="59722"/>
                      <a:pt x="0" y="54674"/>
                      <a:pt x="0" y="48482"/>
                    </a:cubicBezTo>
                    <a:lnTo>
                      <a:pt x="0" y="11240"/>
                    </a:lnTo>
                    <a:cubicBezTo>
                      <a:pt x="0" y="5048"/>
                      <a:pt x="5048" y="0"/>
                      <a:pt x="11240" y="0"/>
                    </a:cubicBezTo>
                    <a:lnTo>
                      <a:pt x="46006" y="0"/>
                    </a:lnTo>
                    <a:cubicBezTo>
                      <a:pt x="52197" y="0"/>
                      <a:pt x="57245" y="5048"/>
                      <a:pt x="57245" y="11240"/>
                    </a:cubicBezTo>
                    <a:cubicBezTo>
                      <a:pt x="57245" y="17431"/>
                      <a:pt x="52197" y="22479"/>
                      <a:pt x="46006" y="22479"/>
                    </a:cubicBezTo>
                    <a:lnTo>
                      <a:pt x="22479" y="22479"/>
                    </a:lnTo>
                    <a:lnTo>
                      <a:pt x="22479" y="48482"/>
                    </a:lnTo>
                    <a:cubicBezTo>
                      <a:pt x="22479" y="54769"/>
                      <a:pt x="17431" y="59722"/>
                      <a:pt x="11240" y="59722"/>
                    </a:cubicBezTo>
                    <a:close/>
                  </a:path>
                </a:pathLst>
              </a:custGeom>
              <a:solidFill>
                <a:srgbClr val="29B5E8"/>
              </a:solidFill>
              <a:ln>
                <a:noFill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rgbClr val="262626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135" name="Google Shape;3050;p95"/>
              <p:cNvSpPr/>
              <p:nvPr/>
            </p:nvSpPr>
            <p:spPr>
              <a:xfrm>
                <a:off x="561140" y="2110811"/>
                <a:ext cx="217920" cy="174687"/>
              </a:xfrm>
              <a:custGeom>
                <a:avLst/>
                <a:gdLst/>
                <a:ahLst/>
                <a:cxnLst/>
                <a:rect l="l" t="t" r="r" b="b"/>
                <a:pathLst>
                  <a:path w="217920" h="174687" extrusionOk="0">
                    <a:moveTo>
                      <a:pt x="91524" y="174687"/>
                    </a:moveTo>
                    <a:cubicBezTo>
                      <a:pt x="58377" y="174687"/>
                      <a:pt x="27135" y="162019"/>
                      <a:pt x="3418" y="138873"/>
                    </a:cubicBezTo>
                    <a:cubicBezTo>
                      <a:pt x="-1059" y="134587"/>
                      <a:pt x="-1154" y="127443"/>
                      <a:pt x="3227" y="122967"/>
                    </a:cubicBezTo>
                    <a:cubicBezTo>
                      <a:pt x="7514" y="118490"/>
                      <a:pt x="14657" y="118490"/>
                      <a:pt x="19134" y="122681"/>
                    </a:cubicBezTo>
                    <a:cubicBezTo>
                      <a:pt x="38660" y="141731"/>
                      <a:pt x="64378" y="152113"/>
                      <a:pt x="91619" y="152113"/>
                    </a:cubicBezTo>
                    <a:cubicBezTo>
                      <a:pt x="148865" y="152113"/>
                      <a:pt x="195442" y="105536"/>
                      <a:pt x="195442" y="48291"/>
                    </a:cubicBezTo>
                    <a:cubicBezTo>
                      <a:pt x="195442" y="36099"/>
                      <a:pt x="193442" y="23240"/>
                      <a:pt x="190203" y="15525"/>
                    </a:cubicBezTo>
                    <a:cubicBezTo>
                      <a:pt x="187822" y="9810"/>
                      <a:pt x="190584" y="3237"/>
                      <a:pt x="196299" y="856"/>
                    </a:cubicBezTo>
                    <a:cubicBezTo>
                      <a:pt x="202014" y="-1525"/>
                      <a:pt x="208586" y="1237"/>
                      <a:pt x="210968" y="6952"/>
                    </a:cubicBezTo>
                    <a:cubicBezTo>
                      <a:pt x="215349" y="17525"/>
                      <a:pt x="217921" y="32955"/>
                      <a:pt x="217921" y="48291"/>
                    </a:cubicBezTo>
                    <a:cubicBezTo>
                      <a:pt x="217826" y="118014"/>
                      <a:pt x="161152" y="174592"/>
                      <a:pt x="91524" y="174592"/>
                    </a:cubicBezTo>
                    <a:close/>
                  </a:path>
                </a:pathLst>
              </a:custGeom>
              <a:solidFill>
                <a:srgbClr val="29B5E8"/>
              </a:solidFill>
              <a:ln>
                <a:noFill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rgbClr val="262626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136" name="Google Shape;3051;p95"/>
              <p:cNvSpPr/>
              <p:nvPr/>
            </p:nvSpPr>
            <p:spPr>
              <a:xfrm>
                <a:off x="699366" y="2041361"/>
                <a:ext cx="56181" cy="61448"/>
              </a:xfrm>
              <a:custGeom>
                <a:avLst/>
                <a:gdLst/>
                <a:ahLst/>
                <a:cxnLst/>
                <a:rect l="l" t="t" r="r" b="b"/>
                <a:pathLst>
                  <a:path w="56181" h="61448" extrusionOk="0">
                    <a:moveTo>
                      <a:pt x="11210" y="61448"/>
                    </a:moveTo>
                    <a:cubicBezTo>
                      <a:pt x="5780" y="61448"/>
                      <a:pt x="1113" y="57543"/>
                      <a:pt x="161" y="52018"/>
                    </a:cubicBezTo>
                    <a:cubicBezTo>
                      <a:pt x="-887" y="45922"/>
                      <a:pt x="3304" y="40112"/>
                      <a:pt x="9400" y="39160"/>
                    </a:cubicBezTo>
                    <a:lnTo>
                      <a:pt x="33308" y="35159"/>
                    </a:lnTo>
                    <a:lnTo>
                      <a:pt x="32355" y="11728"/>
                    </a:lnTo>
                    <a:cubicBezTo>
                      <a:pt x="32069" y="5536"/>
                      <a:pt x="36927" y="298"/>
                      <a:pt x="43118" y="12"/>
                    </a:cubicBezTo>
                    <a:cubicBezTo>
                      <a:pt x="49310" y="-274"/>
                      <a:pt x="54548" y="4584"/>
                      <a:pt x="54834" y="10775"/>
                    </a:cubicBezTo>
                    <a:lnTo>
                      <a:pt x="56168" y="44017"/>
                    </a:lnTo>
                    <a:cubicBezTo>
                      <a:pt x="56453" y="49637"/>
                      <a:pt x="52358" y="54590"/>
                      <a:pt x="46833" y="55543"/>
                    </a:cubicBezTo>
                    <a:lnTo>
                      <a:pt x="13115" y="61162"/>
                    </a:lnTo>
                    <a:cubicBezTo>
                      <a:pt x="12448" y="61353"/>
                      <a:pt x="11876" y="61448"/>
                      <a:pt x="11210" y="61448"/>
                    </a:cubicBezTo>
                    <a:close/>
                  </a:path>
                </a:pathLst>
              </a:custGeom>
              <a:solidFill>
                <a:srgbClr val="29B5E8"/>
              </a:solidFill>
              <a:ln>
                <a:noFill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rgbClr val="262626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137" name="Google Shape;3052;p95"/>
              <p:cNvSpPr/>
              <p:nvPr/>
            </p:nvSpPr>
            <p:spPr>
              <a:xfrm>
                <a:off x="524648" y="2033467"/>
                <a:ext cx="229379" cy="174307"/>
              </a:xfrm>
              <a:custGeom>
                <a:avLst/>
                <a:gdLst/>
                <a:ahLst/>
                <a:cxnLst/>
                <a:rect l="l" t="t" r="r" b="b"/>
                <a:pathLst>
                  <a:path w="229379" h="174307" extrusionOk="0">
                    <a:moveTo>
                      <a:pt x="17335" y="174307"/>
                    </a:moveTo>
                    <a:cubicBezTo>
                      <a:pt x="13335" y="174307"/>
                      <a:pt x="9430" y="172117"/>
                      <a:pt x="7334" y="168307"/>
                    </a:cubicBezTo>
                    <a:cubicBezTo>
                      <a:pt x="0" y="154305"/>
                      <a:pt x="0" y="127349"/>
                      <a:pt x="0" y="126206"/>
                    </a:cubicBezTo>
                    <a:cubicBezTo>
                      <a:pt x="381" y="56579"/>
                      <a:pt x="57055" y="0"/>
                      <a:pt x="126301" y="0"/>
                    </a:cubicBezTo>
                    <a:cubicBezTo>
                      <a:pt x="157924" y="0"/>
                      <a:pt x="202597" y="15716"/>
                      <a:pt x="226886" y="45720"/>
                    </a:cubicBezTo>
                    <a:cubicBezTo>
                      <a:pt x="230791" y="50482"/>
                      <a:pt x="230029" y="57626"/>
                      <a:pt x="225171" y="61532"/>
                    </a:cubicBezTo>
                    <a:cubicBezTo>
                      <a:pt x="220313" y="65437"/>
                      <a:pt x="213265" y="64675"/>
                      <a:pt x="209360" y="59817"/>
                    </a:cubicBezTo>
                    <a:cubicBezTo>
                      <a:pt x="192119" y="38481"/>
                      <a:pt x="156305" y="22384"/>
                      <a:pt x="126206" y="22384"/>
                    </a:cubicBezTo>
                    <a:cubicBezTo>
                      <a:pt x="69342" y="22384"/>
                      <a:pt x="22669" y="68961"/>
                      <a:pt x="22384" y="126302"/>
                    </a:cubicBezTo>
                    <a:cubicBezTo>
                      <a:pt x="22384" y="135636"/>
                      <a:pt x="23908" y="151829"/>
                      <a:pt x="27146" y="157829"/>
                    </a:cubicBezTo>
                    <a:cubicBezTo>
                      <a:pt x="30004" y="163258"/>
                      <a:pt x="27908" y="170116"/>
                      <a:pt x="22479" y="172974"/>
                    </a:cubicBezTo>
                    <a:cubicBezTo>
                      <a:pt x="20765" y="173831"/>
                      <a:pt x="18955" y="174307"/>
                      <a:pt x="17240" y="174307"/>
                    </a:cubicBezTo>
                    <a:close/>
                  </a:path>
                </a:pathLst>
              </a:custGeom>
              <a:solidFill>
                <a:srgbClr val="29B5E8"/>
              </a:solidFill>
              <a:ln>
                <a:noFill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rgbClr val="262626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9138" name="TextBox 9137"/>
          <p:cNvSpPr txBox="1"/>
          <p:nvPr/>
        </p:nvSpPr>
        <p:spPr>
          <a:xfrm>
            <a:off x="960120" y="1554480"/>
            <a:ext cx="3383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11567F"/>
                </a:solidFill>
                <a:latin typeface="Arial"/>
              </a:rPr>
              <a:t>Incremental Dynamic Tables</a:t>
            </a:r>
          </a:p>
        </p:txBody>
      </p:sp>
      <p:sp>
        <p:nvSpPr>
          <p:cNvPr id="9139" name="TextBox 9138"/>
          <p:cNvSpPr txBox="1"/>
          <p:nvPr/>
        </p:nvSpPr>
        <p:spPr>
          <a:xfrm>
            <a:off x="576072" y="1874519"/>
            <a:ext cx="3767328" cy="52120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5B5B5B"/>
                </a:solidFill>
                <a:latin typeface="Arial"/>
              </a:rPr>
              <a:t>Facts refresh only where the data changed</a:t>
            </a:r>
          </a:p>
        </p:txBody>
      </p:sp>
      <p:sp>
        <p:nvSpPr>
          <p:cNvPr id="9140" name="Rounded Rectangle 9139"/>
          <p:cNvSpPr/>
          <p:nvPr/>
        </p:nvSpPr>
        <p:spPr>
          <a:xfrm>
            <a:off x="4663440" y="1417320"/>
            <a:ext cx="4069080" cy="1069848"/>
          </a:xfrm>
          <a:prstGeom prst="roundRect">
            <a:avLst>
              <a:gd name="adj" fmla="val 8000"/>
            </a:avLst>
          </a:prstGeom>
          <a:solidFill>
            <a:srgbClr val="F4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38" name="Google Shape;4608;p101"/>
          <p:cNvSpPr/>
          <p:nvPr/>
        </p:nvSpPr>
        <p:spPr>
          <a:xfrm>
            <a:off x="4856945" y="1508760"/>
            <a:ext cx="216493" cy="310896"/>
          </a:xfrm>
          <a:custGeom>
            <a:avLst/>
            <a:gdLst/>
            <a:ahLst/>
            <a:cxnLst/>
            <a:rect l="l" t="t" r="r" b="b"/>
            <a:pathLst>
              <a:path w="115429" h="165762" extrusionOk="0">
                <a:moveTo>
                  <a:pt x="32045" y="50165"/>
                </a:moveTo>
                <a:lnTo>
                  <a:pt x="36072" y="48823"/>
                </a:lnTo>
                <a:lnTo>
                  <a:pt x="43118" y="44293"/>
                </a:lnTo>
                <a:lnTo>
                  <a:pt x="48151" y="37918"/>
                </a:lnTo>
                <a:lnTo>
                  <a:pt x="51004" y="29865"/>
                </a:lnTo>
                <a:lnTo>
                  <a:pt x="51339" y="25502"/>
                </a:lnTo>
                <a:lnTo>
                  <a:pt x="51171" y="22818"/>
                </a:lnTo>
                <a:lnTo>
                  <a:pt x="50165" y="17953"/>
                </a:lnTo>
                <a:lnTo>
                  <a:pt x="48151" y="13255"/>
                </a:lnTo>
                <a:lnTo>
                  <a:pt x="45467" y="9228"/>
                </a:lnTo>
                <a:lnTo>
                  <a:pt x="41944" y="5873"/>
                </a:lnTo>
                <a:lnTo>
                  <a:pt x="37917" y="3021"/>
                </a:lnTo>
                <a:lnTo>
                  <a:pt x="33220" y="1175"/>
                </a:lnTo>
                <a:lnTo>
                  <a:pt x="28186" y="169"/>
                </a:lnTo>
                <a:lnTo>
                  <a:pt x="25670" y="1"/>
                </a:lnTo>
                <a:lnTo>
                  <a:pt x="22985" y="169"/>
                </a:lnTo>
                <a:lnTo>
                  <a:pt x="17952" y="1175"/>
                </a:lnTo>
                <a:lnTo>
                  <a:pt x="13422" y="3021"/>
                </a:lnTo>
                <a:lnTo>
                  <a:pt x="9228" y="5873"/>
                </a:lnTo>
                <a:lnTo>
                  <a:pt x="5872" y="9228"/>
                </a:lnTo>
                <a:lnTo>
                  <a:pt x="3020" y="13255"/>
                </a:lnTo>
                <a:lnTo>
                  <a:pt x="1175" y="17953"/>
                </a:lnTo>
                <a:lnTo>
                  <a:pt x="168" y="22818"/>
                </a:lnTo>
                <a:lnTo>
                  <a:pt x="0" y="25502"/>
                </a:lnTo>
                <a:lnTo>
                  <a:pt x="336" y="29865"/>
                </a:lnTo>
                <a:lnTo>
                  <a:pt x="3020" y="37750"/>
                </a:lnTo>
                <a:lnTo>
                  <a:pt x="8221" y="44293"/>
                </a:lnTo>
                <a:lnTo>
                  <a:pt x="15100" y="48823"/>
                </a:lnTo>
                <a:lnTo>
                  <a:pt x="19294" y="50165"/>
                </a:lnTo>
                <a:lnTo>
                  <a:pt x="19294" y="115429"/>
                </a:lnTo>
                <a:lnTo>
                  <a:pt x="15100" y="116772"/>
                </a:lnTo>
                <a:lnTo>
                  <a:pt x="8221" y="121302"/>
                </a:lnTo>
                <a:lnTo>
                  <a:pt x="3020" y="127845"/>
                </a:lnTo>
                <a:lnTo>
                  <a:pt x="336" y="135730"/>
                </a:lnTo>
                <a:lnTo>
                  <a:pt x="0" y="140260"/>
                </a:lnTo>
                <a:lnTo>
                  <a:pt x="168" y="142777"/>
                </a:lnTo>
                <a:lnTo>
                  <a:pt x="1175" y="147810"/>
                </a:lnTo>
                <a:lnTo>
                  <a:pt x="3020" y="152340"/>
                </a:lnTo>
                <a:lnTo>
                  <a:pt x="5872" y="156366"/>
                </a:lnTo>
                <a:lnTo>
                  <a:pt x="9228" y="159890"/>
                </a:lnTo>
                <a:lnTo>
                  <a:pt x="13422" y="162574"/>
                </a:lnTo>
                <a:lnTo>
                  <a:pt x="17952" y="164587"/>
                </a:lnTo>
                <a:lnTo>
                  <a:pt x="22985" y="165594"/>
                </a:lnTo>
                <a:lnTo>
                  <a:pt x="25670" y="165762"/>
                </a:lnTo>
                <a:lnTo>
                  <a:pt x="28186" y="165594"/>
                </a:lnTo>
                <a:lnTo>
                  <a:pt x="33220" y="164587"/>
                </a:lnTo>
                <a:lnTo>
                  <a:pt x="37917" y="162574"/>
                </a:lnTo>
                <a:lnTo>
                  <a:pt x="41944" y="159890"/>
                </a:lnTo>
                <a:lnTo>
                  <a:pt x="45467" y="156366"/>
                </a:lnTo>
                <a:lnTo>
                  <a:pt x="48151" y="152340"/>
                </a:lnTo>
                <a:lnTo>
                  <a:pt x="50165" y="147810"/>
                </a:lnTo>
                <a:lnTo>
                  <a:pt x="51171" y="142777"/>
                </a:lnTo>
                <a:lnTo>
                  <a:pt x="51339" y="140260"/>
                </a:lnTo>
                <a:lnTo>
                  <a:pt x="51004" y="135898"/>
                </a:lnTo>
                <a:lnTo>
                  <a:pt x="48319" y="127845"/>
                </a:lnTo>
                <a:lnTo>
                  <a:pt x="43118" y="121469"/>
                </a:lnTo>
                <a:lnTo>
                  <a:pt x="36240" y="116939"/>
                </a:lnTo>
                <a:lnTo>
                  <a:pt x="32213" y="115597"/>
                </a:lnTo>
                <a:lnTo>
                  <a:pt x="32716" y="112242"/>
                </a:lnTo>
                <a:lnTo>
                  <a:pt x="34058" y="107209"/>
                </a:lnTo>
                <a:lnTo>
                  <a:pt x="35904" y="103517"/>
                </a:lnTo>
                <a:lnTo>
                  <a:pt x="38085" y="101001"/>
                </a:lnTo>
                <a:lnTo>
                  <a:pt x="39259" y="100162"/>
                </a:lnTo>
                <a:lnTo>
                  <a:pt x="40937" y="99155"/>
                </a:lnTo>
                <a:lnTo>
                  <a:pt x="44964" y="97645"/>
                </a:lnTo>
                <a:lnTo>
                  <a:pt x="52178" y="96135"/>
                </a:lnTo>
                <a:lnTo>
                  <a:pt x="58386" y="95632"/>
                </a:lnTo>
                <a:lnTo>
                  <a:pt x="59057" y="95464"/>
                </a:lnTo>
                <a:lnTo>
                  <a:pt x="64929" y="94961"/>
                </a:lnTo>
                <a:lnTo>
                  <a:pt x="74324" y="92948"/>
                </a:lnTo>
                <a:lnTo>
                  <a:pt x="80532" y="90431"/>
                </a:lnTo>
                <a:lnTo>
                  <a:pt x="83384" y="88586"/>
                </a:lnTo>
                <a:lnTo>
                  <a:pt x="86068" y="86572"/>
                </a:lnTo>
                <a:lnTo>
                  <a:pt x="90263" y="81539"/>
                </a:lnTo>
                <a:lnTo>
                  <a:pt x="93451" y="75164"/>
                </a:lnTo>
                <a:lnTo>
                  <a:pt x="95464" y="67446"/>
                </a:lnTo>
                <a:lnTo>
                  <a:pt x="95967" y="62916"/>
                </a:lnTo>
                <a:lnTo>
                  <a:pt x="99994" y="61742"/>
                </a:lnTo>
                <a:lnTo>
                  <a:pt x="107040" y="57212"/>
                </a:lnTo>
                <a:lnTo>
                  <a:pt x="112241" y="50669"/>
                </a:lnTo>
                <a:lnTo>
                  <a:pt x="115093" y="42615"/>
                </a:lnTo>
                <a:lnTo>
                  <a:pt x="115429" y="38253"/>
                </a:lnTo>
                <a:lnTo>
                  <a:pt x="115261" y="35569"/>
                </a:lnTo>
                <a:lnTo>
                  <a:pt x="114255" y="30703"/>
                </a:lnTo>
                <a:lnTo>
                  <a:pt x="112241" y="26006"/>
                </a:lnTo>
                <a:lnTo>
                  <a:pt x="109557" y="21979"/>
                </a:lnTo>
                <a:lnTo>
                  <a:pt x="106034" y="18456"/>
                </a:lnTo>
                <a:lnTo>
                  <a:pt x="102007" y="15772"/>
                </a:lnTo>
                <a:lnTo>
                  <a:pt x="97309" y="13926"/>
                </a:lnTo>
                <a:lnTo>
                  <a:pt x="92276" y="12752"/>
                </a:lnTo>
                <a:lnTo>
                  <a:pt x="89759" y="12752"/>
                </a:lnTo>
                <a:lnTo>
                  <a:pt x="87075" y="12752"/>
                </a:lnTo>
                <a:lnTo>
                  <a:pt x="82042" y="13926"/>
                </a:lnTo>
                <a:lnTo>
                  <a:pt x="77512" y="15772"/>
                </a:lnTo>
                <a:lnTo>
                  <a:pt x="73318" y="18456"/>
                </a:lnTo>
                <a:lnTo>
                  <a:pt x="69962" y="21979"/>
                </a:lnTo>
                <a:lnTo>
                  <a:pt x="67110" y="26006"/>
                </a:lnTo>
                <a:lnTo>
                  <a:pt x="65264" y="30703"/>
                </a:lnTo>
                <a:lnTo>
                  <a:pt x="64090" y="35569"/>
                </a:lnTo>
                <a:lnTo>
                  <a:pt x="64090" y="38253"/>
                </a:lnTo>
                <a:lnTo>
                  <a:pt x="64258" y="42615"/>
                </a:lnTo>
                <a:lnTo>
                  <a:pt x="67110" y="50501"/>
                </a:lnTo>
                <a:lnTo>
                  <a:pt x="72143" y="57044"/>
                </a:lnTo>
                <a:lnTo>
                  <a:pt x="79022" y="61574"/>
                </a:lnTo>
                <a:lnTo>
                  <a:pt x="83049" y="62916"/>
                </a:lnTo>
                <a:lnTo>
                  <a:pt x="82713" y="66104"/>
                </a:lnTo>
                <a:lnTo>
                  <a:pt x="81371" y="71305"/>
                </a:lnTo>
                <a:lnTo>
                  <a:pt x="79357" y="74828"/>
                </a:lnTo>
                <a:lnTo>
                  <a:pt x="77176" y="77345"/>
                </a:lnTo>
                <a:lnTo>
                  <a:pt x="76002" y="78184"/>
                </a:lnTo>
                <a:lnTo>
                  <a:pt x="74324" y="79358"/>
                </a:lnTo>
                <a:lnTo>
                  <a:pt x="70298" y="80868"/>
                </a:lnTo>
                <a:lnTo>
                  <a:pt x="63083" y="82210"/>
                </a:lnTo>
                <a:lnTo>
                  <a:pt x="57044" y="82881"/>
                </a:lnTo>
                <a:lnTo>
                  <a:pt x="56372" y="82881"/>
                </a:lnTo>
                <a:lnTo>
                  <a:pt x="50500" y="83552"/>
                </a:lnTo>
                <a:lnTo>
                  <a:pt x="40937" y="85398"/>
                </a:lnTo>
                <a:lnTo>
                  <a:pt x="34897" y="87914"/>
                </a:lnTo>
                <a:lnTo>
                  <a:pt x="32045" y="89760"/>
                </a:lnTo>
                <a:close/>
                <a:moveTo>
                  <a:pt x="25670" y="12752"/>
                </a:moveTo>
                <a:lnTo>
                  <a:pt x="22985" y="12919"/>
                </a:lnTo>
                <a:lnTo>
                  <a:pt x="18455" y="14933"/>
                </a:lnTo>
                <a:lnTo>
                  <a:pt x="14932" y="18288"/>
                </a:lnTo>
                <a:lnTo>
                  <a:pt x="12919" y="22818"/>
                </a:lnTo>
                <a:lnTo>
                  <a:pt x="12751" y="25502"/>
                </a:lnTo>
                <a:lnTo>
                  <a:pt x="12919" y="28019"/>
                </a:lnTo>
                <a:lnTo>
                  <a:pt x="14932" y="32717"/>
                </a:lnTo>
                <a:lnTo>
                  <a:pt x="18455" y="36072"/>
                </a:lnTo>
                <a:lnTo>
                  <a:pt x="22985" y="38086"/>
                </a:lnTo>
                <a:lnTo>
                  <a:pt x="25670" y="38253"/>
                </a:lnTo>
                <a:lnTo>
                  <a:pt x="28186" y="38086"/>
                </a:lnTo>
                <a:lnTo>
                  <a:pt x="32884" y="36072"/>
                </a:lnTo>
                <a:lnTo>
                  <a:pt x="36407" y="32717"/>
                </a:lnTo>
                <a:lnTo>
                  <a:pt x="38253" y="28019"/>
                </a:lnTo>
                <a:lnTo>
                  <a:pt x="38421" y="25502"/>
                </a:lnTo>
                <a:lnTo>
                  <a:pt x="38253" y="22818"/>
                </a:lnTo>
                <a:lnTo>
                  <a:pt x="36407" y="18288"/>
                </a:lnTo>
                <a:lnTo>
                  <a:pt x="32884" y="14933"/>
                </a:lnTo>
                <a:lnTo>
                  <a:pt x="28186" y="12919"/>
                </a:lnTo>
                <a:close/>
                <a:moveTo>
                  <a:pt x="89759" y="25502"/>
                </a:moveTo>
                <a:lnTo>
                  <a:pt x="87075" y="25670"/>
                </a:lnTo>
                <a:lnTo>
                  <a:pt x="82545" y="27684"/>
                </a:lnTo>
                <a:lnTo>
                  <a:pt x="79022" y="31039"/>
                </a:lnTo>
                <a:lnTo>
                  <a:pt x="77009" y="35569"/>
                </a:lnTo>
                <a:lnTo>
                  <a:pt x="76841" y="38253"/>
                </a:lnTo>
                <a:lnTo>
                  <a:pt x="77009" y="40770"/>
                </a:lnTo>
                <a:lnTo>
                  <a:pt x="79022" y="45468"/>
                </a:lnTo>
                <a:lnTo>
                  <a:pt x="82545" y="48823"/>
                </a:lnTo>
                <a:lnTo>
                  <a:pt x="87075" y="50836"/>
                </a:lnTo>
                <a:lnTo>
                  <a:pt x="89759" y="51004"/>
                </a:lnTo>
                <a:lnTo>
                  <a:pt x="92276" y="50836"/>
                </a:lnTo>
                <a:lnTo>
                  <a:pt x="96974" y="48823"/>
                </a:lnTo>
                <a:lnTo>
                  <a:pt x="100329" y="45468"/>
                </a:lnTo>
                <a:lnTo>
                  <a:pt x="102343" y="40770"/>
                </a:lnTo>
                <a:lnTo>
                  <a:pt x="102510" y="38253"/>
                </a:lnTo>
                <a:lnTo>
                  <a:pt x="102343" y="35569"/>
                </a:lnTo>
                <a:lnTo>
                  <a:pt x="100329" y="31039"/>
                </a:lnTo>
                <a:lnTo>
                  <a:pt x="96974" y="27684"/>
                </a:lnTo>
                <a:lnTo>
                  <a:pt x="92276" y="25670"/>
                </a:lnTo>
                <a:close/>
                <a:moveTo>
                  <a:pt x="12751" y="140260"/>
                </a:moveTo>
                <a:lnTo>
                  <a:pt x="12919" y="137576"/>
                </a:lnTo>
                <a:lnTo>
                  <a:pt x="14932" y="133046"/>
                </a:lnTo>
                <a:lnTo>
                  <a:pt x="18455" y="129522"/>
                </a:lnTo>
                <a:lnTo>
                  <a:pt x="22985" y="127677"/>
                </a:lnTo>
                <a:lnTo>
                  <a:pt x="25670" y="127509"/>
                </a:lnTo>
                <a:lnTo>
                  <a:pt x="28186" y="127677"/>
                </a:lnTo>
                <a:lnTo>
                  <a:pt x="32884" y="129522"/>
                </a:lnTo>
                <a:lnTo>
                  <a:pt x="36407" y="133046"/>
                </a:lnTo>
                <a:lnTo>
                  <a:pt x="38253" y="137576"/>
                </a:lnTo>
                <a:lnTo>
                  <a:pt x="38421" y="140260"/>
                </a:lnTo>
                <a:lnTo>
                  <a:pt x="38253" y="142777"/>
                </a:lnTo>
                <a:lnTo>
                  <a:pt x="36407" y="147307"/>
                </a:lnTo>
                <a:lnTo>
                  <a:pt x="32884" y="150830"/>
                </a:lnTo>
                <a:lnTo>
                  <a:pt x="28186" y="152675"/>
                </a:lnTo>
                <a:lnTo>
                  <a:pt x="25670" y="153011"/>
                </a:lnTo>
                <a:lnTo>
                  <a:pt x="22985" y="152675"/>
                </a:lnTo>
                <a:lnTo>
                  <a:pt x="18455" y="150830"/>
                </a:lnTo>
                <a:lnTo>
                  <a:pt x="14932" y="147307"/>
                </a:lnTo>
                <a:lnTo>
                  <a:pt x="12919" y="142777"/>
                </a:lnTo>
                <a:close/>
              </a:path>
            </a:pathLst>
          </a:custGeom>
          <a:solidFill>
            <a:srgbClr val="28B5E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52525"/>
              </a:buClr>
              <a:buSzPts val="1800"/>
              <a:buFont typeface="Arial"/>
              <a:buNone/>
            </a:pPr>
            <a:endParaRPr sz="1800">
              <a:solidFill>
                <a:srgbClr val="252525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41" name="TextBox 9140"/>
          <p:cNvSpPr txBox="1"/>
          <p:nvPr/>
        </p:nvSpPr>
        <p:spPr>
          <a:xfrm>
            <a:off x="5212080" y="1554480"/>
            <a:ext cx="3383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11567F"/>
                </a:solidFill>
                <a:latin typeface="Arial"/>
              </a:rPr>
              <a:t>Changed-customer streams</a:t>
            </a:r>
          </a:p>
        </p:txBody>
      </p:sp>
      <p:sp>
        <p:nvSpPr>
          <p:cNvPr id="9142" name="TextBox 9141"/>
          <p:cNvSpPr txBox="1"/>
          <p:nvPr/>
        </p:nvSpPr>
        <p:spPr>
          <a:xfrm>
            <a:off x="4828032" y="1874519"/>
            <a:ext cx="3767328" cy="52120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5B5B5B"/>
                </a:solidFill>
                <a:latin typeface="Arial"/>
              </a:rPr>
              <a:t>Signals and state recompute only for customers who changed</a:t>
            </a:r>
          </a:p>
        </p:txBody>
      </p:sp>
      <p:sp>
        <p:nvSpPr>
          <p:cNvPr id="9143" name="Rounded Rectangle 9142"/>
          <p:cNvSpPr/>
          <p:nvPr/>
        </p:nvSpPr>
        <p:spPr>
          <a:xfrm>
            <a:off x="411480" y="2624328"/>
            <a:ext cx="4069080" cy="1069848"/>
          </a:xfrm>
          <a:prstGeom prst="roundRect">
            <a:avLst>
              <a:gd name="adj" fmla="val 8000"/>
            </a:avLst>
          </a:prstGeom>
          <a:solidFill>
            <a:srgbClr val="F4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pSp>
        <p:nvGrpSpPr>
          <p:cNvPr id="9139" name="Google Shape;4101;p99"/>
          <p:cNvGrpSpPr/>
          <p:nvPr/>
        </p:nvGrpSpPr>
        <p:grpSpPr>
          <a:xfrm>
            <a:off x="589006" y="2715768"/>
            <a:ext cx="248451" cy="310896"/>
            <a:chOff x="5367519" y="5511062"/>
            <a:chExt cx="427100" cy="534447"/>
          </a:xfrm>
        </p:grpSpPr>
        <p:sp>
          <p:nvSpPr>
            <p:cNvPr id="9140" name="Google Shape;4102;p99"/>
            <p:cNvSpPr/>
            <p:nvPr/>
          </p:nvSpPr>
          <p:spPr>
            <a:xfrm>
              <a:off x="5428670" y="5679559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 extrusionOk="0">
                  <a:moveTo>
                    <a:pt x="152400" y="0"/>
                  </a:moveTo>
                  <a:cubicBezTo>
                    <a:pt x="68390" y="0"/>
                    <a:pt x="0" y="68390"/>
                    <a:pt x="0" y="152400"/>
                  </a:cubicBezTo>
                  <a:cubicBezTo>
                    <a:pt x="0" y="236411"/>
                    <a:pt x="68390" y="304800"/>
                    <a:pt x="152400" y="304800"/>
                  </a:cubicBezTo>
                  <a:cubicBezTo>
                    <a:pt x="236411" y="304800"/>
                    <a:pt x="304800" y="236411"/>
                    <a:pt x="304800" y="152400"/>
                  </a:cubicBezTo>
                  <a:cubicBezTo>
                    <a:pt x="304800" y="68390"/>
                    <a:pt x="236411" y="0"/>
                    <a:pt x="152400" y="0"/>
                  </a:cubicBezTo>
                  <a:close/>
                  <a:moveTo>
                    <a:pt x="152400" y="280988"/>
                  </a:moveTo>
                  <a:cubicBezTo>
                    <a:pt x="81534" y="280988"/>
                    <a:pt x="23813" y="223266"/>
                    <a:pt x="23813" y="152400"/>
                  </a:cubicBezTo>
                  <a:cubicBezTo>
                    <a:pt x="23813" y="81534"/>
                    <a:pt x="81534" y="23813"/>
                    <a:pt x="152400" y="23813"/>
                  </a:cubicBezTo>
                  <a:cubicBezTo>
                    <a:pt x="223266" y="23813"/>
                    <a:pt x="280988" y="81534"/>
                    <a:pt x="280988" y="152400"/>
                  </a:cubicBezTo>
                  <a:cubicBezTo>
                    <a:pt x="280988" y="223266"/>
                    <a:pt x="223266" y="280988"/>
                    <a:pt x="152400" y="280988"/>
                  </a:cubicBezTo>
                  <a:close/>
                </a:path>
              </a:pathLst>
            </a:custGeom>
            <a:solidFill>
              <a:srgbClr val="29B5E8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41" name="Google Shape;4103;p99"/>
            <p:cNvSpPr/>
            <p:nvPr/>
          </p:nvSpPr>
          <p:spPr>
            <a:xfrm>
              <a:off x="5367519" y="5511062"/>
              <a:ext cx="427100" cy="534447"/>
            </a:xfrm>
            <a:custGeom>
              <a:avLst/>
              <a:gdLst/>
              <a:ahLst/>
              <a:cxnLst/>
              <a:rect l="l" t="t" r="r" b="b"/>
              <a:pathLst>
                <a:path w="427100" h="534447" extrusionOk="0">
                  <a:moveTo>
                    <a:pt x="272034" y="115538"/>
                  </a:moveTo>
                  <a:lnTo>
                    <a:pt x="272034" y="90107"/>
                  </a:lnTo>
                  <a:lnTo>
                    <a:pt x="272320" y="90107"/>
                  </a:lnTo>
                  <a:cubicBezTo>
                    <a:pt x="278892" y="90107"/>
                    <a:pt x="284226" y="84773"/>
                    <a:pt x="284226" y="78200"/>
                  </a:cubicBezTo>
                  <a:lnTo>
                    <a:pt x="284226" y="11906"/>
                  </a:lnTo>
                  <a:cubicBezTo>
                    <a:pt x="284226" y="5334"/>
                    <a:pt x="278892" y="0"/>
                    <a:pt x="272320" y="0"/>
                  </a:cubicBezTo>
                  <a:lnTo>
                    <a:pt x="154781" y="0"/>
                  </a:lnTo>
                  <a:cubicBezTo>
                    <a:pt x="148209" y="0"/>
                    <a:pt x="142875" y="5334"/>
                    <a:pt x="142875" y="11906"/>
                  </a:cubicBezTo>
                  <a:lnTo>
                    <a:pt x="142875" y="78200"/>
                  </a:lnTo>
                  <a:cubicBezTo>
                    <a:pt x="142875" y="84773"/>
                    <a:pt x="148209" y="90107"/>
                    <a:pt x="154781" y="90107"/>
                  </a:cubicBezTo>
                  <a:lnTo>
                    <a:pt x="155353" y="90107"/>
                  </a:lnTo>
                  <a:lnTo>
                    <a:pt x="155353" y="115443"/>
                  </a:lnTo>
                  <a:cubicBezTo>
                    <a:pt x="65818" y="140875"/>
                    <a:pt x="0" y="223361"/>
                    <a:pt x="0" y="320897"/>
                  </a:cubicBezTo>
                  <a:cubicBezTo>
                    <a:pt x="0" y="438722"/>
                    <a:pt x="95821" y="534448"/>
                    <a:pt x="213551" y="534448"/>
                  </a:cubicBezTo>
                  <a:cubicBezTo>
                    <a:pt x="331280" y="534448"/>
                    <a:pt x="427101" y="438626"/>
                    <a:pt x="427101" y="320897"/>
                  </a:cubicBezTo>
                  <a:cubicBezTo>
                    <a:pt x="427101" y="223361"/>
                    <a:pt x="361379" y="141065"/>
                    <a:pt x="272034" y="115538"/>
                  </a:cubicBezTo>
                  <a:close/>
                  <a:moveTo>
                    <a:pt x="166688" y="23717"/>
                  </a:moveTo>
                  <a:lnTo>
                    <a:pt x="260413" y="23717"/>
                  </a:lnTo>
                  <a:lnTo>
                    <a:pt x="260413" y="66199"/>
                  </a:lnTo>
                  <a:lnTo>
                    <a:pt x="166688" y="66199"/>
                  </a:lnTo>
                  <a:lnTo>
                    <a:pt x="166688" y="23717"/>
                  </a:lnTo>
                  <a:close/>
                  <a:moveTo>
                    <a:pt x="179070" y="90107"/>
                  </a:moveTo>
                  <a:lnTo>
                    <a:pt x="248222" y="90107"/>
                  </a:lnTo>
                  <a:lnTo>
                    <a:pt x="248222" y="110204"/>
                  </a:lnTo>
                  <a:cubicBezTo>
                    <a:pt x="236887" y="108395"/>
                    <a:pt x="225362" y="107347"/>
                    <a:pt x="213551" y="107347"/>
                  </a:cubicBezTo>
                  <a:cubicBezTo>
                    <a:pt x="201740" y="107347"/>
                    <a:pt x="190310" y="108299"/>
                    <a:pt x="179070" y="110204"/>
                  </a:cubicBezTo>
                  <a:lnTo>
                    <a:pt x="179070" y="90202"/>
                  </a:lnTo>
                  <a:close/>
                  <a:moveTo>
                    <a:pt x="213551" y="496348"/>
                  </a:moveTo>
                  <a:cubicBezTo>
                    <a:pt x="116777" y="496348"/>
                    <a:pt x="38100" y="417576"/>
                    <a:pt x="38100" y="320897"/>
                  </a:cubicBezTo>
                  <a:cubicBezTo>
                    <a:pt x="38100" y="224219"/>
                    <a:pt x="116872" y="145447"/>
                    <a:pt x="213551" y="145447"/>
                  </a:cubicBezTo>
                  <a:cubicBezTo>
                    <a:pt x="310229" y="145447"/>
                    <a:pt x="389001" y="224219"/>
                    <a:pt x="389001" y="320897"/>
                  </a:cubicBezTo>
                  <a:cubicBezTo>
                    <a:pt x="389001" y="417576"/>
                    <a:pt x="310229" y="496348"/>
                    <a:pt x="213551" y="496348"/>
                  </a:cubicBezTo>
                  <a:close/>
                </a:path>
              </a:pathLst>
            </a:custGeom>
            <a:solidFill>
              <a:srgbClr val="29B5E8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42" name="Google Shape;4104;p99"/>
            <p:cNvSpPr/>
            <p:nvPr/>
          </p:nvSpPr>
          <p:spPr>
            <a:xfrm>
              <a:off x="5569068" y="5776593"/>
              <a:ext cx="68510" cy="157664"/>
            </a:xfrm>
            <a:custGeom>
              <a:avLst/>
              <a:gdLst/>
              <a:ahLst/>
              <a:cxnLst/>
              <a:rect l="l" t="t" r="r" b="b"/>
              <a:pathLst>
                <a:path w="68510" h="157664" extrusionOk="0">
                  <a:moveTo>
                    <a:pt x="48292" y="3454"/>
                  </a:moveTo>
                  <a:lnTo>
                    <a:pt x="3620" y="46793"/>
                  </a:lnTo>
                  <a:cubicBezTo>
                    <a:pt x="1333" y="49079"/>
                    <a:pt x="0" y="52127"/>
                    <a:pt x="0" y="55366"/>
                  </a:cubicBezTo>
                  <a:lnTo>
                    <a:pt x="0" y="145758"/>
                  </a:lnTo>
                  <a:cubicBezTo>
                    <a:pt x="0" y="152330"/>
                    <a:pt x="5334" y="157664"/>
                    <a:pt x="11906" y="157664"/>
                  </a:cubicBezTo>
                  <a:cubicBezTo>
                    <a:pt x="18479" y="157664"/>
                    <a:pt x="23813" y="152330"/>
                    <a:pt x="23813" y="145758"/>
                  </a:cubicBezTo>
                  <a:lnTo>
                    <a:pt x="23813" y="60414"/>
                  </a:lnTo>
                  <a:lnTo>
                    <a:pt x="64865" y="20504"/>
                  </a:lnTo>
                  <a:cubicBezTo>
                    <a:pt x="69628" y="15932"/>
                    <a:pt x="69723" y="8407"/>
                    <a:pt x="65151" y="3645"/>
                  </a:cubicBezTo>
                  <a:cubicBezTo>
                    <a:pt x="60579" y="-1118"/>
                    <a:pt x="53054" y="-1213"/>
                    <a:pt x="48292" y="3359"/>
                  </a:cubicBezTo>
                  <a:close/>
                </a:path>
              </a:pathLst>
            </a:custGeom>
            <a:solidFill>
              <a:srgbClr val="29B5E8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9144" name="TextBox 9143"/>
          <p:cNvSpPr txBox="1"/>
          <p:nvPr/>
        </p:nvSpPr>
        <p:spPr>
          <a:xfrm>
            <a:off x="960120" y="2761488"/>
            <a:ext cx="3383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11567F"/>
                </a:solidFill>
                <a:latin typeface="Arial"/>
              </a:rPr>
              <a:t>Daily time tick</a:t>
            </a:r>
          </a:p>
        </p:txBody>
      </p:sp>
      <p:sp>
        <p:nvSpPr>
          <p:cNvPr id="9145" name="TextBox 9144"/>
          <p:cNvSpPr txBox="1"/>
          <p:nvPr/>
        </p:nvSpPr>
        <p:spPr>
          <a:xfrm>
            <a:off x="576072" y="3081528"/>
            <a:ext cx="3767328" cy="52120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5B5B5B"/>
                </a:solidFill>
                <a:latin typeface="Arial"/>
              </a:rPr>
              <a:t>Date-based signals touch only customers crossing a threshold today</a:t>
            </a:r>
          </a:p>
        </p:txBody>
      </p:sp>
      <p:sp>
        <p:nvSpPr>
          <p:cNvPr id="9146" name="Rounded Rectangle 9145"/>
          <p:cNvSpPr/>
          <p:nvPr/>
        </p:nvSpPr>
        <p:spPr>
          <a:xfrm>
            <a:off x="4663440" y="2624328"/>
            <a:ext cx="4069080" cy="1069848"/>
          </a:xfrm>
          <a:prstGeom prst="roundRect">
            <a:avLst>
              <a:gd name="adj" fmla="val 8000"/>
            </a:avLst>
          </a:prstGeom>
          <a:solidFill>
            <a:srgbClr val="F4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pSp>
        <p:nvGrpSpPr>
          <p:cNvPr id="9143" name="Google Shape;4286;p99"/>
          <p:cNvGrpSpPr/>
          <p:nvPr/>
        </p:nvGrpSpPr>
        <p:grpSpPr>
          <a:xfrm>
            <a:off x="4809744" y="2750965"/>
            <a:ext cx="310896" cy="240501"/>
            <a:chOff x="1974786" y="319913"/>
            <a:chExt cx="519112" cy="401574"/>
          </a:xfrm>
        </p:grpSpPr>
        <p:sp>
          <p:nvSpPr>
            <p:cNvPr id="9144" name="Google Shape;4287;p99"/>
            <p:cNvSpPr/>
            <p:nvPr/>
          </p:nvSpPr>
          <p:spPr>
            <a:xfrm>
              <a:off x="1974786" y="319913"/>
              <a:ext cx="161067" cy="401574"/>
            </a:xfrm>
            <a:custGeom>
              <a:avLst/>
              <a:gdLst/>
              <a:ahLst/>
              <a:cxnLst/>
              <a:rect l="l" t="t" r="r" b="b"/>
              <a:pathLst>
                <a:path w="161067" h="401574" extrusionOk="0">
                  <a:moveTo>
                    <a:pt x="142018" y="363474"/>
                  </a:moveTo>
                  <a:lnTo>
                    <a:pt x="128207" y="363474"/>
                  </a:lnTo>
                  <a:cubicBezTo>
                    <a:pt x="107823" y="363474"/>
                    <a:pt x="91345" y="346901"/>
                    <a:pt x="91345" y="326612"/>
                  </a:cubicBezTo>
                  <a:lnTo>
                    <a:pt x="91345" y="269462"/>
                  </a:lnTo>
                  <a:cubicBezTo>
                    <a:pt x="91345" y="242316"/>
                    <a:pt x="79248" y="217456"/>
                    <a:pt x="59531" y="200787"/>
                  </a:cubicBezTo>
                  <a:cubicBezTo>
                    <a:pt x="79248" y="184118"/>
                    <a:pt x="91345" y="159258"/>
                    <a:pt x="91345" y="132112"/>
                  </a:cubicBezTo>
                  <a:lnTo>
                    <a:pt x="91345" y="74962"/>
                  </a:lnTo>
                  <a:cubicBezTo>
                    <a:pt x="91345" y="54578"/>
                    <a:pt x="107918" y="38100"/>
                    <a:pt x="128207" y="38100"/>
                  </a:cubicBezTo>
                  <a:lnTo>
                    <a:pt x="142018" y="38100"/>
                  </a:lnTo>
                  <a:cubicBezTo>
                    <a:pt x="152495" y="38100"/>
                    <a:pt x="161068" y="29528"/>
                    <a:pt x="161068" y="19050"/>
                  </a:cubicBezTo>
                  <a:cubicBezTo>
                    <a:pt x="161068" y="8572"/>
                    <a:pt x="152495" y="0"/>
                    <a:pt x="142018" y="0"/>
                  </a:cubicBezTo>
                  <a:lnTo>
                    <a:pt x="128207" y="0"/>
                  </a:lnTo>
                  <a:cubicBezTo>
                    <a:pt x="86868" y="0"/>
                    <a:pt x="53245" y="33623"/>
                    <a:pt x="53245" y="74962"/>
                  </a:cubicBezTo>
                  <a:lnTo>
                    <a:pt x="53245" y="132112"/>
                  </a:lnTo>
                  <a:cubicBezTo>
                    <a:pt x="53245" y="155829"/>
                    <a:pt x="37243" y="176403"/>
                    <a:pt x="14288" y="182309"/>
                  </a:cubicBezTo>
                  <a:cubicBezTo>
                    <a:pt x="5906" y="184499"/>
                    <a:pt x="0" y="192024"/>
                    <a:pt x="0" y="200787"/>
                  </a:cubicBezTo>
                  <a:cubicBezTo>
                    <a:pt x="0" y="209550"/>
                    <a:pt x="5906" y="217075"/>
                    <a:pt x="14288" y="219265"/>
                  </a:cubicBezTo>
                  <a:cubicBezTo>
                    <a:pt x="37243" y="225171"/>
                    <a:pt x="53245" y="245840"/>
                    <a:pt x="53245" y="269462"/>
                  </a:cubicBezTo>
                  <a:lnTo>
                    <a:pt x="53245" y="326612"/>
                  </a:lnTo>
                  <a:cubicBezTo>
                    <a:pt x="53245" y="367951"/>
                    <a:pt x="86868" y="401574"/>
                    <a:pt x="128207" y="401574"/>
                  </a:cubicBezTo>
                  <a:lnTo>
                    <a:pt x="142018" y="401574"/>
                  </a:lnTo>
                  <a:cubicBezTo>
                    <a:pt x="152495" y="401574"/>
                    <a:pt x="161068" y="393002"/>
                    <a:pt x="161068" y="382524"/>
                  </a:cubicBezTo>
                  <a:cubicBezTo>
                    <a:pt x="161068" y="372047"/>
                    <a:pt x="152495" y="363474"/>
                    <a:pt x="142018" y="363474"/>
                  </a:cubicBezTo>
                  <a:close/>
                </a:path>
              </a:pathLst>
            </a:custGeom>
            <a:solidFill>
              <a:srgbClr val="29B5E8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45" name="Google Shape;4288;p99"/>
            <p:cNvSpPr/>
            <p:nvPr/>
          </p:nvSpPr>
          <p:spPr>
            <a:xfrm>
              <a:off x="2332831" y="319913"/>
              <a:ext cx="161067" cy="401574"/>
            </a:xfrm>
            <a:custGeom>
              <a:avLst/>
              <a:gdLst/>
              <a:ahLst/>
              <a:cxnLst/>
              <a:rect l="l" t="t" r="r" b="b"/>
              <a:pathLst>
                <a:path w="161067" h="401574" extrusionOk="0">
                  <a:moveTo>
                    <a:pt x="146780" y="182309"/>
                  </a:moveTo>
                  <a:cubicBezTo>
                    <a:pt x="123825" y="176403"/>
                    <a:pt x="107823" y="155734"/>
                    <a:pt x="107823" y="132112"/>
                  </a:cubicBezTo>
                  <a:lnTo>
                    <a:pt x="107823" y="74962"/>
                  </a:lnTo>
                  <a:cubicBezTo>
                    <a:pt x="107823" y="33623"/>
                    <a:pt x="74200" y="0"/>
                    <a:pt x="32861" y="0"/>
                  </a:cubicBezTo>
                  <a:lnTo>
                    <a:pt x="19050" y="0"/>
                  </a:lnTo>
                  <a:cubicBezTo>
                    <a:pt x="8573" y="0"/>
                    <a:pt x="0" y="8572"/>
                    <a:pt x="0" y="19050"/>
                  </a:cubicBezTo>
                  <a:cubicBezTo>
                    <a:pt x="0" y="29528"/>
                    <a:pt x="8573" y="38100"/>
                    <a:pt x="19050" y="38100"/>
                  </a:cubicBezTo>
                  <a:lnTo>
                    <a:pt x="32861" y="38100"/>
                  </a:lnTo>
                  <a:cubicBezTo>
                    <a:pt x="53245" y="38100"/>
                    <a:pt x="69723" y="54673"/>
                    <a:pt x="69723" y="74962"/>
                  </a:cubicBezTo>
                  <a:lnTo>
                    <a:pt x="69723" y="132112"/>
                  </a:lnTo>
                  <a:cubicBezTo>
                    <a:pt x="69723" y="159258"/>
                    <a:pt x="81820" y="184118"/>
                    <a:pt x="101537" y="200787"/>
                  </a:cubicBezTo>
                  <a:cubicBezTo>
                    <a:pt x="81820" y="217456"/>
                    <a:pt x="69723" y="242316"/>
                    <a:pt x="69723" y="269462"/>
                  </a:cubicBezTo>
                  <a:lnTo>
                    <a:pt x="69723" y="326612"/>
                  </a:lnTo>
                  <a:cubicBezTo>
                    <a:pt x="69723" y="346996"/>
                    <a:pt x="53150" y="363474"/>
                    <a:pt x="32861" y="363474"/>
                  </a:cubicBezTo>
                  <a:lnTo>
                    <a:pt x="19050" y="363474"/>
                  </a:lnTo>
                  <a:cubicBezTo>
                    <a:pt x="8573" y="363474"/>
                    <a:pt x="0" y="372047"/>
                    <a:pt x="0" y="382524"/>
                  </a:cubicBezTo>
                  <a:cubicBezTo>
                    <a:pt x="0" y="393002"/>
                    <a:pt x="8573" y="401574"/>
                    <a:pt x="19050" y="401574"/>
                  </a:cubicBezTo>
                  <a:lnTo>
                    <a:pt x="32861" y="401574"/>
                  </a:lnTo>
                  <a:cubicBezTo>
                    <a:pt x="74200" y="401574"/>
                    <a:pt x="107823" y="367951"/>
                    <a:pt x="107823" y="326612"/>
                  </a:cubicBezTo>
                  <a:lnTo>
                    <a:pt x="107823" y="269462"/>
                  </a:lnTo>
                  <a:cubicBezTo>
                    <a:pt x="107823" y="245745"/>
                    <a:pt x="123825" y="225171"/>
                    <a:pt x="146780" y="219265"/>
                  </a:cubicBezTo>
                  <a:cubicBezTo>
                    <a:pt x="155162" y="217075"/>
                    <a:pt x="161068" y="209550"/>
                    <a:pt x="161068" y="200787"/>
                  </a:cubicBezTo>
                  <a:cubicBezTo>
                    <a:pt x="161068" y="192024"/>
                    <a:pt x="155162" y="184499"/>
                    <a:pt x="146780" y="182309"/>
                  </a:cubicBezTo>
                  <a:close/>
                </a:path>
              </a:pathLst>
            </a:custGeom>
            <a:solidFill>
              <a:srgbClr val="29B5E8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46" name="Google Shape;4289;p99"/>
            <p:cNvSpPr/>
            <p:nvPr/>
          </p:nvSpPr>
          <p:spPr>
            <a:xfrm>
              <a:off x="2105945" y="488981"/>
              <a:ext cx="64389" cy="64389"/>
            </a:xfrm>
            <a:custGeom>
              <a:avLst/>
              <a:gdLst/>
              <a:ahLst/>
              <a:cxnLst/>
              <a:rect l="l" t="t" r="r" b="b"/>
              <a:pathLst>
                <a:path w="64389" h="64389" extrusionOk="0">
                  <a:moveTo>
                    <a:pt x="32194" y="0"/>
                  </a:moveTo>
                  <a:cubicBezTo>
                    <a:pt x="14383" y="0"/>
                    <a:pt x="0" y="14383"/>
                    <a:pt x="0" y="32194"/>
                  </a:cubicBezTo>
                  <a:cubicBezTo>
                    <a:pt x="0" y="50006"/>
                    <a:pt x="14383" y="64389"/>
                    <a:pt x="32194" y="64389"/>
                  </a:cubicBezTo>
                  <a:cubicBezTo>
                    <a:pt x="50006" y="64389"/>
                    <a:pt x="64389" y="50006"/>
                    <a:pt x="64389" y="32194"/>
                  </a:cubicBezTo>
                  <a:cubicBezTo>
                    <a:pt x="64389" y="14383"/>
                    <a:pt x="50006" y="0"/>
                    <a:pt x="32194" y="0"/>
                  </a:cubicBezTo>
                  <a:close/>
                </a:path>
              </a:pathLst>
            </a:custGeom>
            <a:solidFill>
              <a:srgbClr val="29B5E8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47" name="Google Shape;4290;p99"/>
            <p:cNvSpPr/>
            <p:nvPr/>
          </p:nvSpPr>
          <p:spPr>
            <a:xfrm>
              <a:off x="2202719" y="488981"/>
              <a:ext cx="64388" cy="64389"/>
            </a:xfrm>
            <a:custGeom>
              <a:avLst/>
              <a:gdLst/>
              <a:ahLst/>
              <a:cxnLst/>
              <a:rect l="l" t="t" r="r" b="b"/>
              <a:pathLst>
                <a:path w="64388" h="64389" extrusionOk="0">
                  <a:moveTo>
                    <a:pt x="32194" y="0"/>
                  </a:moveTo>
                  <a:cubicBezTo>
                    <a:pt x="14383" y="0"/>
                    <a:pt x="0" y="14383"/>
                    <a:pt x="0" y="32194"/>
                  </a:cubicBezTo>
                  <a:cubicBezTo>
                    <a:pt x="0" y="50006"/>
                    <a:pt x="14383" y="64389"/>
                    <a:pt x="32194" y="64389"/>
                  </a:cubicBezTo>
                  <a:cubicBezTo>
                    <a:pt x="50006" y="64389"/>
                    <a:pt x="64389" y="50006"/>
                    <a:pt x="64389" y="32194"/>
                  </a:cubicBezTo>
                  <a:cubicBezTo>
                    <a:pt x="64389" y="14383"/>
                    <a:pt x="50006" y="0"/>
                    <a:pt x="32194" y="0"/>
                  </a:cubicBezTo>
                  <a:close/>
                </a:path>
              </a:pathLst>
            </a:custGeom>
            <a:solidFill>
              <a:srgbClr val="29B5E8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48" name="Google Shape;4291;p99"/>
            <p:cNvSpPr/>
            <p:nvPr/>
          </p:nvSpPr>
          <p:spPr>
            <a:xfrm>
              <a:off x="2299588" y="488981"/>
              <a:ext cx="64389" cy="64389"/>
            </a:xfrm>
            <a:custGeom>
              <a:avLst/>
              <a:gdLst/>
              <a:ahLst/>
              <a:cxnLst/>
              <a:rect l="l" t="t" r="r" b="b"/>
              <a:pathLst>
                <a:path w="64389" h="64389" extrusionOk="0">
                  <a:moveTo>
                    <a:pt x="64389" y="32194"/>
                  </a:moveTo>
                  <a:cubicBezTo>
                    <a:pt x="64389" y="14383"/>
                    <a:pt x="50006" y="0"/>
                    <a:pt x="32195" y="0"/>
                  </a:cubicBezTo>
                  <a:cubicBezTo>
                    <a:pt x="14383" y="0"/>
                    <a:pt x="0" y="14383"/>
                    <a:pt x="0" y="32194"/>
                  </a:cubicBezTo>
                  <a:cubicBezTo>
                    <a:pt x="0" y="50006"/>
                    <a:pt x="14383" y="64389"/>
                    <a:pt x="32195" y="64389"/>
                  </a:cubicBezTo>
                  <a:cubicBezTo>
                    <a:pt x="50006" y="64389"/>
                    <a:pt x="64389" y="50006"/>
                    <a:pt x="64389" y="32194"/>
                  </a:cubicBezTo>
                  <a:close/>
                </a:path>
              </a:pathLst>
            </a:custGeom>
            <a:solidFill>
              <a:srgbClr val="29B5E8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9149" name="TextBox 9148"/>
          <p:cNvSpPr txBox="1"/>
          <p:nvPr/>
        </p:nvSpPr>
        <p:spPr>
          <a:xfrm>
            <a:off x="5212080" y="2761488"/>
            <a:ext cx="3383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11567F"/>
                </a:solidFill>
                <a:latin typeface="Arial"/>
              </a:rPr>
              <a:t>Signal fingerprints</a:t>
            </a:r>
          </a:p>
        </p:txBody>
      </p:sp>
      <p:sp>
        <p:nvSpPr>
          <p:cNvPr id="9150" name="TextBox 9149"/>
          <p:cNvSpPr txBox="1"/>
          <p:nvPr/>
        </p:nvSpPr>
        <p:spPr>
          <a:xfrm>
            <a:off x="4828032" y="3081528"/>
            <a:ext cx="3767328" cy="52120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5B5B5B"/>
                </a:solidFill>
                <a:latin typeface="Arial"/>
              </a:rPr>
              <a:t>Customers whose signals didn't change are skipped</a:t>
            </a:r>
          </a:p>
        </p:txBody>
      </p:sp>
      <p:sp>
        <p:nvSpPr>
          <p:cNvPr id="9151" name="Rounded Rectangle 9150"/>
          <p:cNvSpPr/>
          <p:nvPr/>
        </p:nvSpPr>
        <p:spPr>
          <a:xfrm>
            <a:off x="411480" y="3931920"/>
            <a:ext cx="8321040" cy="822960"/>
          </a:xfrm>
          <a:prstGeom prst="roundRect">
            <a:avLst>
              <a:gd name="adj" fmla="val 8000"/>
            </a:avLst>
          </a:prstGeom>
          <a:solidFill>
            <a:srgbClr val="DDF2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52" name="TextBox 9151"/>
          <p:cNvSpPr txBox="1"/>
          <p:nvPr/>
        </p:nvSpPr>
        <p:spPr>
          <a:xfrm>
            <a:off x="640080" y="3931920"/>
            <a:ext cx="786384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50" b="1" i="0">
                <a:solidFill>
                  <a:srgbClr val="252525"/>
                </a:solidFill>
                <a:latin typeface="Arial"/>
              </a:rPr>
              <a:t>AI cost grows with new conversations.  </a:t>
            </a:r>
            <a:r>
              <a:rPr sz="1250" b="0" i="0">
                <a:solidFill>
                  <a:srgbClr val="252525"/>
                </a:solidFill>
                <a:latin typeface="Arial"/>
              </a:rPr>
              <a:t>Rule cost grows with changed customers, and time-based signals with threshold crossings.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40080"/>
            <a:ext cx="91440" cy="329184"/>
          </a:xfrm>
          <a:prstGeom prst="rect">
            <a:avLst/>
          </a:prstGeom>
          <a:solidFill>
            <a:srgbClr val="29B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603504"/>
            <a:ext cx="832104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 i="0">
                <a:solidFill>
                  <a:srgbClr val="000000"/>
                </a:solidFill>
                <a:latin typeface="Arial"/>
              </a:rPr>
              <a:t>Beyond the demo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987552"/>
            <a:ext cx="8321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5B5B5B"/>
                </a:solidFill>
                <a:latin typeface="Arial"/>
              </a:rPr>
              <a:t>Each step builds on the platform as it is. Estimates assume one engineer.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" y="1371600"/>
            <a:ext cx="8321040" cy="603504"/>
          </a:xfrm>
          <a:prstGeom prst="roundRect">
            <a:avLst>
              <a:gd name="adj" fmla="val 8000"/>
            </a:avLst>
          </a:prstGeom>
          <a:solidFill>
            <a:srgbClr val="F4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pSp>
        <p:nvGrpSpPr>
          <p:cNvPr id="9149" name="Google Shape;3974;p98"/>
          <p:cNvGrpSpPr/>
          <p:nvPr/>
        </p:nvGrpSpPr>
        <p:grpSpPr>
          <a:xfrm>
            <a:off x="530352" y="1509025"/>
            <a:ext cx="329184" cy="328654"/>
            <a:chOff x="10254562" y="4953267"/>
            <a:chExt cx="533495" cy="532637"/>
          </a:xfrm>
        </p:grpSpPr>
        <p:sp>
          <p:nvSpPr>
            <p:cNvPr id="9150" name="Google Shape;3975;p98"/>
            <p:cNvSpPr/>
            <p:nvPr/>
          </p:nvSpPr>
          <p:spPr>
            <a:xfrm>
              <a:off x="10254562" y="4953267"/>
              <a:ext cx="533495" cy="532637"/>
            </a:xfrm>
            <a:custGeom>
              <a:avLst/>
              <a:gdLst/>
              <a:ahLst/>
              <a:cxnLst/>
              <a:rect l="l" t="t" r="r" b="b"/>
              <a:pathLst>
                <a:path w="533495" h="532637" extrusionOk="0">
                  <a:moveTo>
                    <a:pt x="519494" y="204216"/>
                  </a:moveTo>
                  <a:cubicBezTo>
                    <a:pt x="519494" y="204216"/>
                    <a:pt x="519398" y="204121"/>
                    <a:pt x="519303" y="204026"/>
                  </a:cubicBezTo>
                  <a:lnTo>
                    <a:pt x="328994" y="14383"/>
                  </a:lnTo>
                  <a:cubicBezTo>
                    <a:pt x="320993" y="6001"/>
                    <a:pt x="306515" y="0"/>
                    <a:pt x="294704" y="0"/>
                  </a:cubicBezTo>
                  <a:lnTo>
                    <a:pt x="238697" y="0"/>
                  </a:lnTo>
                  <a:cubicBezTo>
                    <a:pt x="226886" y="0"/>
                    <a:pt x="212408" y="6096"/>
                    <a:pt x="204597" y="14192"/>
                  </a:cubicBezTo>
                  <a:lnTo>
                    <a:pt x="13907" y="204216"/>
                  </a:lnTo>
                  <a:cubicBezTo>
                    <a:pt x="5810" y="212503"/>
                    <a:pt x="0" y="226790"/>
                    <a:pt x="0" y="238316"/>
                  </a:cubicBezTo>
                  <a:lnTo>
                    <a:pt x="0" y="294323"/>
                  </a:lnTo>
                  <a:cubicBezTo>
                    <a:pt x="0" y="305848"/>
                    <a:pt x="5905" y="320135"/>
                    <a:pt x="14097" y="328327"/>
                  </a:cubicBezTo>
                  <a:lnTo>
                    <a:pt x="204502" y="518160"/>
                  </a:lnTo>
                  <a:cubicBezTo>
                    <a:pt x="212789" y="526542"/>
                    <a:pt x="227171" y="532638"/>
                    <a:pt x="238792" y="532638"/>
                  </a:cubicBezTo>
                  <a:lnTo>
                    <a:pt x="294799" y="532638"/>
                  </a:lnTo>
                  <a:cubicBezTo>
                    <a:pt x="306419" y="532638"/>
                    <a:pt x="320802" y="526542"/>
                    <a:pt x="328898" y="518255"/>
                  </a:cubicBezTo>
                  <a:lnTo>
                    <a:pt x="519494" y="328232"/>
                  </a:lnTo>
                  <a:cubicBezTo>
                    <a:pt x="527590" y="320040"/>
                    <a:pt x="533495" y="305848"/>
                    <a:pt x="533495" y="294323"/>
                  </a:cubicBezTo>
                  <a:lnTo>
                    <a:pt x="533495" y="238220"/>
                  </a:lnTo>
                  <a:cubicBezTo>
                    <a:pt x="533495" y="226695"/>
                    <a:pt x="527685" y="212408"/>
                    <a:pt x="519589" y="204121"/>
                  </a:cubicBezTo>
                  <a:close/>
                  <a:moveTo>
                    <a:pt x="504444" y="294323"/>
                  </a:moveTo>
                  <a:cubicBezTo>
                    <a:pt x="504444" y="298037"/>
                    <a:pt x="501491" y="305181"/>
                    <a:pt x="498920" y="307753"/>
                  </a:cubicBezTo>
                  <a:lnTo>
                    <a:pt x="308324" y="497777"/>
                  </a:lnTo>
                  <a:cubicBezTo>
                    <a:pt x="305467" y="500634"/>
                    <a:pt x="298609" y="503587"/>
                    <a:pt x="294704" y="503587"/>
                  </a:cubicBezTo>
                  <a:lnTo>
                    <a:pt x="238697" y="503587"/>
                  </a:lnTo>
                  <a:cubicBezTo>
                    <a:pt x="234887" y="503587"/>
                    <a:pt x="227838" y="500634"/>
                    <a:pt x="224981" y="497681"/>
                  </a:cubicBezTo>
                  <a:lnTo>
                    <a:pt x="34481" y="307753"/>
                  </a:lnTo>
                  <a:cubicBezTo>
                    <a:pt x="31814" y="305086"/>
                    <a:pt x="28861" y="298037"/>
                    <a:pt x="28861" y="294227"/>
                  </a:cubicBezTo>
                  <a:lnTo>
                    <a:pt x="28861" y="238316"/>
                  </a:lnTo>
                  <a:cubicBezTo>
                    <a:pt x="28861" y="234410"/>
                    <a:pt x="31814" y="227267"/>
                    <a:pt x="34385" y="224600"/>
                  </a:cubicBezTo>
                  <a:lnTo>
                    <a:pt x="225171" y="34481"/>
                  </a:lnTo>
                  <a:cubicBezTo>
                    <a:pt x="227743" y="31813"/>
                    <a:pt x="234791" y="28861"/>
                    <a:pt x="238697" y="28861"/>
                  </a:cubicBezTo>
                  <a:lnTo>
                    <a:pt x="294704" y="28861"/>
                  </a:lnTo>
                  <a:cubicBezTo>
                    <a:pt x="298704" y="28861"/>
                    <a:pt x="305657" y="31718"/>
                    <a:pt x="308420" y="34576"/>
                  </a:cubicBezTo>
                  <a:lnTo>
                    <a:pt x="498824" y="224314"/>
                  </a:lnTo>
                  <a:cubicBezTo>
                    <a:pt x="501587" y="227171"/>
                    <a:pt x="504444" y="234220"/>
                    <a:pt x="504444" y="238125"/>
                  </a:cubicBezTo>
                  <a:lnTo>
                    <a:pt x="504444" y="294132"/>
                  </a:lnTo>
                  <a:close/>
                </a:path>
              </a:pathLst>
            </a:custGeom>
            <a:solidFill>
              <a:srgbClr val="29B5E8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51" name="Google Shape;3976;p98"/>
            <p:cNvSpPr/>
            <p:nvPr/>
          </p:nvSpPr>
          <p:spPr>
            <a:xfrm>
              <a:off x="10350782" y="5071472"/>
              <a:ext cx="310003" cy="295655"/>
            </a:xfrm>
            <a:custGeom>
              <a:avLst/>
              <a:gdLst/>
              <a:ahLst/>
              <a:cxnLst/>
              <a:rect l="l" t="t" r="r" b="b"/>
              <a:pathLst>
                <a:path w="310003" h="295655" extrusionOk="0">
                  <a:moveTo>
                    <a:pt x="254776" y="0"/>
                  </a:moveTo>
                  <a:cubicBezTo>
                    <a:pt x="240679" y="667"/>
                    <a:pt x="227725" y="6858"/>
                    <a:pt x="218296" y="17240"/>
                  </a:cubicBezTo>
                  <a:cubicBezTo>
                    <a:pt x="208866" y="27622"/>
                    <a:pt x="204008" y="41148"/>
                    <a:pt x="204770" y="55245"/>
                  </a:cubicBezTo>
                  <a:cubicBezTo>
                    <a:pt x="205342" y="67437"/>
                    <a:pt x="210295" y="78677"/>
                    <a:pt x="218296" y="87630"/>
                  </a:cubicBezTo>
                  <a:lnTo>
                    <a:pt x="204199" y="105251"/>
                  </a:lnTo>
                  <a:cubicBezTo>
                    <a:pt x="196102" y="100965"/>
                    <a:pt x="187054" y="98298"/>
                    <a:pt x="177243" y="98298"/>
                  </a:cubicBezTo>
                  <a:cubicBezTo>
                    <a:pt x="168194" y="98298"/>
                    <a:pt x="159812" y="100489"/>
                    <a:pt x="152097" y="104204"/>
                  </a:cubicBezTo>
                  <a:lnTo>
                    <a:pt x="124760" y="71819"/>
                  </a:lnTo>
                  <a:cubicBezTo>
                    <a:pt x="129332" y="65246"/>
                    <a:pt x="131999" y="57245"/>
                    <a:pt x="131999" y="48673"/>
                  </a:cubicBezTo>
                  <a:cubicBezTo>
                    <a:pt x="131999" y="26194"/>
                    <a:pt x="113711" y="7810"/>
                    <a:pt x="91137" y="7810"/>
                  </a:cubicBezTo>
                  <a:cubicBezTo>
                    <a:pt x="68563" y="7810"/>
                    <a:pt x="50275" y="26098"/>
                    <a:pt x="50275" y="48673"/>
                  </a:cubicBezTo>
                  <a:cubicBezTo>
                    <a:pt x="50275" y="71247"/>
                    <a:pt x="68658" y="89535"/>
                    <a:pt x="91137" y="89535"/>
                  </a:cubicBezTo>
                  <a:cubicBezTo>
                    <a:pt x="94471" y="89535"/>
                    <a:pt x="97614" y="89059"/>
                    <a:pt x="100662" y="88297"/>
                  </a:cubicBezTo>
                  <a:lnTo>
                    <a:pt x="129713" y="122777"/>
                  </a:lnTo>
                  <a:cubicBezTo>
                    <a:pt x="122950" y="132302"/>
                    <a:pt x="118855" y="143828"/>
                    <a:pt x="118855" y="156401"/>
                  </a:cubicBezTo>
                  <a:cubicBezTo>
                    <a:pt x="118855" y="157925"/>
                    <a:pt x="119140" y="159353"/>
                    <a:pt x="119331" y="160877"/>
                  </a:cubicBezTo>
                  <a:lnTo>
                    <a:pt x="98281" y="164497"/>
                  </a:lnTo>
                  <a:cubicBezTo>
                    <a:pt x="95614" y="159734"/>
                    <a:pt x="92280" y="155353"/>
                    <a:pt x="88089" y="151543"/>
                  </a:cubicBezTo>
                  <a:cubicBezTo>
                    <a:pt x="77707" y="142113"/>
                    <a:pt x="64181" y="137255"/>
                    <a:pt x="50084" y="138017"/>
                  </a:cubicBezTo>
                  <a:cubicBezTo>
                    <a:pt x="35987" y="138684"/>
                    <a:pt x="23033" y="144875"/>
                    <a:pt x="13603" y="155258"/>
                  </a:cubicBezTo>
                  <a:cubicBezTo>
                    <a:pt x="4174" y="165640"/>
                    <a:pt x="-684" y="179165"/>
                    <a:pt x="78" y="193262"/>
                  </a:cubicBezTo>
                  <a:cubicBezTo>
                    <a:pt x="1507" y="221456"/>
                    <a:pt x="24843" y="243364"/>
                    <a:pt x="52751" y="243364"/>
                  </a:cubicBezTo>
                  <a:cubicBezTo>
                    <a:pt x="53608" y="243364"/>
                    <a:pt x="54466" y="243364"/>
                    <a:pt x="55418" y="243364"/>
                  </a:cubicBezTo>
                  <a:cubicBezTo>
                    <a:pt x="69515" y="242697"/>
                    <a:pt x="82469" y="236506"/>
                    <a:pt x="91899" y="226124"/>
                  </a:cubicBezTo>
                  <a:cubicBezTo>
                    <a:pt x="100281" y="216884"/>
                    <a:pt x="104853" y="205073"/>
                    <a:pt x="105234" y="192786"/>
                  </a:cubicBezTo>
                  <a:lnTo>
                    <a:pt x="128665" y="188690"/>
                  </a:lnTo>
                  <a:cubicBezTo>
                    <a:pt x="139048" y="204311"/>
                    <a:pt x="156859" y="214598"/>
                    <a:pt x="177052" y="214598"/>
                  </a:cubicBezTo>
                  <a:cubicBezTo>
                    <a:pt x="184577" y="214598"/>
                    <a:pt x="191626" y="213074"/>
                    <a:pt x="198293" y="210503"/>
                  </a:cubicBezTo>
                  <a:lnTo>
                    <a:pt x="213724" y="231362"/>
                  </a:lnTo>
                  <a:cubicBezTo>
                    <a:pt x="209056" y="238030"/>
                    <a:pt x="206199" y="246031"/>
                    <a:pt x="206199" y="254794"/>
                  </a:cubicBezTo>
                  <a:cubicBezTo>
                    <a:pt x="206199" y="277273"/>
                    <a:pt x="224487" y="295656"/>
                    <a:pt x="247061" y="295656"/>
                  </a:cubicBezTo>
                  <a:cubicBezTo>
                    <a:pt x="269635" y="295656"/>
                    <a:pt x="287923" y="277368"/>
                    <a:pt x="287923" y="254794"/>
                  </a:cubicBezTo>
                  <a:cubicBezTo>
                    <a:pt x="287923" y="232219"/>
                    <a:pt x="269540" y="213932"/>
                    <a:pt x="247061" y="213932"/>
                  </a:cubicBezTo>
                  <a:cubicBezTo>
                    <a:pt x="243823" y="213932"/>
                    <a:pt x="240679" y="214408"/>
                    <a:pt x="237631" y="215170"/>
                  </a:cubicBezTo>
                  <a:lnTo>
                    <a:pt x="221534" y="193548"/>
                  </a:lnTo>
                  <a:cubicBezTo>
                    <a:pt x="229916" y="183452"/>
                    <a:pt x="235155" y="170688"/>
                    <a:pt x="235155" y="156591"/>
                  </a:cubicBezTo>
                  <a:cubicBezTo>
                    <a:pt x="235155" y="144780"/>
                    <a:pt x="231535" y="133922"/>
                    <a:pt x="225535" y="124682"/>
                  </a:cubicBezTo>
                  <a:lnTo>
                    <a:pt x="242775" y="103156"/>
                  </a:lnTo>
                  <a:cubicBezTo>
                    <a:pt x="247442" y="104489"/>
                    <a:pt x="252205" y="105347"/>
                    <a:pt x="257253" y="105347"/>
                  </a:cubicBezTo>
                  <a:cubicBezTo>
                    <a:pt x="258110" y="105347"/>
                    <a:pt x="259063" y="105347"/>
                    <a:pt x="259920" y="105347"/>
                  </a:cubicBezTo>
                  <a:cubicBezTo>
                    <a:pt x="274017" y="104680"/>
                    <a:pt x="286971" y="98489"/>
                    <a:pt x="296401" y="88106"/>
                  </a:cubicBezTo>
                  <a:cubicBezTo>
                    <a:pt x="305830" y="77724"/>
                    <a:pt x="310688" y="64198"/>
                    <a:pt x="309926" y="50102"/>
                  </a:cubicBezTo>
                  <a:lnTo>
                    <a:pt x="309926" y="50102"/>
                  </a:lnTo>
                  <a:cubicBezTo>
                    <a:pt x="308402" y="21050"/>
                    <a:pt x="283637" y="-1524"/>
                    <a:pt x="254586" y="95"/>
                  </a:cubicBezTo>
                  <a:close/>
                  <a:moveTo>
                    <a:pt x="79326" y="48768"/>
                  </a:moveTo>
                  <a:cubicBezTo>
                    <a:pt x="79326" y="42196"/>
                    <a:pt x="84660" y="36862"/>
                    <a:pt x="91232" y="36862"/>
                  </a:cubicBezTo>
                  <a:cubicBezTo>
                    <a:pt x="97804" y="36862"/>
                    <a:pt x="103138" y="42196"/>
                    <a:pt x="103138" y="48768"/>
                  </a:cubicBezTo>
                  <a:cubicBezTo>
                    <a:pt x="103138" y="51149"/>
                    <a:pt x="102281" y="53245"/>
                    <a:pt x="101043" y="55055"/>
                  </a:cubicBezTo>
                  <a:cubicBezTo>
                    <a:pt x="98566" y="55531"/>
                    <a:pt x="96090" y="56293"/>
                    <a:pt x="93994" y="58007"/>
                  </a:cubicBezTo>
                  <a:cubicBezTo>
                    <a:pt x="93137" y="58674"/>
                    <a:pt x="92661" y="59627"/>
                    <a:pt x="91994" y="60484"/>
                  </a:cubicBezTo>
                  <a:cubicBezTo>
                    <a:pt x="91708" y="60484"/>
                    <a:pt x="91423" y="60674"/>
                    <a:pt x="91042" y="60674"/>
                  </a:cubicBezTo>
                  <a:cubicBezTo>
                    <a:pt x="84374" y="60674"/>
                    <a:pt x="79135" y="55340"/>
                    <a:pt x="79135" y="48768"/>
                  </a:cubicBezTo>
                  <a:close/>
                  <a:moveTo>
                    <a:pt x="76754" y="189548"/>
                  </a:moveTo>
                  <a:cubicBezTo>
                    <a:pt x="77040" y="195929"/>
                    <a:pt x="74944" y="201930"/>
                    <a:pt x="70658" y="206692"/>
                  </a:cubicBezTo>
                  <a:cubicBezTo>
                    <a:pt x="66372" y="211455"/>
                    <a:pt x="60562" y="214217"/>
                    <a:pt x="54180" y="214503"/>
                  </a:cubicBezTo>
                  <a:cubicBezTo>
                    <a:pt x="41035" y="214979"/>
                    <a:pt x="29891" y="204978"/>
                    <a:pt x="29224" y="191834"/>
                  </a:cubicBezTo>
                  <a:cubicBezTo>
                    <a:pt x="28939" y="185452"/>
                    <a:pt x="31034" y="179451"/>
                    <a:pt x="35320" y="174689"/>
                  </a:cubicBezTo>
                  <a:cubicBezTo>
                    <a:pt x="39607" y="169926"/>
                    <a:pt x="45512" y="167164"/>
                    <a:pt x="51799" y="166878"/>
                  </a:cubicBezTo>
                  <a:cubicBezTo>
                    <a:pt x="52275" y="166878"/>
                    <a:pt x="52656" y="166878"/>
                    <a:pt x="53037" y="166878"/>
                  </a:cubicBezTo>
                  <a:cubicBezTo>
                    <a:pt x="58942" y="166878"/>
                    <a:pt x="64562" y="169069"/>
                    <a:pt x="69039" y="173069"/>
                  </a:cubicBezTo>
                  <a:cubicBezTo>
                    <a:pt x="73706" y="177356"/>
                    <a:pt x="76468" y="183261"/>
                    <a:pt x="76754" y="189548"/>
                  </a:cubicBezTo>
                  <a:lnTo>
                    <a:pt x="76754" y="189548"/>
                  </a:lnTo>
                  <a:close/>
                  <a:moveTo>
                    <a:pt x="148001" y="156496"/>
                  </a:moveTo>
                  <a:cubicBezTo>
                    <a:pt x="148001" y="140399"/>
                    <a:pt x="161050" y="127254"/>
                    <a:pt x="177243" y="127254"/>
                  </a:cubicBezTo>
                  <a:cubicBezTo>
                    <a:pt x="193435" y="127254"/>
                    <a:pt x="206485" y="140303"/>
                    <a:pt x="206485" y="156496"/>
                  </a:cubicBezTo>
                  <a:cubicBezTo>
                    <a:pt x="206485" y="172688"/>
                    <a:pt x="193340" y="185738"/>
                    <a:pt x="177243" y="185738"/>
                  </a:cubicBezTo>
                  <a:cubicBezTo>
                    <a:pt x="161146" y="185738"/>
                    <a:pt x="148001" y="172688"/>
                    <a:pt x="148001" y="156496"/>
                  </a:cubicBezTo>
                  <a:close/>
                  <a:moveTo>
                    <a:pt x="259158" y="254699"/>
                  </a:moveTo>
                  <a:cubicBezTo>
                    <a:pt x="259158" y="261271"/>
                    <a:pt x="253824" y="266605"/>
                    <a:pt x="247252" y="266605"/>
                  </a:cubicBezTo>
                  <a:cubicBezTo>
                    <a:pt x="240679" y="266605"/>
                    <a:pt x="235345" y="261271"/>
                    <a:pt x="235345" y="254699"/>
                  </a:cubicBezTo>
                  <a:cubicBezTo>
                    <a:pt x="235345" y="248126"/>
                    <a:pt x="240679" y="242792"/>
                    <a:pt x="247252" y="242792"/>
                  </a:cubicBezTo>
                  <a:cubicBezTo>
                    <a:pt x="253824" y="242792"/>
                    <a:pt x="259158" y="248126"/>
                    <a:pt x="259158" y="254699"/>
                  </a:cubicBezTo>
                  <a:close/>
                  <a:moveTo>
                    <a:pt x="275065" y="68580"/>
                  </a:moveTo>
                  <a:cubicBezTo>
                    <a:pt x="270778" y="73343"/>
                    <a:pt x="264873" y="76105"/>
                    <a:pt x="258586" y="76391"/>
                  </a:cubicBezTo>
                  <a:cubicBezTo>
                    <a:pt x="252109" y="76676"/>
                    <a:pt x="246204" y="74486"/>
                    <a:pt x="241441" y="70295"/>
                  </a:cubicBezTo>
                  <a:cubicBezTo>
                    <a:pt x="236679" y="66008"/>
                    <a:pt x="233917" y="60198"/>
                    <a:pt x="233631" y="53816"/>
                  </a:cubicBezTo>
                  <a:cubicBezTo>
                    <a:pt x="233345" y="47435"/>
                    <a:pt x="235441" y="41339"/>
                    <a:pt x="239727" y="36671"/>
                  </a:cubicBezTo>
                  <a:cubicBezTo>
                    <a:pt x="244013" y="31909"/>
                    <a:pt x="249823" y="29147"/>
                    <a:pt x="256205" y="28861"/>
                  </a:cubicBezTo>
                  <a:cubicBezTo>
                    <a:pt x="256586" y="28861"/>
                    <a:pt x="257062" y="28861"/>
                    <a:pt x="257443" y="28861"/>
                  </a:cubicBezTo>
                  <a:cubicBezTo>
                    <a:pt x="270016" y="28861"/>
                    <a:pt x="280589" y="38767"/>
                    <a:pt x="281256" y="51530"/>
                  </a:cubicBezTo>
                  <a:cubicBezTo>
                    <a:pt x="281542" y="57912"/>
                    <a:pt x="279446" y="64008"/>
                    <a:pt x="275160" y="68675"/>
                  </a:cubicBezTo>
                  <a:close/>
                </a:path>
              </a:pathLst>
            </a:custGeom>
            <a:solidFill>
              <a:srgbClr val="29B5E8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9152" name="TextBox 9151"/>
          <p:cNvSpPr txBox="1"/>
          <p:nvPr/>
        </p:nvSpPr>
        <p:spPr>
          <a:xfrm>
            <a:off x="987552" y="1444752"/>
            <a:ext cx="20574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50" b="1" i="0">
                <a:solidFill>
                  <a:srgbClr val="11567F"/>
                </a:solidFill>
                <a:latin typeface="Arial"/>
              </a:rPr>
              <a:t>Connect real sources</a:t>
            </a:r>
          </a:p>
        </p:txBody>
      </p:sp>
      <p:sp>
        <p:nvSpPr>
          <p:cNvPr id="9153" name="TextBox 9152"/>
          <p:cNvSpPr txBox="1"/>
          <p:nvPr/>
        </p:nvSpPr>
        <p:spPr>
          <a:xfrm>
            <a:off x="3063240" y="1426464"/>
            <a:ext cx="41605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 i="0">
                <a:solidFill>
                  <a:srgbClr val="5B5B5B"/>
                </a:solidFill>
                <a:latin typeface="Arial"/>
              </a:rPr>
              <a:t>CRM, core policy and loan systems and the contact centre through Snowflake connectors, mapped once to the canonical model.</a:t>
            </a:r>
          </a:p>
        </p:txBody>
      </p:sp>
      <p:sp>
        <p:nvSpPr>
          <p:cNvPr id="9154" name="Rounded Rectangle 9153"/>
          <p:cNvSpPr/>
          <p:nvPr/>
        </p:nvSpPr>
        <p:spPr>
          <a:xfrm>
            <a:off x="7360920" y="1517904"/>
            <a:ext cx="1234440" cy="310896"/>
          </a:xfrm>
          <a:prstGeom prst="roundRect">
            <a:avLst>
              <a:gd name="adj" fmla="val 50000"/>
            </a:avLst>
          </a:prstGeom>
          <a:solidFill>
            <a:srgbClr val="EA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55" name="TextBox 9154"/>
          <p:cNvSpPr txBox="1"/>
          <p:nvPr/>
        </p:nvSpPr>
        <p:spPr>
          <a:xfrm>
            <a:off x="7360920" y="1517904"/>
            <a:ext cx="123444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50" b="1" i="0">
                <a:solidFill>
                  <a:srgbClr val="252525"/>
                </a:solidFill>
                <a:latin typeface="Arial"/>
              </a:rPr>
              <a:t>1–2 days per source</a:t>
            </a:r>
          </a:p>
        </p:txBody>
      </p:sp>
      <p:sp>
        <p:nvSpPr>
          <p:cNvPr id="9156" name="Rounded Rectangle 9155"/>
          <p:cNvSpPr/>
          <p:nvPr/>
        </p:nvSpPr>
        <p:spPr>
          <a:xfrm>
            <a:off x="411480" y="2066543"/>
            <a:ext cx="8321040" cy="603504"/>
          </a:xfrm>
          <a:prstGeom prst="roundRect">
            <a:avLst>
              <a:gd name="adj" fmla="val 8000"/>
            </a:avLst>
          </a:prstGeom>
          <a:solidFill>
            <a:srgbClr val="F4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pSp>
        <p:nvGrpSpPr>
          <p:cNvPr id="9152" name="Google Shape;3927;p98"/>
          <p:cNvGrpSpPr/>
          <p:nvPr/>
        </p:nvGrpSpPr>
        <p:grpSpPr>
          <a:xfrm>
            <a:off x="530352" y="2209114"/>
            <a:ext cx="329184" cy="318361"/>
            <a:chOff x="251757" y="320423"/>
            <a:chExt cx="524351" cy="507111"/>
          </a:xfrm>
        </p:grpSpPr>
        <p:sp>
          <p:nvSpPr>
            <p:cNvPr id="9153" name="Google Shape;3928;p98"/>
            <p:cNvSpPr/>
            <p:nvPr/>
          </p:nvSpPr>
          <p:spPr>
            <a:xfrm>
              <a:off x="251757" y="320423"/>
              <a:ext cx="524351" cy="507111"/>
            </a:xfrm>
            <a:custGeom>
              <a:avLst/>
              <a:gdLst/>
              <a:ahLst/>
              <a:cxnLst/>
              <a:rect l="l" t="t" r="r" b="b"/>
              <a:pathLst>
                <a:path w="524351" h="507111" extrusionOk="0">
                  <a:moveTo>
                    <a:pt x="464058" y="0"/>
                  </a:moveTo>
                  <a:lnTo>
                    <a:pt x="60293" y="0"/>
                  </a:lnTo>
                  <a:cubicBezTo>
                    <a:pt x="27051" y="0"/>
                    <a:pt x="0" y="27051"/>
                    <a:pt x="0" y="60293"/>
                  </a:cubicBezTo>
                  <a:lnTo>
                    <a:pt x="0" y="317373"/>
                  </a:lnTo>
                  <a:cubicBezTo>
                    <a:pt x="0" y="350615"/>
                    <a:pt x="27051" y="377666"/>
                    <a:pt x="60293" y="377666"/>
                  </a:cubicBezTo>
                  <a:lnTo>
                    <a:pt x="125158" y="377666"/>
                  </a:lnTo>
                  <a:cubicBezTo>
                    <a:pt x="130397" y="377666"/>
                    <a:pt x="134683" y="381953"/>
                    <a:pt x="134683" y="387191"/>
                  </a:cubicBezTo>
                  <a:lnTo>
                    <a:pt x="134683" y="474155"/>
                  </a:lnTo>
                  <a:cubicBezTo>
                    <a:pt x="134683" y="486823"/>
                    <a:pt x="142399" y="501777"/>
                    <a:pt x="157067" y="505778"/>
                  </a:cubicBezTo>
                  <a:cubicBezTo>
                    <a:pt x="160115" y="506635"/>
                    <a:pt x="163735" y="507111"/>
                    <a:pt x="167450" y="507111"/>
                  </a:cubicBezTo>
                  <a:cubicBezTo>
                    <a:pt x="175070" y="507111"/>
                    <a:pt x="183356" y="504920"/>
                    <a:pt x="189262" y="498634"/>
                  </a:cubicBezTo>
                  <a:lnTo>
                    <a:pt x="189262" y="498634"/>
                  </a:lnTo>
                  <a:cubicBezTo>
                    <a:pt x="189262" y="498634"/>
                    <a:pt x="306134" y="380333"/>
                    <a:pt x="306134" y="380333"/>
                  </a:cubicBezTo>
                  <a:cubicBezTo>
                    <a:pt x="307848" y="378524"/>
                    <a:pt x="310325" y="377571"/>
                    <a:pt x="312896" y="377571"/>
                  </a:cubicBezTo>
                  <a:lnTo>
                    <a:pt x="464058" y="377571"/>
                  </a:lnTo>
                  <a:cubicBezTo>
                    <a:pt x="497300" y="377571"/>
                    <a:pt x="524351" y="350520"/>
                    <a:pt x="524351" y="317278"/>
                  </a:cubicBezTo>
                  <a:lnTo>
                    <a:pt x="524351" y="60293"/>
                  </a:lnTo>
                  <a:cubicBezTo>
                    <a:pt x="524351" y="27051"/>
                    <a:pt x="497300" y="0"/>
                    <a:pt x="464058" y="0"/>
                  </a:cubicBezTo>
                  <a:close/>
                  <a:moveTo>
                    <a:pt x="486156" y="317183"/>
                  </a:moveTo>
                  <a:cubicBezTo>
                    <a:pt x="486156" y="329374"/>
                    <a:pt x="476250" y="339376"/>
                    <a:pt x="463963" y="339376"/>
                  </a:cubicBezTo>
                  <a:lnTo>
                    <a:pt x="312801" y="339376"/>
                  </a:lnTo>
                  <a:cubicBezTo>
                    <a:pt x="300133" y="339376"/>
                    <a:pt x="287846" y="344519"/>
                    <a:pt x="278987" y="353568"/>
                  </a:cubicBezTo>
                  <a:lnTo>
                    <a:pt x="172783" y="461105"/>
                  </a:lnTo>
                  <a:lnTo>
                    <a:pt x="172783" y="387191"/>
                  </a:lnTo>
                  <a:cubicBezTo>
                    <a:pt x="172783" y="360902"/>
                    <a:pt x="151447" y="339566"/>
                    <a:pt x="125158" y="339566"/>
                  </a:cubicBezTo>
                  <a:lnTo>
                    <a:pt x="60293" y="339566"/>
                  </a:lnTo>
                  <a:cubicBezTo>
                    <a:pt x="48101" y="339566"/>
                    <a:pt x="38100" y="329660"/>
                    <a:pt x="38100" y="317373"/>
                  </a:cubicBezTo>
                  <a:lnTo>
                    <a:pt x="38100" y="60293"/>
                  </a:lnTo>
                  <a:cubicBezTo>
                    <a:pt x="38100" y="48101"/>
                    <a:pt x="48006" y="38100"/>
                    <a:pt x="60293" y="38100"/>
                  </a:cubicBezTo>
                  <a:lnTo>
                    <a:pt x="464058" y="38100"/>
                  </a:lnTo>
                  <a:cubicBezTo>
                    <a:pt x="476250" y="38100"/>
                    <a:pt x="486251" y="48006"/>
                    <a:pt x="486251" y="60293"/>
                  </a:cubicBezTo>
                  <a:lnTo>
                    <a:pt x="486251" y="317183"/>
                  </a:lnTo>
                  <a:close/>
                </a:path>
              </a:pathLst>
            </a:custGeom>
            <a:solidFill>
              <a:srgbClr val="29B5E8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54" name="Google Shape;3929;p98"/>
            <p:cNvSpPr/>
            <p:nvPr/>
          </p:nvSpPr>
          <p:spPr>
            <a:xfrm>
              <a:off x="333005" y="458726"/>
              <a:ext cx="361759" cy="23812"/>
            </a:xfrm>
            <a:custGeom>
              <a:avLst/>
              <a:gdLst/>
              <a:ahLst/>
              <a:cxnLst/>
              <a:rect l="l" t="t" r="r" b="b"/>
              <a:pathLst>
                <a:path w="361759" h="23812" extrusionOk="0">
                  <a:moveTo>
                    <a:pt x="349853" y="0"/>
                  </a:moveTo>
                  <a:lnTo>
                    <a:pt x="11906" y="0"/>
                  </a:lnTo>
                  <a:cubicBezTo>
                    <a:pt x="5334" y="0"/>
                    <a:pt x="0" y="5334"/>
                    <a:pt x="0" y="11906"/>
                  </a:cubicBezTo>
                  <a:cubicBezTo>
                    <a:pt x="0" y="18478"/>
                    <a:pt x="5334" y="23813"/>
                    <a:pt x="11906" y="23813"/>
                  </a:cubicBezTo>
                  <a:lnTo>
                    <a:pt x="349853" y="23813"/>
                  </a:lnTo>
                  <a:cubicBezTo>
                    <a:pt x="356426" y="23813"/>
                    <a:pt x="361760" y="18478"/>
                    <a:pt x="361760" y="11906"/>
                  </a:cubicBezTo>
                  <a:cubicBezTo>
                    <a:pt x="361760" y="5334"/>
                    <a:pt x="356426" y="0"/>
                    <a:pt x="349853" y="0"/>
                  </a:cubicBezTo>
                  <a:close/>
                </a:path>
              </a:pathLst>
            </a:custGeom>
            <a:solidFill>
              <a:srgbClr val="29B5E8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55" name="Google Shape;3930;p98"/>
            <p:cNvSpPr/>
            <p:nvPr/>
          </p:nvSpPr>
          <p:spPr>
            <a:xfrm>
              <a:off x="333005" y="530354"/>
              <a:ext cx="260413" cy="23812"/>
            </a:xfrm>
            <a:custGeom>
              <a:avLst/>
              <a:gdLst/>
              <a:ahLst/>
              <a:cxnLst/>
              <a:rect l="l" t="t" r="r" b="b"/>
              <a:pathLst>
                <a:path w="260413" h="23812" extrusionOk="0">
                  <a:moveTo>
                    <a:pt x="248507" y="0"/>
                  </a:moveTo>
                  <a:lnTo>
                    <a:pt x="11906" y="0"/>
                  </a:lnTo>
                  <a:cubicBezTo>
                    <a:pt x="5334" y="0"/>
                    <a:pt x="0" y="5334"/>
                    <a:pt x="0" y="11906"/>
                  </a:cubicBezTo>
                  <a:cubicBezTo>
                    <a:pt x="0" y="18479"/>
                    <a:pt x="5334" y="23813"/>
                    <a:pt x="11906" y="23813"/>
                  </a:cubicBezTo>
                  <a:lnTo>
                    <a:pt x="248507" y="23813"/>
                  </a:lnTo>
                  <a:cubicBezTo>
                    <a:pt x="255080" y="23813"/>
                    <a:pt x="260413" y="18479"/>
                    <a:pt x="260413" y="11906"/>
                  </a:cubicBezTo>
                  <a:cubicBezTo>
                    <a:pt x="260413" y="5334"/>
                    <a:pt x="255080" y="0"/>
                    <a:pt x="248507" y="0"/>
                  </a:cubicBezTo>
                  <a:close/>
                </a:path>
              </a:pathLst>
            </a:custGeom>
            <a:solidFill>
              <a:srgbClr val="29B5E8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9157" name="TextBox 9156"/>
          <p:cNvSpPr txBox="1"/>
          <p:nvPr/>
        </p:nvSpPr>
        <p:spPr>
          <a:xfrm>
            <a:off x="987552" y="2139696"/>
            <a:ext cx="20574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50" b="1" i="0">
                <a:solidFill>
                  <a:srgbClr val="11567F"/>
                </a:solidFill>
                <a:latin typeface="Arial"/>
              </a:rPr>
              <a:t>Actions in Slack and Jira</a:t>
            </a:r>
          </a:p>
        </p:txBody>
      </p:sp>
      <p:sp>
        <p:nvSpPr>
          <p:cNvPr id="9158" name="TextBox 9157"/>
          <p:cNvSpPr txBox="1"/>
          <p:nvPr/>
        </p:nvSpPr>
        <p:spPr>
          <a:xfrm>
            <a:off x="3063240" y="2121408"/>
            <a:ext cx="41605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 i="0">
                <a:solidFill>
                  <a:srgbClr val="5B5B5B"/>
                </a:solidFill>
                <a:latin typeface="Arial"/>
              </a:rPr>
              <a:t>Approved actions post to the RM's channel and open a ticket automatically.</a:t>
            </a:r>
          </a:p>
        </p:txBody>
      </p:sp>
      <p:sp>
        <p:nvSpPr>
          <p:cNvPr id="9159" name="Rounded Rectangle 9158"/>
          <p:cNvSpPr/>
          <p:nvPr/>
        </p:nvSpPr>
        <p:spPr>
          <a:xfrm>
            <a:off x="7360920" y="2212848"/>
            <a:ext cx="1234440" cy="310896"/>
          </a:xfrm>
          <a:prstGeom prst="roundRect">
            <a:avLst>
              <a:gd name="adj" fmla="val 50000"/>
            </a:avLst>
          </a:prstGeom>
          <a:solidFill>
            <a:srgbClr val="EA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60" name="TextBox 9159"/>
          <p:cNvSpPr txBox="1"/>
          <p:nvPr/>
        </p:nvSpPr>
        <p:spPr>
          <a:xfrm>
            <a:off x="7360920" y="2212848"/>
            <a:ext cx="123444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50" b="1" i="0">
                <a:solidFill>
                  <a:srgbClr val="252525"/>
                </a:solidFill>
                <a:latin typeface="Arial"/>
              </a:rPr>
              <a:t>2–3 days</a:t>
            </a:r>
          </a:p>
        </p:txBody>
      </p:sp>
      <p:sp>
        <p:nvSpPr>
          <p:cNvPr id="9161" name="Rounded Rectangle 9160"/>
          <p:cNvSpPr/>
          <p:nvPr/>
        </p:nvSpPr>
        <p:spPr>
          <a:xfrm>
            <a:off x="411480" y="2761488"/>
            <a:ext cx="8321040" cy="603504"/>
          </a:xfrm>
          <a:prstGeom prst="roundRect">
            <a:avLst>
              <a:gd name="adj" fmla="val 8000"/>
            </a:avLst>
          </a:prstGeom>
          <a:solidFill>
            <a:srgbClr val="F4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pSp>
        <p:nvGrpSpPr>
          <p:cNvPr id="9156" name="Google Shape;4756;p101"/>
          <p:cNvGrpSpPr/>
          <p:nvPr/>
        </p:nvGrpSpPr>
        <p:grpSpPr>
          <a:xfrm>
            <a:off x="530507" y="2898648"/>
            <a:ext cx="328874" cy="329184"/>
            <a:chOff x="1190625" y="238125"/>
            <a:chExt cx="5228900" cy="5233825"/>
          </a:xfrm>
        </p:grpSpPr>
        <p:sp>
          <p:nvSpPr>
            <p:cNvPr id="9157" name="Google Shape;4757;p101"/>
            <p:cNvSpPr/>
            <p:nvPr/>
          </p:nvSpPr>
          <p:spPr>
            <a:xfrm>
              <a:off x="2113075" y="1249350"/>
              <a:ext cx="2219825" cy="370000"/>
            </a:xfrm>
            <a:custGeom>
              <a:avLst/>
              <a:gdLst/>
              <a:ahLst/>
              <a:cxnLst/>
              <a:rect l="l" t="t" r="r" b="b"/>
              <a:pathLst>
                <a:path w="88793" h="14800" extrusionOk="0">
                  <a:moveTo>
                    <a:pt x="1579" y="1"/>
                  </a:moveTo>
                  <a:lnTo>
                    <a:pt x="197" y="1382"/>
                  </a:lnTo>
                  <a:lnTo>
                    <a:pt x="0" y="2369"/>
                  </a:lnTo>
                  <a:lnTo>
                    <a:pt x="0" y="12234"/>
                  </a:lnTo>
                  <a:lnTo>
                    <a:pt x="197" y="13221"/>
                  </a:lnTo>
                  <a:lnTo>
                    <a:pt x="1579" y="14602"/>
                  </a:lnTo>
                  <a:lnTo>
                    <a:pt x="2565" y="14800"/>
                  </a:lnTo>
                  <a:lnTo>
                    <a:pt x="86425" y="14800"/>
                  </a:lnTo>
                  <a:lnTo>
                    <a:pt x="87411" y="14602"/>
                  </a:lnTo>
                  <a:lnTo>
                    <a:pt x="88793" y="13221"/>
                  </a:lnTo>
                  <a:lnTo>
                    <a:pt x="88793" y="12234"/>
                  </a:lnTo>
                  <a:lnTo>
                    <a:pt x="88793" y="2369"/>
                  </a:lnTo>
                  <a:lnTo>
                    <a:pt x="88793" y="1382"/>
                  </a:lnTo>
                  <a:lnTo>
                    <a:pt x="87411" y="1"/>
                  </a:lnTo>
                  <a:close/>
                </a:path>
              </a:pathLst>
            </a:custGeom>
            <a:solidFill>
              <a:srgbClr val="29B5E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rgbClr val="252525"/>
                </a:buClr>
                <a:buSzPts val="1800"/>
                <a:buFont typeface="Arial"/>
                <a:buNone/>
              </a:pPr>
              <a:endParaRPr sz="1800">
                <a:solidFill>
                  <a:srgbClr val="252525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58" name="Google Shape;4758;p101"/>
            <p:cNvSpPr/>
            <p:nvPr/>
          </p:nvSpPr>
          <p:spPr>
            <a:xfrm>
              <a:off x="2113075" y="2152075"/>
              <a:ext cx="2219825" cy="370000"/>
            </a:xfrm>
            <a:custGeom>
              <a:avLst/>
              <a:gdLst/>
              <a:ahLst/>
              <a:cxnLst/>
              <a:rect l="l" t="t" r="r" b="b"/>
              <a:pathLst>
                <a:path w="88793" h="14800" extrusionOk="0">
                  <a:moveTo>
                    <a:pt x="2565" y="1"/>
                  </a:moveTo>
                  <a:lnTo>
                    <a:pt x="1579" y="198"/>
                  </a:lnTo>
                  <a:lnTo>
                    <a:pt x="197" y="1579"/>
                  </a:lnTo>
                  <a:lnTo>
                    <a:pt x="0" y="2566"/>
                  </a:lnTo>
                  <a:lnTo>
                    <a:pt x="0" y="12432"/>
                  </a:lnTo>
                  <a:lnTo>
                    <a:pt x="197" y="13418"/>
                  </a:lnTo>
                  <a:lnTo>
                    <a:pt x="1579" y="14799"/>
                  </a:lnTo>
                  <a:lnTo>
                    <a:pt x="87411" y="14799"/>
                  </a:lnTo>
                  <a:lnTo>
                    <a:pt x="88793" y="13418"/>
                  </a:lnTo>
                  <a:lnTo>
                    <a:pt x="88793" y="12432"/>
                  </a:lnTo>
                  <a:lnTo>
                    <a:pt x="88793" y="2566"/>
                  </a:lnTo>
                  <a:lnTo>
                    <a:pt x="88793" y="1579"/>
                  </a:lnTo>
                  <a:lnTo>
                    <a:pt x="87411" y="198"/>
                  </a:lnTo>
                  <a:lnTo>
                    <a:pt x="86425" y="1"/>
                  </a:lnTo>
                  <a:close/>
                </a:path>
              </a:pathLst>
            </a:custGeom>
            <a:solidFill>
              <a:srgbClr val="29B5E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rgbClr val="252525"/>
                </a:buClr>
                <a:buSzPts val="1800"/>
                <a:buFont typeface="Arial"/>
                <a:buNone/>
              </a:pPr>
              <a:endParaRPr sz="1800">
                <a:solidFill>
                  <a:srgbClr val="252525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59" name="Google Shape;4759;p101"/>
            <p:cNvSpPr/>
            <p:nvPr/>
          </p:nvSpPr>
          <p:spPr>
            <a:xfrm>
              <a:off x="2113075" y="3035075"/>
              <a:ext cx="1287500" cy="370000"/>
            </a:xfrm>
            <a:custGeom>
              <a:avLst/>
              <a:gdLst/>
              <a:ahLst/>
              <a:cxnLst/>
              <a:rect l="l" t="t" r="r" b="b"/>
              <a:pathLst>
                <a:path w="51500" h="14800" extrusionOk="0">
                  <a:moveTo>
                    <a:pt x="2565" y="0"/>
                  </a:moveTo>
                  <a:lnTo>
                    <a:pt x="1579" y="198"/>
                  </a:lnTo>
                  <a:lnTo>
                    <a:pt x="197" y="1382"/>
                  </a:lnTo>
                  <a:lnTo>
                    <a:pt x="0" y="2368"/>
                  </a:lnTo>
                  <a:lnTo>
                    <a:pt x="0" y="12234"/>
                  </a:lnTo>
                  <a:lnTo>
                    <a:pt x="197" y="13221"/>
                  </a:lnTo>
                  <a:lnTo>
                    <a:pt x="1579" y="14602"/>
                  </a:lnTo>
                  <a:lnTo>
                    <a:pt x="2565" y="14799"/>
                  </a:lnTo>
                  <a:lnTo>
                    <a:pt x="48935" y="14799"/>
                  </a:lnTo>
                  <a:lnTo>
                    <a:pt x="49921" y="14602"/>
                  </a:lnTo>
                  <a:lnTo>
                    <a:pt x="51302" y="13221"/>
                  </a:lnTo>
                  <a:lnTo>
                    <a:pt x="51500" y="12234"/>
                  </a:lnTo>
                  <a:lnTo>
                    <a:pt x="51500" y="2368"/>
                  </a:lnTo>
                  <a:lnTo>
                    <a:pt x="51302" y="1382"/>
                  </a:lnTo>
                  <a:lnTo>
                    <a:pt x="49921" y="198"/>
                  </a:lnTo>
                  <a:lnTo>
                    <a:pt x="48935" y="0"/>
                  </a:lnTo>
                  <a:close/>
                </a:path>
              </a:pathLst>
            </a:custGeom>
            <a:solidFill>
              <a:srgbClr val="29B5E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rgbClr val="252525"/>
                </a:buClr>
                <a:buSzPts val="1800"/>
                <a:buFont typeface="Arial"/>
                <a:buNone/>
              </a:pPr>
              <a:endParaRPr sz="1800">
                <a:solidFill>
                  <a:srgbClr val="252525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60" name="Google Shape;4760;p101"/>
            <p:cNvSpPr/>
            <p:nvPr/>
          </p:nvSpPr>
          <p:spPr>
            <a:xfrm>
              <a:off x="1190625" y="238125"/>
              <a:ext cx="5228900" cy="5233825"/>
            </a:xfrm>
            <a:custGeom>
              <a:avLst/>
              <a:gdLst/>
              <a:ahLst/>
              <a:cxnLst/>
              <a:rect l="l" t="t" r="r" b="b"/>
              <a:pathLst>
                <a:path w="209156" h="209353" extrusionOk="0">
                  <a:moveTo>
                    <a:pt x="0" y="39858"/>
                  </a:moveTo>
                  <a:lnTo>
                    <a:pt x="0" y="154696"/>
                  </a:lnTo>
                  <a:lnTo>
                    <a:pt x="197" y="158840"/>
                  </a:lnTo>
                  <a:lnTo>
                    <a:pt x="1579" y="166535"/>
                  </a:lnTo>
                  <a:lnTo>
                    <a:pt x="4341" y="173638"/>
                  </a:lnTo>
                  <a:lnTo>
                    <a:pt x="8287" y="179953"/>
                  </a:lnTo>
                  <a:lnTo>
                    <a:pt x="13023" y="185477"/>
                  </a:lnTo>
                  <a:lnTo>
                    <a:pt x="18745" y="189621"/>
                  </a:lnTo>
                  <a:lnTo>
                    <a:pt x="25257" y="192778"/>
                  </a:lnTo>
                  <a:lnTo>
                    <a:pt x="32163" y="194357"/>
                  </a:lnTo>
                  <a:lnTo>
                    <a:pt x="35912" y="194357"/>
                  </a:lnTo>
                  <a:lnTo>
                    <a:pt x="127072" y="194357"/>
                  </a:lnTo>
                  <a:lnTo>
                    <a:pt x="129045" y="194357"/>
                  </a:lnTo>
                  <a:lnTo>
                    <a:pt x="131215" y="194159"/>
                  </a:lnTo>
                  <a:lnTo>
                    <a:pt x="137332" y="199882"/>
                  </a:lnTo>
                  <a:lnTo>
                    <a:pt x="143252" y="203828"/>
                  </a:lnTo>
                  <a:lnTo>
                    <a:pt x="147001" y="206196"/>
                  </a:lnTo>
                  <a:lnTo>
                    <a:pt x="150158" y="207577"/>
                  </a:lnTo>
                  <a:lnTo>
                    <a:pt x="153315" y="208958"/>
                  </a:lnTo>
                  <a:lnTo>
                    <a:pt x="156867" y="209353"/>
                  </a:lnTo>
                  <a:lnTo>
                    <a:pt x="160616" y="208958"/>
                  </a:lnTo>
                  <a:lnTo>
                    <a:pt x="163575" y="207577"/>
                  </a:lnTo>
                  <a:lnTo>
                    <a:pt x="166930" y="206196"/>
                  </a:lnTo>
                  <a:lnTo>
                    <a:pt x="170679" y="203828"/>
                  </a:lnTo>
                  <a:lnTo>
                    <a:pt x="174625" y="201263"/>
                  </a:lnTo>
                  <a:lnTo>
                    <a:pt x="183110" y="193765"/>
                  </a:lnTo>
                  <a:lnTo>
                    <a:pt x="187451" y="189029"/>
                  </a:lnTo>
                  <a:lnTo>
                    <a:pt x="191594" y="183899"/>
                  </a:lnTo>
                  <a:lnTo>
                    <a:pt x="199487" y="171468"/>
                  </a:lnTo>
                  <a:lnTo>
                    <a:pt x="205406" y="156275"/>
                  </a:lnTo>
                  <a:lnTo>
                    <a:pt x="208169" y="143054"/>
                  </a:lnTo>
                  <a:lnTo>
                    <a:pt x="209155" y="133386"/>
                  </a:lnTo>
                  <a:lnTo>
                    <a:pt x="209155" y="128256"/>
                  </a:lnTo>
                  <a:lnTo>
                    <a:pt x="209155" y="126677"/>
                  </a:lnTo>
                  <a:lnTo>
                    <a:pt x="207971" y="123915"/>
                  </a:lnTo>
                  <a:lnTo>
                    <a:pt x="205998" y="121942"/>
                  </a:lnTo>
                  <a:lnTo>
                    <a:pt x="203236" y="120758"/>
                  </a:lnTo>
                  <a:lnTo>
                    <a:pt x="201855" y="120758"/>
                  </a:lnTo>
                  <a:lnTo>
                    <a:pt x="199684" y="120560"/>
                  </a:lnTo>
                  <a:lnTo>
                    <a:pt x="194554" y="119376"/>
                  </a:lnTo>
                  <a:lnTo>
                    <a:pt x="186069" y="115430"/>
                  </a:lnTo>
                  <a:lnTo>
                    <a:pt x="179953" y="111484"/>
                  </a:lnTo>
                  <a:lnTo>
                    <a:pt x="169297" y="103788"/>
                  </a:lnTo>
                  <a:lnTo>
                    <a:pt x="162786" y="97869"/>
                  </a:lnTo>
                  <a:lnTo>
                    <a:pt x="162786" y="39858"/>
                  </a:lnTo>
                  <a:lnTo>
                    <a:pt x="162786" y="35714"/>
                  </a:lnTo>
                  <a:lnTo>
                    <a:pt x="161207" y="27822"/>
                  </a:lnTo>
                  <a:lnTo>
                    <a:pt x="158445" y="20718"/>
                  </a:lnTo>
                  <a:lnTo>
                    <a:pt x="154696" y="14404"/>
                  </a:lnTo>
                  <a:lnTo>
                    <a:pt x="149763" y="9077"/>
                  </a:lnTo>
                  <a:lnTo>
                    <a:pt x="144041" y="4736"/>
                  </a:lnTo>
                  <a:lnTo>
                    <a:pt x="137727" y="1776"/>
                  </a:lnTo>
                  <a:lnTo>
                    <a:pt x="130623" y="197"/>
                  </a:lnTo>
                  <a:lnTo>
                    <a:pt x="126874" y="0"/>
                  </a:lnTo>
                  <a:lnTo>
                    <a:pt x="35912" y="0"/>
                  </a:lnTo>
                  <a:lnTo>
                    <a:pt x="32163" y="197"/>
                  </a:lnTo>
                  <a:lnTo>
                    <a:pt x="25059" y="1776"/>
                  </a:lnTo>
                  <a:lnTo>
                    <a:pt x="18745" y="4933"/>
                  </a:lnTo>
                  <a:lnTo>
                    <a:pt x="13023" y="9077"/>
                  </a:lnTo>
                  <a:lnTo>
                    <a:pt x="8090" y="14601"/>
                  </a:lnTo>
                  <a:lnTo>
                    <a:pt x="4341" y="20916"/>
                  </a:lnTo>
                  <a:lnTo>
                    <a:pt x="1579" y="28019"/>
                  </a:lnTo>
                  <a:lnTo>
                    <a:pt x="197" y="35912"/>
                  </a:lnTo>
                  <a:close/>
                  <a:moveTo>
                    <a:pt x="133978" y="111484"/>
                  </a:moveTo>
                  <a:lnTo>
                    <a:pt x="141870" y="105959"/>
                  </a:lnTo>
                  <a:lnTo>
                    <a:pt x="147987" y="100829"/>
                  </a:lnTo>
                  <a:lnTo>
                    <a:pt x="147790" y="39858"/>
                  </a:lnTo>
                  <a:lnTo>
                    <a:pt x="147790" y="36898"/>
                  </a:lnTo>
                  <a:lnTo>
                    <a:pt x="146803" y="31768"/>
                  </a:lnTo>
                  <a:lnTo>
                    <a:pt x="144041" y="25059"/>
                  </a:lnTo>
                  <a:lnTo>
                    <a:pt x="138121" y="18745"/>
                  </a:lnTo>
                  <a:lnTo>
                    <a:pt x="130821" y="15193"/>
                  </a:lnTo>
                  <a:lnTo>
                    <a:pt x="126874" y="14996"/>
                  </a:lnTo>
                  <a:lnTo>
                    <a:pt x="35912" y="14996"/>
                  </a:lnTo>
                  <a:lnTo>
                    <a:pt x="31965" y="15391"/>
                  </a:lnTo>
                  <a:lnTo>
                    <a:pt x="24665" y="18745"/>
                  </a:lnTo>
                  <a:lnTo>
                    <a:pt x="18745" y="25256"/>
                  </a:lnTo>
                  <a:lnTo>
                    <a:pt x="15983" y="31965"/>
                  </a:lnTo>
                  <a:lnTo>
                    <a:pt x="14996" y="37095"/>
                  </a:lnTo>
                  <a:lnTo>
                    <a:pt x="14996" y="39858"/>
                  </a:lnTo>
                  <a:lnTo>
                    <a:pt x="14996" y="154696"/>
                  </a:lnTo>
                  <a:lnTo>
                    <a:pt x="14996" y="157458"/>
                  </a:lnTo>
                  <a:lnTo>
                    <a:pt x="15983" y="162589"/>
                  </a:lnTo>
                  <a:lnTo>
                    <a:pt x="18942" y="169297"/>
                  </a:lnTo>
                  <a:lnTo>
                    <a:pt x="24862" y="175809"/>
                  </a:lnTo>
                  <a:lnTo>
                    <a:pt x="32163" y="179163"/>
                  </a:lnTo>
                  <a:lnTo>
                    <a:pt x="35912" y="179558"/>
                  </a:lnTo>
                  <a:lnTo>
                    <a:pt x="119179" y="179361"/>
                  </a:lnTo>
                  <a:lnTo>
                    <a:pt x="116219" y="174625"/>
                  </a:lnTo>
                  <a:lnTo>
                    <a:pt x="110892" y="163378"/>
                  </a:lnTo>
                  <a:lnTo>
                    <a:pt x="106945" y="150552"/>
                  </a:lnTo>
                  <a:lnTo>
                    <a:pt x="104775" y="136148"/>
                  </a:lnTo>
                  <a:lnTo>
                    <a:pt x="104578" y="128256"/>
                  </a:lnTo>
                  <a:lnTo>
                    <a:pt x="104775" y="126677"/>
                  </a:lnTo>
                  <a:lnTo>
                    <a:pt x="105762" y="123915"/>
                  </a:lnTo>
                  <a:lnTo>
                    <a:pt x="106748" y="122928"/>
                  </a:lnTo>
                  <a:lnTo>
                    <a:pt x="107932" y="121942"/>
                  </a:lnTo>
                  <a:lnTo>
                    <a:pt x="110694" y="120758"/>
                  </a:lnTo>
                  <a:lnTo>
                    <a:pt x="112076" y="120758"/>
                  </a:lnTo>
                  <a:lnTo>
                    <a:pt x="114246" y="120560"/>
                  </a:lnTo>
                  <a:lnTo>
                    <a:pt x="119179" y="119376"/>
                  </a:lnTo>
                  <a:lnTo>
                    <a:pt x="127861" y="115430"/>
                  </a:lnTo>
                  <a:close/>
                  <a:moveTo>
                    <a:pt x="137727" y="179361"/>
                  </a:moveTo>
                  <a:lnTo>
                    <a:pt x="134570" y="175414"/>
                  </a:lnTo>
                  <a:lnTo>
                    <a:pt x="128650" y="166338"/>
                  </a:lnTo>
                  <a:lnTo>
                    <a:pt x="123717" y="155091"/>
                  </a:lnTo>
                  <a:lnTo>
                    <a:pt x="120560" y="142068"/>
                  </a:lnTo>
                  <a:lnTo>
                    <a:pt x="119771" y="134767"/>
                  </a:lnTo>
                  <a:lnTo>
                    <a:pt x="125888" y="132991"/>
                  </a:lnTo>
                  <a:lnTo>
                    <a:pt x="137135" y="127269"/>
                  </a:lnTo>
                  <a:lnTo>
                    <a:pt x="142265" y="123915"/>
                  </a:lnTo>
                  <a:lnTo>
                    <a:pt x="150552" y="118193"/>
                  </a:lnTo>
                  <a:lnTo>
                    <a:pt x="156867" y="112668"/>
                  </a:lnTo>
                  <a:lnTo>
                    <a:pt x="163378" y="118193"/>
                  </a:lnTo>
                  <a:lnTo>
                    <a:pt x="171665" y="123915"/>
                  </a:lnTo>
                  <a:lnTo>
                    <a:pt x="176598" y="127269"/>
                  </a:lnTo>
                  <a:lnTo>
                    <a:pt x="188043" y="132991"/>
                  </a:lnTo>
                  <a:lnTo>
                    <a:pt x="194159" y="134767"/>
                  </a:lnTo>
                  <a:lnTo>
                    <a:pt x="193370" y="142068"/>
                  </a:lnTo>
                  <a:lnTo>
                    <a:pt x="190016" y="155091"/>
                  </a:lnTo>
                  <a:lnTo>
                    <a:pt x="185280" y="166338"/>
                  </a:lnTo>
                  <a:lnTo>
                    <a:pt x="179361" y="175414"/>
                  </a:lnTo>
                  <a:lnTo>
                    <a:pt x="176204" y="179361"/>
                  </a:lnTo>
                  <a:lnTo>
                    <a:pt x="172455" y="183307"/>
                  </a:lnTo>
                  <a:lnTo>
                    <a:pt x="165746" y="189226"/>
                  </a:lnTo>
                  <a:lnTo>
                    <a:pt x="162589" y="191200"/>
                  </a:lnTo>
                  <a:lnTo>
                    <a:pt x="159826" y="192975"/>
                  </a:lnTo>
                  <a:lnTo>
                    <a:pt x="157656" y="193962"/>
                  </a:lnTo>
                  <a:lnTo>
                    <a:pt x="157458" y="193962"/>
                  </a:lnTo>
                  <a:lnTo>
                    <a:pt x="157064" y="194159"/>
                  </a:lnTo>
                  <a:lnTo>
                    <a:pt x="157064" y="194159"/>
                  </a:lnTo>
                  <a:lnTo>
                    <a:pt x="156867" y="194159"/>
                  </a:lnTo>
                  <a:lnTo>
                    <a:pt x="156669" y="194159"/>
                  </a:lnTo>
                  <a:lnTo>
                    <a:pt x="156077" y="193962"/>
                  </a:lnTo>
                  <a:lnTo>
                    <a:pt x="154104" y="192975"/>
                  </a:lnTo>
                  <a:lnTo>
                    <a:pt x="151342" y="191200"/>
                  </a:lnTo>
                  <a:lnTo>
                    <a:pt x="148185" y="189226"/>
                  </a:lnTo>
                  <a:lnTo>
                    <a:pt x="141279" y="183307"/>
                  </a:lnTo>
                  <a:close/>
                </a:path>
              </a:pathLst>
            </a:custGeom>
            <a:solidFill>
              <a:srgbClr val="29B5E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rgbClr val="252525"/>
                </a:buClr>
                <a:buSzPts val="1800"/>
                <a:buFont typeface="Arial"/>
                <a:buNone/>
              </a:pPr>
              <a:endParaRPr sz="1800">
                <a:solidFill>
                  <a:srgbClr val="252525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9162" name="TextBox 9161"/>
          <p:cNvSpPr txBox="1"/>
          <p:nvPr/>
        </p:nvSpPr>
        <p:spPr>
          <a:xfrm>
            <a:off x="987552" y="2834640"/>
            <a:ext cx="20574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50" b="1" i="0">
                <a:solidFill>
                  <a:srgbClr val="11567F"/>
                </a:solidFill>
                <a:latin typeface="Arial"/>
              </a:rPr>
              <a:t>Fine-grained access</a:t>
            </a:r>
          </a:p>
        </p:txBody>
      </p:sp>
      <p:sp>
        <p:nvSpPr>
          <p:cNvPr id="9163" name="TextBox 9162"/>
          <p:cNvSpPr txBox="1"/>
          <p:nvPr/>
        </p:nvSpPr>
        <p:spPr>
          <a:xfrm>
            <a:off x="3063240" y="2816352"/>
            <a:ext cx="41605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 i="0">
                <a:solidFill>
                  <a:srgbClr val="5B5B5B"/>
                </a:solidFill>
                <a:latin typeface="Arial"/>
              </a:rPr>
              <a:t>Extend row access by region and branch, and masking to every new source.</a:t>
            </a:r>
          </a:p>
        </p:txBody>
      </p:sp>
      <p:sp>
        <p:nvSpPr>
          <p:cNvPr id="9164" name="Rounded Rectangle 9163"/>
          <p:cNvSpPr/>
          <p:nvPr/>
        </p:nvSpPr>
        <p:spPr>
          <a:xfrm>
            <a:off x="7360920" y="2907792"/>
            <a:ext cx="1234440" cy="310896"/>
          </a:xfrm>
          <a:prstGeom prst="roundRect">
            <a:avLst>
              <a:gd name="adj" fmla="val 50000"/>
            </a:avLst>
          </a:prstGeom>
          <a:solidFill>
            <a:srgbClr val="EA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65" name="TextBox 9164"/>
          <p:cNvSpPr txBox="1"/>
          <p:nvPr/>
        </p:nvSpPr>
        <p:spPr>
          <a:xfrm>
            <a:off x="7360920" y="2907792"/>
            <a:ext cx="123444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50" b="1" i="0">
                <a:solidFill>
                  <a:srgbClr val="252525"/>
                </a:solidFill>
                <a:latin typeface="Arial"/>
              </a:rPr>
              <a:t>2–3 days</a:t>
            </a:r>
          </a:p>
        </p:txBody>
      </p:sp>
      <p:sp>
        <p:nvSpPr>
          <p:cNvPr id="9166" name="Rounded Rectangle 9165"/>
          <p:cNvSpPr/>
          <p:nvPr/>
        </p:nvSpPr>
        <p:spPr>
          <a:xfrm>
            <a:off x="411480" y="3456432"/>
            <a:ext cx="8321040" cy="603504"/>
          </a:xfrm>
          <a:prstGeom prst="roundRect">
            <a:avLst>
              <a:gd name="adj" fmla="val 8000"/>
            </a:avLst>
          </a:prstGeom>
          <a:solidFill>
            <a:srgbClr val="F4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pSp>
        <p:nvGrpSpPr>
          <p:cNvPr id="9161" name="Google Shape;4216;p99"/>
          <p:cNvGrpSpPr/>
          <p:nvPr/>
        </p:nvGrpSpPr>
        <p:grpSpPr>
          <a:xfrm>
            <a:off x="530352" y="3599854"/>
            <a:ext cx="329184" cy="316660"/>
            <a:chOff x="4082537" y="2629395"/>
            <a:chExt cx="533304" cy="513016"/>
          </a:xfrm>
        </p:grpSpPr>
        <p:sp>
          <p:nvSpPr>
            <p:cNvPr id="9162" name="Google Shape;4217;p99"/>
            <p:cNvSpPr/>
            <p:nvPr/>
          </p:nvSpPr>
          <p:spPr>
            <a:xfrm>
              <a:off x="4082537" y="2629395"/>
              <a:ext cx="533304" cy="513016"/>
            </a:xfrm>
            <a:custGeom>
              <a:avLst/>
              <a:gdLst/>
              <a:ahLst/>
              <a:cxnLst/>
              <a:rect l="l" t="t" r="r" b="b"/>
              <a:pathLst>
                <a:path w="533304" h="513016" extrusionOk="0">
                  <a:moveTo>
                    <a:pt x="519017" y="213265"/>
                  </a:moveTo>
                  <a:lnTo>
                    <a:pt x="510540" y="213265"/>
                  </a:lnTo>
                  <a:lnTo>
                    <a:pt x="510540" y="160020"/>
                  </a:lnTo>
                  <a:cubicBezTo>
                    <a:pt x="510540" y="152114"/>
                    <a:pt x="504158" y="145733"/>
                    <a:pt x="496253" y="145733"/>
                  </a:cubicBezTo>
                  <a:lnTo>
                    <a:pt x="399955" y="145733"/>
                  </a:lnTo>
                  <a:cubicBezTo>
                    <a:pt x="392049" y="145733"/>
                    <a:pt x="385667" y="152114"/>
                    <a:pt x="385667" y="160020"/>
                  </a:cubicBezTo>
                  <a:lnTo>
                    <a:pt x="385667" y="213265"/>
                  </a:lnTo>
                  <a:lnTo>
                    <a:pt x="377190" y="213265"/>
                  </a:lnTo>
                  <a:cubicBezTo>
                    <a:pt x="369284" y="213265"/>
                    <a:pt x="362903" y="219647"/>
                    <a:pt x="362903" y="227552"/>
                  </a:cubicBezTo>
                  <a:lnTo>
                    <a:pt x="362903" y="286131"/>
                  </a:lnTo>
                  <a:lnTo>
                    <a:pt x="232220" y="286131"/>
                  </a:lnTo>
                  <a:lnTo>
                    <a:pt x="232220" y="203835"/>
                  </a:lnTo>
                  <a:cubicBezTo>
                    <a:pt x="232220" y="195929"/>
                    <a:pt x="225838" y="189548"/>
                    <a:pt x="217932" y="189548"/>
                  </a:cubicBezTo>
                  <a:lnTo>
                    <a:pt x="209931" y="189548"/>
                  </a:lnTo>
                  <a:lnTo>
                    <a:pt x="209931" y="84392"/>
                  </a:lnTo>
                  <a:cubicBezTo>
                    <a:pt x="209931" y="76486"/>
                    <a:pt x="203549" y="70104"/>
                    <a:pt x="195644" y="70104"/>
                  </a:cubicBezTo>
                  <a:lnTo>
                    <a:pt x="130397" y="70104"/>
                  </a:lnTo>
                  <a:lnTo>
                    <a:pt x="130397" y="14288"/>
                  </a:lnTo>
                  <a:cubicBezTo>
                    <a:pt x="130397" y="6382"/>
                    <a:pt x="124016" y="0"/>
                    <a:pt x="116110" y="0"/>
                  </a:cubicBezTo>
                  <a:cubicBezTo>
                    <a:pt x="108204" y="0"/>
                    <a:pt x="101822" y="6382"/>
                    <a:pt x="101822" y="14288"/>
                  </a:cubicBezTo>
                  <a:lnTo>
                    <a:pt x="101822" y="70104"/>
                  </a:lnTo>
                  <a:lnTo>
                    <a:pt x="36576" y="70104"/>
                  </a:lnTo>
                  <a:cubicBezTo>
                    <a:pt x="28670" y="70104"/>
                    <a:pt x="22289" y="76486"/>
                    <a:pt x="22289" y="84392"/>
                  </a:cubicBezTo>
                  <a:lnTo>
                    <a:pt x="22289" y="189548"/>
                  </a:lnTo>
                  <a:lnTo>
                    <a:pt x="14288" y="189548"/>
                  </a:lnTo>
                  <a:cubicBezTo>
                    <a:pt x="6382" y="189548"/>
                    <a:pt x="0" y="195929"/>
                    <a:pt x="0" y="203835"/>
                  </a:cubicBezTo>
                  <a:lnTo>
                    <a:pt x="0" y="498443"/>
                  </a:lnTo>
                  <a:cubicBezTo>
                    <a:pt x="0" y="506349"/>
                    <a:pt x="6382" y="512731"/>
                    <a:pt x="14288" y="512731"/>
                  </a:cubicBezTo>
                  <a:lnTo>
                    <a:pt x="215646" y="512731"/>
                  </a:lnTo>
                  <a:cubicBezTo>
                    <a:pt x="216503" y="512921"/>
                    <a:pt x="217265" y="513017"/>
                    <a:pt x="218123" y="513017"/>
                  </a:cubicBezTo>
                  <a:lnTo>
                    <a:pt x="519017" y="513017"/>
                  </a:lnTo>
                  <a:cubicBezTo>
                    <a:pt x="526923" y="513017"/>
                    <a:pt x="533305" y="506635"/>
                    <a:pt x="533305" y="498729"/>
                  </a:cubicBezTo>
                  <a:lnTo>
                    <a:pt x="533305" y="227552"/>
                  </a:lnTo>
                  <a:cubicBezTo>
                    <a:pt x="533305" y="219647"/>
                    <a:pt x="526923" y="213265"/>
                    <a:pt x="519017" y="213265"/>
                  </a:cubicBezTo>
                  <a:close/>
                  <a:moveTo>
                    <a:pt x="414338" y="174308"/>
                  </a:moveTo>
                  <a:lnTo>
                    <a:pt x="481965" y="174308"/>
                  </a:lnTo>
                  <a:lnTo>
                    <a:pt x="481965" y="212979"/>
                  </a:lnTo>
                  <a:lnTo>
                    <a:pt x="414338" y="212979"/>
                  </a:lnTo>
                  <a:lnTo>
                    <a:pt x="414338" y="174308"/>
                  </a:lnTo>
                  <a:close/>
                  <a:moveTo>
                    <a:pt x="50863" y="98679"/>
                  </a:moveTo>
                  <a:lnTo>
                    <a:pt x="181356" y="98679"/>
                  </a:lnTo>
                  <a:lnTo>
                    <a:pt x="181356" y="189548"/>
                  </a:lnTo>
                  <a:lnTo>
                    <a:pt x="50863" y="189548"/>
                  </a:lnTo>
                  <a:lnTo>
                    <a:pt x="50863" y="98679"/>
                  </a:lnTo>
                  <a:close/>
                  <a:moveTo>
                    <a:pt x="203645" y="484156"/>
                  </a:moveTo>
                  <a:lnTo>
                    <a:pt x="28575" y="484156"/>
                  </a:lnTo>
                  <a:lnTo>
                    <a:pt x="28575" y="218123"/>
                  </a:lnTo>
                  <a:lnTo>
                    <a:pt x="203740" y="218123"/>
                  </a:lnTo>
                  <a:lnTo>
                    <a:pt x="203740" y="484156"/>
                  </a:lnTo>
                  <a:close/>
                  <a:moveTo>
                    <a:pt x="232410" y="314706"/>
                  </a:moveTo>
                  <a:lnTo>
                    <a:pt x="362903" y="314706"/>
                  </a:lnTo>
                  <a:lnTo>
                    <a:pt x="362903" y="484346"/>
                  </a:lnTo>
                  <a:lnTo>
                    <a:pt x="232410" y="484346"/>
                  </a:lnTo>
                  <a:lnTo>
                    <a:pt x="232410" y="314706"/>
                  </a:lnTo>
                  <a:close/>
                  <a:moveTo>
                    <a:pt x="504730" y="484346"/>
                  </a:moveTo>
                  <a:lnTo>
                    <a:pt x="391573" y="484346"/>
                  </a:lnTo>
                  <a:lnTo>
                    <a:pt x="391573" y="241840"/>
                  </a:lnTo>
                  <a:lnTo>
                    <a:pt x="504730" y="241840"/>
                  </a:lnTo>
                  <a:lnTo>
                    <a:pt x="504730" y="484346"/>
                  </a:lnTo>
                  <a:close/>
                </a:path>
              </a:pathLst>
            </a:custGeom>
            <a:solidFill>
              <a:srgbClr val="29B5E8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63" name="Google Shape;4218;p99"/>
            <p:cNvSpPr/>
            <p:nvPr/>
          </p:nvSpPr>
          <p:spPr>
            <a:xfrm>
              <a:off x="4141497" y="2882760"/>
              <a:ext cx="114299" cy="28574"/>
            </a:xfrm>
            <a:custGeom>
              <a:avLst/>
              <a:gdLst/>
              <a:ahLst/>
              <a:cxnLst/>
              <a:rect l="l" t="t" r="r" b="b"/>
              <a:pathLst>
                <a:path w="114299" h="28574" extrusionOk="0">
                  <a:moveTo>
                    <a:pt x="100012" y="0"/>
                  </a:moveTo>
                  <a:lnTo>
                    <a:pt x="14288" y="0"/>
                  </a:lnTo>
                  <a:cubicBezTo>
                    <a:pt x="6382" y="0"/>
                    <a:pt x="0" y="6382"/>
                    <a:pt x="0" y="14287"/>
                  </a:cubicBezTo>
                  <a:cubicBezTo>
                    <a:pt x="0" y="22193"/>
                    <a:pt x="6382" y="28575"/>
                    <a:pt x="14288" y="28575"/>
                  </a:cubicBezTo>
                  <a:lnTo>
                    <a:pt x="100012" y="28575"/>
                  </a:lnTo>
                  <a:cubicBezTo>
                    <a:pt x="107918" y="28575"/>
                    <a:pt x="114300" y="22193"/>
                    <a:pt x="114300" y="14287"/>
                  </a:cubicBezTo>
                  <a:cubicBezTo>
                    <a:pt x="114300" y="6382"/>
                    <a:pt x="107918" y="0"/>
                    <a:pt x="100012" y="0"/>
                  </a:cubicBezTo>
                  <a:close/>
                </a:path>
              </a:pathLst>
            </a:custGeom>
            <a:solidFill>
              <a:srgbClr val="29B5E8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64" name="Google Shape;4219;p99"/>
            <p:cNvSpPr/>
            <p:nvPr/>
          </p:nvSpPr>
          <p:spPr>
            <a:xfrm>
              <a:off x="4158166" y="2759125"/>
              <a:ext cx="81057" cy="28575"/>
            </a:xfrm>
            <a:custGeom>
              <a:avLst/>
              <a:gdLst/>
              <a:ahLst/>
              <a:cxnLst/>
              <a:rect l="l" t="t" r="r" b="b"/>
              <a:pathLst>
                <a:path w="81057" h="28575" extrusionOk="0">
                  <a:moveTo>
                    <a:pt x="66770" y="0"/>
                  </a:moveTo>
                  <a:lnTo>
                    <a:pt x="14288" y="0"/>
                  </a:lnTo>
                  <a:cubicBezTo>
                    <a:pt x="6382" y="0"/>
                    <a:pt x="0" y="6382"/>
                    <a:pt x="0" y="14288"/>
                  </a:cubicBezTo>
                  <a:cubicBezTo>
                    <a:pt x="0" y="22193"/>
                    <a:pt x="6382" y="28575"/>
                    <a:pt x="14288" y="28575"/>
                  </a:cubicBezTo>
                  <a:lnTo>
                    <a:pt x="66770" y="28575"/>
                  </a:lnTo>
                  <a:cubicBezTo>
                    <a:pt x="74676" y="28575"/>
                    <a:pt x="81058" y="22193"/>
                    <a:pt x="81058" y="14288"/>
                  </a:cubicBezTo>
                  <a:cubicBezTo>
                    <a:pt x="81058" y="6382"/>
                    <a:pt x="74676" y="0"/>
                    <a:pt x="66770" y="0"/>
                  </a:cubicBezTo>
                  <a:close/>
                </a:path>
              </a:pathLst>
            </a:custGeom>
            <a:solidFill>
              <a:srgbClr val="29B5E8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65" name="Google Shape;4220;p99"/>
            <p:cNvSpPr/>
            <p:nvPr/>
          </p:nvSpPr>
          <p:spPr>
            <a:xfrm>
              <a:off x="4141497" y="2932862"/>
              <a:ext cx="114299" cy="28575"/>
            </a:xfrm>
            <a:custGeom>
              <a:avLst/>
              <a:gdLst/>
              <a:ahLst/>
              <a:cxnLst/>
              <a:rect l="l" t="t" r="r" b="b"/>
              <a:pathLst>
                <a:path w="114299" h="28575" extrusionOk="0">
                  <a:moveTo>
                    <a:pt x="100012" y="0"/>
                  </a:moveTo>
                  <a:lnTo>
                    <a:pt x="14288" y="0"/>
                  </a:lnTo>
                  <a:cubicBezTo>
                    <a:pt x="6382" y="0"/>
                    <a:pt x="0" y="6382"/>
                    <a:pt x="0" y="14288"/>
                  </a:cubicBezTo>
                  <a:cubicBezTo>
                    <a:pt x="0" y="22193"/>
                    <a:pt x="6382" y="28575"/>
                    <a:pt x="14288" y="28575"/>
                  </a:cubicBezTo>
                  <a:lnTo>
                    <a:pt x="100012" y="28575"/>
                  </a:lnTo>
                  <a:cubicBezTo>
                    <a:pt x="107918" y="28575"/>
                    <a:pt x="114300" y="22193"/>
                    <a:pt x="114300" y="14288"/>
                  </a:cubicBezTo>
                  <a:cubicBezTo>
                    <a:pt x="114300" y="6382"/>
                    <a:pt x="107918" y="0"/>
                    <a:pt x="100012" y="0"/>
                  </a:cubicBezTo>
                  <a:close/>
                </a:path>
              </a:pathLst>
            </a:custGeom>
            <a:solidFill>
              <a:srgbClr val="29B5E8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66" name="Google Shape;4221;p99"/>
            <p:cNvSpPr/>
            <p:nvPr/>
          </p:nvSpPr>
          <p:spPr>
            <a:xfrm>
              <a:off x="4141497" y="2982868"/>
              <a:ext cx="114299" cy="28575"/>
            </a:xfrm>
            <a:custGeom>
              <a:avLst/>
              <a:gdLst/>
              <a:ahLst/>
              <a:cxnLst/>
              <a:rect l="l" t="t" r="r" b="b"/>
              <a:pathLst>
                <a:path w="114299" h="28575" extrusionOk="0">
                  <a:moveTo>
                    <a:pt x="100012" y="0"/>
                  </a:moveTo>
                  <a:lnTo>
                    <a:pt x="14288" y="0"/>
                  </a:lnTo>
                  <a:cubicBezTo>
                    <a:pt x="6382" y="0"/>
                    <a:pt x="0" y="6382"/>
                    <a:pt x="0" y="14288"/>
                  </a:cubicBezTo>
                  <a:cubicBezTo>
                    <a:pt x="0" y="22193"/>
                    <a:pt x="6382" y="28575"/>
                    <a:pt x="14288" y="28575"/>
                  </a:cubicBezTo>
                  <a:lnTo>
                    <a:pt x="100012" y="28575"/>
                  </a:lnTo>
                  <a:cubicBezTo>
                    <a:pt x="107918" y="28575"/>
                    <a:pt x="114300" y="22193"/>
                    <a:pt x="114300" y="14288"/>
                  </a:cubicBezTo>
                  <a:cubicBezTo>
                    <a:pt x="114300" y="6382"/>
                    <a:pt x="107918" y="0"/>
                    <a:pt x="100012" y="0"/>
                  </a:cubicBezTo>
                  <a:close/>
                </a:path>
              </a:pathLst>
            </a:custGeom>
            <a:solidFill>
              <a:srgbClr val="29B5E8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67" name="Google Shape;4222;p99"/>
            <p:cNvSpPr/>
            <p:nvPr/>
          </p:nvSpPr>
          <p:spPr>
            <a:xfrm>
              <a:off x="4141497" y="3032969"/>
              <a:ext cx="114299" cy="28575"/>
            </a:xfrm>
            <a:custGeom>
              <a:avLst/>
              <a:gdLst/>
              <a:ahLst/>
              <a:cxnLst/>
              <a:rect l="l" t="t" r="r" b="b"/>
              <a:pathLst>
                <a:path w="114299" h="28575" extrusionOk="0">
                  <a:moveTo>
                    <a:pt x="100012" y="0"/>
                  </a:moveTo>
                  <a:lnTo>
                    <a:pt x="14288" y="0"/>
                  </a:lnTo>
                  <a:cubicBezTo>
                    <a:pt x="6382" y="0"/>
                    <a:pt x="0" y="6382"/>
                    <a:pt x="0" y="14288"/>
                  </a:cubicBezTo>
                  <a:cubicBezTo>
                    <a:pt x="0" y="22193"/>
                    <a:pt x="6382" y="28575"/>
                    <a:pt x="14288" y="28575"/>
                  </a:cubicBezTo>
                  <a:lnTo>
                    <a:pt x="100012" y="28575"/>
                  </a:lnTo>
                  <a:cubicBezTo>
                    <a:pt x="107918" y="28575"/>
                    <a:pt x="114300" y="22193"/>
                    <a:pt x="114300" y="14288"/>
                  </a:cubicBezTo>
                  <a:cubicBezTo>
                    <a:pt x="114300" y="6382"/>
                    <a:pt x="107918" y="0"/>
                    <a:pt x="100012" y="0"/>
                  </a:cubicBezTo>
                  <a:close/>
                </a:path>
              </a:pathLst>
            </a:custGeom>
            <a:solidFill>
              <a:srgbClr val="29B5E8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68" name="Google Shape;4223;p99"/>
            <p:cNvSpPr/>
            <p:nvPr/>
          </p:nvSpPr>
          <p:spPr>
            <a:xfrm>
              <a:off x="4493445" y="2932862"/>
              <a:ext cx="74294" cy="28575"/>
            </a:xfrm>
            <a:custGeom>
              <a:avLst/>
              <a:gdLst/>
              <a:ahLst/>
              <a:cxnLst/>
              <a:rect l="l" t="t" r="r" b="b"/>
              <a:pathLst>
                <a:path w="74294" h="28575" extrusionOk="0">
                  <a:moveTo>
                    <a:pt x="14288" y="28575"/>
                  </a:moveTo>
                  <a:lnTo>
                    <a:pt x="60007" y="28575"/>
                  </a:lnTo>
                  <a:cubicBezTo>
                    <a:pt x="67913" y="28575"/>
                    <a:pt x="74295" y="22193"/>
                    <a:pt x="74295" y="14288"/>
                  </a:cubicBezTo>
                  <a:cubicBezTo>
                    <a:pt x="74295" y="6382"/>
                    <a:pt x="67913" y="0"/>
                    <a:pt x="60007" y="0"/>
                  </a:cubicBezTo>
                  <a:lnTo>
                    <a:pt x="14288" y="0"/>
                  </a:lnTo>
                  <a:cubicBezTo>
                    <a:pt x="6382" y="0"/>
                    <a:pt x="0" y="6382"/>
                    <a:pt x="0" y="14288"/>
                  </a:cubicBezTo>
                  <a:cubicBezTo>
                    <a:pt x="0" y="22193"/>
                    <a:pt x="6382" y="28575"/>
                    <a:pt x="14288" y="28575"/>
                  </a:cubicBezTo>
                  <a:close/>
                </a:path>
              </a:pathLst>
            </a:custGeom>
            <a:solidFill>
              <a:srgbClr val="29B5E8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69" name="Google Shape;4224;p99"/>
            <p:cNvSpPr/>
            <p:nvPr/>
          </p:nvSpPr>
          <p:spPr>
            <a:xfrm>
              <a:off x="4493445" y="2982963"/>
              <a:ext cx="74294" cy="28575"/>
            </a:xfrm>
            <a:custGeom>
              <a:avLst/>
              <a:gdLst/>
              <a:ahLst/>
              <a:cxnLst/>
              <a:rect l="l" t="t" r="r" b="b"/>
              <a:pathLst>
                <a:path w="74294" h="28575" extrusionOk="0">
                  <a:moveTo>
                    <a:pt x="14288" y="28575"/>
                  </a:moveTo>
                  <a:lnTo>
                    <a:pt x="60007" y="28575"/>
                  </a:lnTo>
                  <a:cubicBezTo>
                    <a:pt x="67913" y="28575"/>
                    <a:pt x="74295" y="22193"/>
                    <a:pt x="74295" y="14288"/>
                  </a:cubicBezTo>
                  <a:cubicBezTo>
                    <a:pt x="74295" y="6382"/>
                    <a:pt x="67913" y="0"/>
                    <a:pt x="60007" y="0"/>
                  </a:cubicBezTo>
                  <a:lnTo>
                    <a:pt x="14288" y="0"/>
                  </a:lnTo>
                  <a:cubicBezTo>
                    <a:pt x="6382" y="0"/>
                    <a:pt x="0" y="6382"/>
                    <a:pt x="0" y="14288"/>
                  </a:cubicBezTo>
                  <a:cubicBezTo>
                    <a:pt x="0" y="22193"/>
                    <a:pt x="6382" y="28575"/>
                    <a:pt x="14288" y="28575"/>
                  </a:cubicBezTo>
                  <a:close/>
                </a:path>
              </a:pathLst>
            </a:custGeom>
            <a:solidFill>
              <a:srgbClr val="29B5E8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70" name="Google Shape;4225;p99"/>
            <p:cNvSpPr/>
            <p:nvPr/>
          </p:nvSpPr>
          <p:spPr>
            <a:xfrm>
              <a:off x="4493445" y="3032969"/>
              <a:ext cx="74294" cy="28575"/>
            </a:xfrm>
            <a:custGeom>
              <a:avLst/>
              <a:gdLst/>
              <a:ahLst/>
              <a:cxnLst/>
              <a:rect l="l" t="t" r="r" b="b"/>
              <a:pathLst>
                <a:path w="74294" h="28575" extrusionOk="0">
                  <a:moveTo>
                    <a:pt x="14288" y="28575"/>
                  </a:moveTo>
                  <a:lnTo>
                    <a:pt x="60007" y="28575"/>
                  </a:lnTo>
                  <a:cubicBezTo>
                    <a:pt x="67913" y="28575"/>
                    <a:pt x="74295" y="22193"/>
                    <a:pt x="74295" y="14288"/>
                  </a:cubicBezTo>
                  <a:cubicBezTo>
                    <a:pt x="74295" y="6382"/>
                    <a:pt x="67913" y="0"/>
                    <a:pt x="60007" y="0"/>
                  </a:cubicBezTo>
                  <a:lnTo>
                    <a:pt x="14288" y="0"/>
                  </a:lnTo>
                  <a:cubicBezTo>
                    <a:pt x="6382" y="0"/>
                    <a:pt x="0" y="6382"/>
                    <a:pt x="0" y="14288"/>
                  </a:cubicBezTo>
                  <a:cubicBezTo>
                    <a:pt x="0" y="22193"/>
                    <a:pt x="6382" y="28575"/>
                    <a:pt x="14288" y="28575"/>
                  </a:cubicBezTo>
                  <a:close/>
                </a:path>
              </a:pathLst>
            </a:custGeom>
            <a:solidFill>
              <a:srgbClr val="29B5E8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71" name="Google Shape;4226;p99"/>
            <p:cNvSpPr/>
            <p:nvPr/>
          </p:nvSpPr>
          <p:spPr>
            <a:xfrm>
              <a:off x="4343617" y="2982868"/>
              <a:ext cx="73247" cy="28575"/>
            </a:xfrm>
            <a:custGeom>
              <a:avLst/>
              <a:gdLst/>
              <a:ahLst/>
              <a:cxnLst/>
              <a:rect l="l" t="t" r="r" b="b"/>
              <a:pathLst>
                <a:path w="73247" h="28575" extrusionOk="0">
                  <a:moveTo>
                    <a:pt x="58960" y="0"/>
                  </a:moveTo>
                  <a:lnTo>
                    <a:pt x="14288" y="0"/>
                  </a:lnTo>
                  <a:cubicBezTo>
                    <a:pt x="6382" y="0"/>
                    <a:pt x="0" y="6382"/>
                    <a:pt x="0" y="14288"/>
                  </a:cubicBezTo>
                  <a:cubicBezTo>
                    <a:pt x="0" y="22193"/>
                    <a:pt x="6382" y="28575"/>
                    <a:pt x="14288" y="28575"/>
                  </a:cubicBezTo>
                  <a:lnTo>
                    <a:pt x="58960" y="28575"/>
                  </a:lnTo>
                  <a:cubicBezTo>
                    <a:pt x="66866" y="28575"/>
                    <a:pt x="73247" y="22193"/>
                    <a:pt x="73247" y="14288"/>
                  </a:cubicBezTo>
                  <a:cubicBezTo>
                    <a:pt x="73247" y="6382"/>
                    <a:pt x="66866" y="0"/>
                    <a:pt x="58960" y="0"/>
                  </a:cubicBezTo>
                  <a:close/>
                </a:path>
              </a:pathLst>
            </a:custGeom>
            <a:solidFill>
              <a:srgbClr val="29B5E8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72" name="Google Shape;4227;p99"/>
            <p:cNvSpPr/>
            <p:nvPr/>
          </p:nvSpPr>
          <p:spPr>
            <a:xfrm>
              <a:off x="4343617" y="3032969"/>
              <a:ext cx="73247" cy="28575"/>
            </a:xfrm>
            <a:custGeom>
              <a:avLst/>
              <a:gdLst/>
              <a:ahLst/>
              <a:cxnLst/>
              <a:rect l="l" t="t" r="r" b="b"/>
              <a:pathLst>
                <a:path w="73247" h="28575" extrusionOk="0">
                  <a:moveTo>
                    <a:pt x="58960" y="0"/>
                  </a:moveTo>
                  <a:lnTo>
                    <a:pt x="14288" y="0"/>
                  </a:lnTo>
                  <a:cubicBezTo>
                    <a:pt x="6382" y="0"/>
                    <a:pt x="0" y="6382"/>
                    <a:pt x="0" y="14288"/>
                  </a:cubicBezTo>
                  <a:cubicBezTo>
                    <a:pt x="0" y="22193"/>
                    <a:pt x="6382" y="28575"/>
                    <a:pt x="14288" y="28575"/>
                  </a:cubicBezTo>
                  <a:lnTo>
                    <a:pt x="58960" y="28575"/>
                  </a:lnTo>
                  <a:cubicBezTo>
                    <a:pt x="66866" y="28575"/>
                    <a:pt x="73247" y="22193"/>
                    <a:pt x="73247" y="14288"/>
                  </a:cubicBezTo>
                  <a:cubicBezTo>
                    <a:pt x="73247" y="6382"/>
                    <a:pt x="66866" y="0"/>
                    <a:pt x="58960" y="0"/>
                  </a:cubicBezTo>
                  <a:close/>
                </a:path>
              </a:pathLst>
            </a:custGeom>
            <a:solidFill>
              <a:srgbClr val="29B5E8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9173" name="TextBox 9172"/>
          <p:cNvSpPr txBox="1"/>
          <p:nvPr/>
        </p:nvSpPr>
        <p:spPr>
          <a:xfrm>
            <a:off x="987552" y="3529584"/>
            <a:ext cx="20574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50" b="1" i="0">
                <a:solidFill>
                  <a:srgbClr val="11567F"/>
                </a:solidFill>
                <a:latin typeface="Arial"/>
              </a:rPr>
              <a:t>Cross-domain, any entity</a:t>
            </a:r>
          </a:p>
        </p:txBody>
      </p:sp>
      <p:sp>
        <p:nvSpPr>
          <p:cNvPr id="9174" name="TextBox 9173"/>
          <p:cNvSpPr txBox="1"/>
          <p:nvPr/>
        </p:nvSpPr>
        <p:spPr>
          <a:xfrm>
            <a:off x="3063240" y="3511296"/>
            <a:ext cx="41605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 i="0">
                <a:solidFill>
                  <a:srgbClr val="5B5B5B"/>
                </a:solidFill>
                <a:latin typeface="Arial"/>
              </a:rPr>
              <a:t>The same engines over households, SME accounts or policies, with shared suppression across all of them.</a:t>
            </a:r>
          </a:p>
        </p:txBody>
      </p:sp>
      <p:sp>
        <p:nvSpPr>
          <p:cNvPr id="9175" name="Rounded Rectangle 9174"/>
          <p:cNvSpPr/>
          <p:nvPr/>
        </p:nvSpPr>
        <p:spPr>
          <a:xfrm>
            <a:off x="7360920" y="3602736"/>
            <a:ext cx="1234440" cy="310896"/>
          </a:xfrm>
          <a:prstGeom prst="roundRect">
            <a:avLst>
              <a:gd name="adj" fmla="val 50000"/>
            </a:avLst>
          </a:prstGeom>
          <a:solidFill>
            <a:srgbClr val="EA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76" name="TextBox 9175"/>
          <p:cNvSpPr txBox="1"/>
          <p:nvPr/>
        </p:nvSpPr>
        <p:spPr>
          <a:xfrm>
            <a:off x="7360920" y="3602736"/>
            <a:ext cx="123444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50" b="1" i="0">
                <a:solidFill>
                  <a:srgbClr val="252525"/>
                </a:solidFill>
                <a:latin typeface="Arial"/>
              </a:rPr>
              <a:t>1–2 weeks</a:t>
            </a:r>
          </a:p>
        </p:txBody>
      </p:sp>
      <p:sp>
        <p:nvSpPr>
          <p:cNvPr id="9177" name="Rounded Rectangle 9176"/>
          <p:cNvSpPr/>
          <p:nvPr/>
        </p:nvSpPr>
        <p:spPr>
          <a:xfrm>
            <a:off x="411480" y="4151376"/>
            <a:ext cx="8321040" cy="603504"/>
          </a:xfrm>
          <a:prstGeom prst="roundRect">
            <a:avLst>
              <a:gd name="adj" fmla="val 8000"/>
            </a:avLst>
          </a:prstGeom>
          <a:solidFill>
            <a:srgbClr val="F4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pSp>
        <p:nvGrpSpPr>
          <p:cNvPr id="9173" name="Google Shape;4237;p99"/>
          <p:cNvGrpSpPr/>
          <p:nvPr/>
        </p:nvGrpSpPr>
        <p:grpSpPr>
          <a:xfrm>
            <a:off x="543726" y="4288536"/>
            <a:ext cx="302435" cy="329184"/>
            <a:chOff x="5950137" y="3471386"/>
            <a:chExt cx="484631" cy="527493"/>
          </a:xfrm>
        </p:grpSpPr>
        <p:sp>
          <p:nvSpPr>
            <p:cNvPr id="9174" name="Google Shape;4238;p99"/>
            <p:cNvSpPr/>
            <p:nvPr/>
          </p:nvSpPr>
          <p:spPr>
            <a:xfrm>
              <a:off x="6055102" y="3584447"/>
              <a:ext cx="274986" cy="414432"/>
            </a:xfrm>
            <a:custGeom>
              <a:avLst/>
              <a:gdLst/>
              <a:ahLst/>
              <a:cxnLst/>
              <a:rect l="l" t="t" r="r" b="b"/>
              <a:pathLst>
                <a:path w="274986" h="414432" extrusionOk="0">
                  <a:moveTo>
                    <a:pt x="137732" y="95"/>
                  </a:moveTo>
                  <a:cubicBezTo>
                    <a:pt x="61817" y="95"/>
                    <a:pt x="0" y="61341"/>
                    <a:pt x="0" y="136684"/>
                  </a:cubicBezTo>
                  <a:cubicBezTo>
                    <a:pt x="0" y="179451"/>
                    <a:pt x="17431" y="217170"/>
                    <a:pt x="48197" y="241840"/>
                  </a:cubicBezTo>
                  <a:lnTo>
                    <a:pt x="52673" y="351473"/>
                  </a:lnTo>
                  <a:cubicBezTo>
                    <a:pt x="53054" y="361664"/>
                    <a:pt x="61436" y="369761"/>
                    <a:pt x="71723" y="369761"/>
                  </a:cubicBezTo>
                  <a:lnTo>
                    <a:pt x="83153" y="369761"/>
                  </a:lnTo>
                  <a:cubicBezTo>
                    <a:pt x="89249" y="395383"/>
                    <a:pt x="112205" y="414433"/>
                    <a:pt x="139637" y="414433"/>
                  </a:cubicBezTo>
                  <a:cubicBezTo>
                    <a:pt x="167068" y="414433"/>
                    <a:pt x="190024" y="395288"/>
                    <a:pt x="196120" y="369761"/>
                  </a:cubicBezTo>
                  <a:lnTo>
                    <a:pt x="201835" y="369761"/>
                  </a:lnTo>
                  <a:cubicBezTo>
                    <a:pt x="211931" y="369761"/>
                    <a:pt x="220313" y="361855"/>
                    <a:pt x="220885" y="351663"/>
                  </a:cubicBezTo>
                  <a:lnTo>
                    <a:pt x="226600" y="242126"/>
                  </a:lnTo>
                  <a:cubicBezTo>
                    <a:pt x="256699" y="219742"/>
                    <a:pt x="274987" y="192596"/>
                    <a:pt x="274987" y="136589"/>
                  </a:cubicBezTo>
                  <a:cubicBezTo>
                    <a:pt x="274987" y="61246"/>
                    <a:pt x="213455" y="0"/>
                    <a:pt x="137922" y="0"/>
                  </a:cubicBezTo>
                  <a:close/>
                  <a:moveTo>
                    <a:pt x="185928" y="286226"/>
                  </a:moveTo>
                  <a:lnTo>
                    <a:pt x="87440" y="269843"/>
                  </a:lnTo>
                  <a:lnTo>
                    <a:pt x="86582" y="248222"/>
                  </a:lnTo>
                  <a:lnTo>
                    <a:pt x="187928" y="248222"/>
                  </a:lnTo>
                  <a:lnTo>
                    <a:pt x="185928" y="286226"/>
                  </a:lnTo>
                  <a:close/>
                  <a:moveTo>
                    <a:pt x="183547" y="331565"/>
                  </a:moveTo>
                  <a:lnTo>
                    <a:pt x="89916" y="331565"/>
                  </a:lnTo>
                  <a:lnTo>
                    <a:pt x="88392" y="294132"/>
                  </a:lnTo>
                  <a:lnTo>
                    <a:pt x="184690" y="310134"/>
                  </a:lnTo>
                  <a:lnTo>
                    <a:pt x="183547" y="331565"/>
                  </a:lnTo>
                  <a:close/>
                  <a:moveTo>
                    <a:pt x="139446" y="390525"/>
                  </a:moveTo>
                  <a:cubicBezTo>
                    <a:pt x="125349" y="390525"/>
                    <a:pt x="113157" y="381953"/>
                    <a:pt x="107918" y="369665"/>
                  </a:cubicBezTo>
                  <a:lnTo>
                    <a:pt x="170974" y="369665"/>
                  </a:lnTo>
                  <a:cubicBezTo>
                    <a:pt x="165735" y="381953"/>
                    <a:pt x="153543" y="390525"/>
                    <a:pt x="139446" y="390525"/>
                  </a:cubicBezTo>
                  <a:close/>
                  <a:moveTo>
                    <a:pt x="197167" y="216218"/>
                  </a:moveTo>
                  <a:cubicBezTo>
                    <a:pt x="194119" y="218313"/>
                    <a:pt x="191929" y="221171"/>
                    <a:pt x="190500" y="224409"/>
                  </a:cubicBezTo>
                  <a:lnTo>
                    <a:pt x="84201" y="224409"/>
                  </a:lnTo>
                  <a:cubicBezTo>
                    <a:pt x="82772" y="221171"/>
                    <a:pt x="80582" y="218218"/>
                    <a:pt x="77534" y="216218"/>
                  </a:cubicBezTo>
                  <a:cubicBezTo>
                    <a:pt x="52102" y="198882"/>
                    <a:pt x="38100" y="170593"/>
                    <a:pt x="38100" y="136684"/>
                  </a:cubicBezTo>
                  <a:cubicBezTo>
                    <a:pt x="38100" y="82391"/>
                    <a:pt x="82772" y="38195"/>
                    <a:pt x="137732" y="38195"/>
                  </a:cubicBezTo>
                  <a:cubicBezTo>
                    <a:pt x="192691" y="38195"/>
                    <a:pt x="236696" y="82391"/>
                    <a:pt x="236696" y="136684"/>
                  </a:cubicBezTo>
                  <a:cubicBezTo>
                    <a:pt x="236696" y="181451"/>
                    <a:pt x="223933" y="198025"/>
                    <a:pt x="197167" y="216218"/>
                  </a:cubicBezTo>
                  <a:close/>
                </a:path>
              </a:pathLst>
            </a:custGeom>
            <a:solidFill>
              <a:srgbClr val="29B5E8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75" name="Google Shape;4239;p99"/>
            <p:cNvSpPr/>
            <p:nvPr/>
          </p:nvSpPr>
          <p:spPr>
            <a:xfrm>
              <a:off x="5950137" y="3690651"/>
              <a:ext cx="87344" cy="38100"/>
            </a:xfrm>
            <a:custGeom>
              <a:avLst/>
              <a:gdLst/>
              <a:ahLst/>
              <a:cxnLst/>
              <a:rect l="l" t="t" r="r" b="b"/>
              <a:pathLst>
                <a:path w="87344" h="38100" extrusionOk="0">
                  <a:moveTo>
                    <a:pt x="68294" y="0"/>
                  </a:moveTo>
                  <a:lnTo>
                    <a:pt x="19050" y="0"/>
                  </a:lnTo>
                  <a:cubicBezTo>
                    <a:pt x="8573" y="0"/>
                    <a:pt x="0" y="8573"/>
                    <a:pt x="0" y="19050"/>
                  </a:cubicBezTo>
                  <a:cubicBezTo>
                    <a:pt x="0" y="29528"/>
                    <a:pt x="8573" y="38100"/>
                    <a:pt x="19050" y="38100"/>
                  </a:cubicBezTo>
                  <a:lnTo>
                    <a:pt x="68294" y="38100"/>
                  </a:lnTo>
                  <a:cubicBezTo>
                    <a:pt x="78772" y="38100"/>
                    <a:pt x="87344" y="29528"/>
                    <a:pt x="87344" y="19050"/>
                  </a:cubicBezTo>
                  <a:cubicBezTo>
                    <a:pt x="87344" y="8573"/>
                    <a:pt x="78772" y="0"/>
                    <a:pt x="68294" y="0"/>
                  </a:cubicBezTo>
                  <a:close/>
                </a:path>
              </a:pathLst>
            </a:custGeom>
            <a:solidFill>
              <a:srgbClr val="29B5E8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76" name="Google Shape;4240;p99"/>
            <p:cNvSpPr/>
            <p:nvPr/>
          </p:nvSpPr>
          <p:spPr>
            <a:xfrm>
              <a:off x="6018288" y="3534013"/>
              <a:ext cx="72866" cy="72913"/>
            </a:xfrm>
            <a:custGeom>
              <a:avLst/>
              <a:gdLst/>
              <a:ahLst/>
              <a:cxnLst/>
              <a:rect l="l" t="t" r="r" b="b"/>
              <a:pathLst>
                <a:path w="72866" h="72913" extrusionOk="0">
                  <a:moveTo>
                    <a:pt x="40434" y="67294"/>
                  </a:moveTo>
                  <a:cubicBezTo>
                    <a:pt x="44148" y="71009"/>
                    <a:pt x="49006" y="72914"/>
                    <a:pt x="53864" y="72914"/>
                  </a:cubicBezTo>
                  <a:cubicBezTo>
                    <a:pt x="58722" y="72914"/>
                    <a:pt x="63579" y="71009"/>
                    <a:pt x="67294" y="67294"/>
                  </a:cubicBezTo>
                  <a:cubicBezTo>
                    <a:pt x="74724" y="59865"/>
                    <a:pt x="74724" y="47768"/>
                    <a:pt x="67294" y="40338"/>
                  </a:cubicBezTo>
                  <a:lnTo>
                    <a:pt x="32528" y="5572"/>
                  </a:lnTo>
                  <a:cubicBezTo>
                    <a:pt x="25098" y="-1857"/>
                    <a:pt x="13002" y="-1857"/>
                    <a:pt x="5572" y="5572"/>
                  </a:cubicBezTo>
                  <a:cubicBezTo>
                    <a:pt x="-1857" y="13002"/>
                    <a:pt x="-1857" y="25098"/>
                    <a:pt x="5572" y="32528"/>
                  </a:cubicBezTo>
                  <a:lnTo>
                    <a:pt x="40338" y="67294"/>
                  </a:lnTo>
                  <a:close/>
                </a:path>
              </a:pathLst>
            </a:custGeom>
            <a:solidFill>
              <a:srgbClr val="29B5E8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77" name="Google Shape;4241;p99"/>
            <p:cNvSpPr/>
            <p:nvPr/>
          </p:nvSpPr>
          <p:spPr>
            <a:xfrm>
              <a:off x="6177308" y="3471386"/>
              <a:ext cx="38100" cy="87248"/>
            </a:xfrm>
            <a:custGeom>
              <a:avLst/>
              <a:gdLst/>
              <a:ahLst/>
              <a:cxnLst/>
              <a:rect l="l" t="t" r="r" b="b"/>
              <a:pathLst>
                <a:path w="38100" h="87248" extrusionOk="0">
                  <a:moveTo>
                    <a:pt x="19050" y="87249"/>
                  </a:moveTo>
                  <a:cubicBezTo>
                    <a:pt x="29528" y="87249"/>
                    <a:pt x="38100" y="78677"/>
                    <a:pt x="38100" y="68199"/>
                  </a:cubicBezTo>
                  <a:lnTo>
                    <a:pt x="38100" y="19050"/>
                  </a:lnTo>
                  <a:cubicBezTo>
                    <a:pt x="38100" y="8573"/>
                    <a:pt x="29528" y="0"/>
                    <a:pt x="19050" y="0"/>
                  </a:cubicBezTo>
                  <a:cubicBezTo>
                    <a:pt x="8573" y="0"/>
                    <a:pt x="0" y="8573"/>
                    <a:pt x="0" y="19050"/>
                  </a:cubicBezTo>
                  <a:lnTo>
                    <a:pt x="0" y="68199"/>
                  </a:lnTo>
                  <a:cubicBezTo>
                    <a:pt x="0" y="78677"/>
                    <a:pt x="8573" y="87249"/>
                    <a:pt x="19050" y="87249"/>
                  </a:cubicBezTo>
                  <a:close/>
                </a:path>
              </a:pathLst>
            </a:custGeom>
            <a:solidFill>
              <a:srgbClr val="29B5E8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78" name="Google Shape;4242;p99"/>
            <p:cNvSpPr/>
            <p:nvPr/>
          </p:nvSpPr>
          <p:spPr>
            <a:xfrm>
              <a:off x="6299276" y="3539537"/>
              <a:ext cx="72770" cy="72913"/>
            </a:xfrm>
            <a:custGeom>
              <a:avLst/>
              <a:gdLst/>
              <a:ahLst/>
              <a:cxnLst/>
              <a:rect l="l" t="t" r="r" b="b"/>
              <a:pathLst>
                <a:path w="72770" h="72913" extrusionOk="0">
                  <a:moveTo>
                    <a:pt x="67294" y="5572"/>
                  </a:moveTo>
                  <a:cubicBezTo>
                    <a:pt x="59865" y="-1857"/>
                    <a:pt x="47768" y="-1857"/>
                    <a:pt x="40338" y="5572"/>
                  </a:cubicBezTo>
                  <a:lnTo>
                    <a:pt x="5572" y="40338"/>
                  </a:lnTo>
                  <a:cubicBezTo>
                    <a:pt x="-1857" y="47768"/>
                    <a:pt x="-1857" y="59865"/>
                    <a:pt x="5572" y="67294"/>
                  </a:cubicBezTo>
                  <a:cubicBezTo>
                    <a:pt x="9287" y="71009"/>
                    <a:pt x="14145" y="72914"/>
                    <a:pt x="19002" y="72914"/>
                  </a:cubicBezTo>
                  <a:cubicBezTo>
                    <a:pt x="23860" y="72914"/>
                    <a:pt x="28718" y="71009"/>
                    <a:pt x="32433" y="67294"/>
                  </a:cubicBezTo>
                  <a:lnTo>
                    <a:pt x="67199" y="32528"/>
                  </a:lnTo>
                  <a:cubicBezTo>
                    <a:pt x="74628" y="25098"/>
                    <a:pt x="74628" y="13002"/>
                    <a:pt x="67199" y="5572"/>
                  </a:cubicBezTo>
                  <a:close/>
                </a:path>
              </a:pathLst>
            </a:custGeom>
            <a:solidFill>
              <a:srgbClr val="29B5E8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79" name="Google Shape;4243;p99"/>
            <p:cNvSpPr/>
            <p:nvPr/>
          </p:nvSpPr>
          <p:spPr>
            <a:xfrm>
              <a:off x="6347520" y="3698462"/>
              <a:ext cx="87248" cy="38100"/>
            </a:xfrm>
            <a:custGeom>
              <a:avLst/>
              <a:gdLst/>
              <a:ahLst/>
              <a:cxnLst/>
              <a:rect l="l" t="t" r="r" b="b"/>
              <a:pathLst>
                <a:path w="87248" h="38100" extrusionOk="0">
                  <a:moveTo>
                    <a:pt x="68199" y="0"/>
                  </a:moveTo>
                  <a:lnTo>
                    <a:pt x="19050" y="0"/>
                  </a:lnTo>
                  <a:cubicBezTo>
                    <a:pt x="8573" y="0"/>
                    <a:pt x="0" y="8572"/>
                    <a:pt x="0" y="19050"/>
                  </a:cubicBezTo>
                  <a:cubicBezTo>
                    <a:pt x="0" y="29527"/>
                    <a:pt x="8573" y="38100"/>
                    <a:pt x="19050" y="38100"/>
                  </a:cubicBezTo>
                  <a:lnTo>
                    <a:pt x="68199" y="38100"/>
                  </a:lnTo>
                  <a:cubicBezTo>
                    <a:pt x="78677" y="38100"/>
                    <a:pt x="87249" y="29527"/>
                    <a:pt x="87249" y="19050"/>
                  </a:cubicBezTo>
                  <a:cubicBezTo>
                    <a:pt x="87249" y="8572"/>
                    <a:pt x="78677" y="0"/>
                    <a:pt x="68199" y="0"/>
                  </a:cubicBezTo>
                  <a:close/>
                </a:path>
              </a:pathLst>
            </a:custGeom>
            <a:solidFill>
              <a:srgbClr val="29B5E8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9180" name="TextBox 9179"/>
          <p:cNvSpPr txBox="1"/>
          <p:nvPr/>
        </p:nvSpPr>
        <p:spPr>
          <a:xfrm>
            <a:off x="987552" y="4224528"/>
            <a:ext cx="20574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50" b="1" i="0">
                <a:solidFill>
                  <a:srgbClr val="11567F"/>
                </a:solidFill>
                <a:latin typeface="Arial"/>
              </a:rPr>
              <a:t>AI onboarding wizard</a:t>
            </a:r>
          </a:p>
        </p:txBody>
      </p:sp>
      <p:sp>
        <p:nvSpPr>
          <p:cNvPr id="9181" name="TextBox 9180"/>
          <p:cNvSpPr txBox="1"/>
          <p:nvPr/>
        </p:nvSpPr>
        <p:spPr>
          <a:xfrm>
            <a:off x="3063240" y="4206240"/>
            <a:ext cx="41605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 i="0">
                <a:solidFill>
                  <a:srgbClr val="5B5B5B"/>
                </a:solidFill>
                <a:latin typeface="Arial"/>
              </a:rPr>
              <a:t>Describe a use case or signal in plain English. AI drafts the configuration and a person approves it.</a:t>
            </a:r>
          </a:p>
        </p:txBody>
      </p:sp>
      <p:sp>
        <p:nvSpPr>
          <p:cNvPr id="9182" name="Rounded Rectangle 9181"/>
          <p:cNvSpPr/>
          <p:nvPr/>
        </p:nvSpPr>
        <p:spPr>
          <a:xfrm>
            <a:off x="7360920" y="4297680"/>
            <a:ext cx="1234440" cy="310896"/>
          </a:xfrm>
          <a:prstGeom prst="roundRect">
            <a:avLst>
              <a:gd name="adj" fmla="val 50000"/>
            </a:avLst>
          </a:prstGeom>
          <a:solidFill>
            <a:srgbClr val="EA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83" name="TextBox 9182"/>
          <p:cNvSpPr txBox="1"/>
          <p:nvPr/>
        </p:nvSpPr>
        <p:spPr>
          <a:xfrm>
            <a:off x="7360920" y="4297680"/>
            <a:ext cx="123444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50" b="1" i="0">
                <a:solidFill>
                  <a:srgbClr val="252525"/>
                </a:solidFill>
                <a:latin typeface="Arial"/>
              </a:rPr>
              <a:t>1–2 weeks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40080"/>
            <a:ext cx="91440" cy="329184"/>
          </a:xfrm>
          <a:prstGeom prst="rect">
            <a:avLst/>
          </a:prstGeom>
          <a:solidFill>
            <a:srgbClr val="29B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603504"/>
            <a:ext cx="832104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 i="0">
                <a:solidFill>
                  <a:srgbClr val="000000"/>
                </a:solidFill>
                <a:latin typeface="Arial"/>
              </a:rPr>
              <a:t>What the demo shows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987552"/>
            <a:ext cx="8321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5B5B5B"/>
                </a:solidFill>
                <a:latin typeface="Arial"/>
              </a:rPr>
              <a:t>One workflow end to end, input to output, in CoCo CLI and then in the app.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" y="1417320"/>
            <a:ext cx="2560320" cy="2148840"/>
          </a:xfrm>
          <a:prstGeom prst="roundRect">
            <a:avLst>
              <a:gd name="adj" fmla="val 8000"/>
            </a:avLst>
          </a:prstGeom>
          <a:solidFill>
            <a:srgbClr val="FFF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572768"/>
            <a:ext cx="21945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 i="0">
                <a:solidFill>
                  <a:srgbClr val="5B5B5B"/>
                </a:solidFill>
                <a:latin typeface="Arial"/>
              </a:rPr>
              <a:t>INPUT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847088"/>
            <a:ext cx="21945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252525"/>
                </a:solidFill>
                <a:latin typeface="Arial"/>
              </a:rPr>
              <a:t>An RM asks CoCo CLI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240280"/>
            <a:ext cx="2212848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 i="0">
                <a:solidFill>
                  <a:srgbClr val="252525"/>
                </a:solidFill>
                <a:latin typeface="Arial"/>
              </a:rPr>
              <a:t>“What should we do about Suresh Reddy?” and then a follow-up about another customer.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3026664" y="2377440"/>
            <a:ext cx="164592" cy="237744"/>
          </a:xfrm>
          <a:prstGeom prst="rightArrow">
            <a:avLst/>
          </a:prstGeom>
          <a:solidFill>
            <a:srgbClr val="5B5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3246120" y="1417320"/>
            <a:ext cx="2560320" cy="2148840"/>
          </a:xfrm>
          <a:prstGeom prst="roundRect">
            <a:avLst>
              <a:gd name="adj" fmla="val 8000"/>
            </a:avLst>
          </a:prstGeom>
          <a:solidFill>
            <a:srgbClr val="E3ED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29000" y="1572768"/>
            <a:ext cx="21945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 i="0">
                <a:solidFill>
                  <a:srgbClr val="5B5B5B"/>
                </a:solidFill>
                <a:latin typeface="Arial"/>
              </a:rPr>
              <a:t>PROCESSING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29000" y="1847088"/>
            <a:ext cx="21945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252525"/>
                </a:solidFill>
                <a:latin typeface="Arial"/>
              </a:rPr>
              <a:t>Customer Query skill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29000" y="2240280"/>
            <a:ext cx="2212848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 i="0">
                <a:solidFill>
                  <a:srgbClr val="252525"/>
                </a:solidFill>
                <a:latin typeface="Arial"/>
              </a:rPr>
              <a:t>Finds the customer, picks the one engine that answers the question, and runs it on Snowflake.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5861304" y="2377440"/>
            <a:ext cx="164592" cy="237744"/>
          </a:xfrm>
          <a:prstGeom prst="rightArrow">
            <a:avLst/>
          </a:prstGeom>
          <a:solidFill>
            <a:srgbClr val="5B5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080760" y="1417320"/>
            <a:ext cx="2560320" cy="2148840"/>
          </a:xfrm>
          <a:prstGeom prst="roundRect">
            <a:avLst>
              <a:gd name="adj" fmla="val 8000"/>
            </a:avLst>
          </a:prstGeom>
          <a:solidFill>
            <a:srgbClr val="E3F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63640" y="1572768"/>
            <a:ext cx="21945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 i="0">
                <a:solidFill>
                  <a:srgbClr val="5B5B5B"/>
                </a:solidFill>
                <a:latin typeface="Arial"/>
              </a:rPr>
              <a:t>OUTPUT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63640" y="1847088"/>
            <a:ext cx="21945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252525"/>
                </a:solidFill>
                <a:latin typeface="Arial"/>
              </a:rPr>
              <a:t>A grounded answer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63640" y="2240280"/>
            <a:ext cx="2212848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 i="0">
                <a:solidFill>
                  <a:srgbClr val="252525"/>
                </a:solidFill>
                <a:latin typeface="Arial"/>
              </a:rPr>
              <a:t>The ranked action with its track record and approval status, backed by his own calls.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11480" y="3767328"/>
            <a:ext cx="8321040" cy="987552"/>
          </a:xfrm>
          <a:prstGeom prst="roundRect">
            <a:avLst>
              <a:gd name="adj" fmla="val 8000"/>
            </a:avLst>
          </a:prstGeom>
          <a:solidFill>
            <a:srgbClr val="F4F8FB"/>
          </a:solidFill>
          <a:ln w="11430">
            <a:solidFill>
              <a:srgbClr val="DC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21792" y="3886200"/>
            <a:ext cx="7955279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 i="0">
                <a:solidFill>
                  <a:srgbClr val="5B5B5B"/>
                </a:solidFill>
                <a:latin typeface="Arial"/>
              </a:rPr>
              <a:t>THEN IN THE APP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1792" y="4160520"/>
            <a:ext cx="7955279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252525"/>
                </a:solidFill>
                <a:latin typeface="Arial"/>
              </a:rPr>
              <a:t>My Feed across all three engines  ·  the full loop in Scenario Studio  ·  a follow-up chat that remembers who you asked about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